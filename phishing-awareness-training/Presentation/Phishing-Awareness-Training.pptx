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2.png"/><Relationship Id="rId4" Type="http://schemas.openxmlformats.org/officeDocument/2006/relationships/image" Target="../media/image-19-2.png"/><Relationship Id="rId5" Type="http://schemas.openxmlformats.org/officeDocument/2006/relationships/image" Target="../media/image-19-2.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141B47"/>
          </a:solidFill>
          <a:ln/>
        </p:spPr>
      </p:sp>
      <p:sp>
        <p:nvSpPr>
          <p:cNvPr id="3" name="Shape 1"/>
          <p:cNvSpPr/>
          <p:nvPr/>
        </p:nvSpPr>
        <p:spPr>
          <a:xfrm>
            <a:off x="9966960" y="4023360"/>
            <a:ext cx="4114800" cy="4114800"/>
          </a:xfrm>
          <a:prstGeom prst="ellipse">
            <a:avLst/>
          </a:prstGeom>
          <a:solidFill>
            <a:srgbClr val="141B47"/>
          </a:solidFill>
          <a:ln/>
        </p:spPr>
      </p:sp>
      <p:sp>
        <p:nvSpPr>
          <p:cNvPr id="4" name="Shape 2"/>
          <p:cNvSpPr/>
          <p:nvPr/>
        </p:nvSpPr>
        <p:spPr>
          <a:xfrm>
            <a:off x="640080" y="685800"/>
            <a:ext cx="777240" cy="777240"/>
          </a:xfrm>
          <a:prstGeom prst="ellipse">
            <a:avLst/>
          </a:prstGeom>
          <a:solidFill>
            <a:srgbClr val="E63946"/>
          </a:solidFill>
          <a:ln/>
        </p:spPr>
      </p:sp>
      <p:pic>
        <p:nvPicPr>
          <p:cNvPr id="5" name="Image 0" descr="icons/hook.png">    </p:cNvPr>
          <p:cNvPicPr>
            <a:picLocks noChangeAspect="1"/>
          </p:cNvPicPr>
          <p:nvPr/>
        </p:nvPicPr>
        <p:blipFill>
          <a:blip r:embed="rId1"/>
          <a:stretch>
            <a:fillRect/>
          </a:stretch>
        </p:blipFill>
        <p:spPr>
          <a:xfrm>
            <a:off x="814959" y="860679"/>
            <a:ext cx="427482" cy="427482"/>
          </a:xfrm>
          <a:prstGeom prst="rect">
            <a:avLst/>
          </a:prstGeom>
        </p:spPr>
      </p:pic>
      <p:sp>
        <p:nvSpPr>
          <p:cNvPr id="6" name="Text 3"/>
          <p:cNvSpPr/>
          <p:nvPr/>
        </p:nvSpPr>
        <p:spPr>
          <a:xfrm>
            <a:off x="1600200" y="749808"/>
            <a:ext cx="7315200" cy="457200"/>
          </a:xfrm>
          <a:prstGeom prst="rect">
            <a:avLst/>
          </a:prstGeom>
          <a:noFill/>
          <a:ln/>
        </p:spPr>
        <p:txBody>
          <a:bodyPr wrap="square" rtlCol="0" anchor="ctr"/>
          <a:lstStyle/>
          <a:p>
            <a:pPr indent="0" marL="0">
              <a:buNone/>
            </a:pPr>
            <a:r>
              <a:rPr lang="en-US" sz="1400" b="1" spc="200" kern="0" dirty="0">
                <a:solidFill>
                  <a:srgbClr val="CADCFC"/>
                </a:solidFill>
                <a:latin typeface="Calibri" pitchFamily="34" charset="0"/>
                <a:ea typeface="Calibri" pitchFamily="34" charset="-122"/>
                <a:cs typeface="Calibri" pitchFamily="34" charset="-120"/>
              </a:rPr>
              <a:t>SECURITY AWARENESS TRAINING</a:t>
            </a:r>
            <a:endParaRPr lang="en-US" sz="1400" dirty="0"/>
          </a:p>
        </p:txBody>
      </p:sp>
      <p:sp>
        <p:nvSpPr>
          <p:cNvPr id="7" name="Text 4"/>
          <p:cNvSpPr/>
          <p:nvPr/>
        </p:nvSpPr>
        <p:spPr>
          <a:xfrm>
            <a:off x="594360" y="2331720"/>
            <a:ext cx="9601200" cy="2194560"/>
          </a:xfrm>
          <a:prstGeom prst="rect">
            <a:avLst/>
          </a:prstGeom>
          <a:noFill/>
          <a:ln/>
        </p:spPr>
        <p:txBody>
          <a:bodyPr wrap="square" rtlCol="0" anchor="ctr"/>
          <a:lstStyle/>
          <a:p>
            <a:pPr indent="0" marL="0">
              <a:lnSpc>
                <a:spcPts val="6400"/>
              </a:lnSpc>
              <a:buNone/>
            </a:pPr>
            <a:r>
              <a:rPr lang="en-US" sz="6200" b="1" dirty="0">
                <a:solidFill>
                  <a:srgbClr val="FFFFFF"/>
                </a:solidFill>
                <a:latin typeface="Cambria" pitchFamily="34" charset="0"/>
                <a:ea typeface="Cambria" pitchFamily="34" charset="-122"/>
                <a:cs typeface="Cambria" pitchFamily="34" charset="-120"/>
              </a:rPr>
              <a:t>Don't Take</a:t>
            </a:r>
            <a:endParaRPr lang="en-US" sz="6200" dirty="0"/>
          </a:p>
          <a:p>
            <a:pPr indent="0" marL="0">
              <a:lnSpc>
                <a:spcPts val="6400"/>
              </a:lnSpc>
              <a:buNone/>
            </a:pPr>
            <a:r>
              <a:rPr lang="en-US" sz="6200" b="1" dirty="0">
                <a:solidFill>
                  <a:srgbClr val="FFFFFF"/>
                </a:solidFill>
                <a:latin typeface="Cambria" pitchFamily="34" charset="0"/>
                <a:ea typeface="Cambria" pitchFamily="34" charset="-122"/>
                <a:cs typeface="Cambria" pitchFamily="34" charset="-120"/>
              </a:rPr>
              <a:t>the Bait</a:t>
            </a:r>
            <a:endParaRPr lang="en-US" sz="6200" dirty="0"/>
          </a:p>
        </p:txBody>
      </p:sp>
      <p:sp>
        <p:nvSpPr>
          <p:cNvPr id="8" name="Text 5"/>
          <p:cNvSpPr/>
          <p:nvPr/>
        </p:nvSpPr>
        <p:spPr>
          <a:xfrm>
            <a:off x="621792" y="4434840"/>
            <a:ext cx="8229600" cy="502920"/>
          </a:xfrm>
          <a:prstGeom prst="rect">
            <a:avLst/>
          </a:prstGeom>
          <a:noFill/>
          <a:ln/>
        </p:spPr>
        <p:txBody>
          <a:bodyPr wrap="square"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Recognizing and defeating phishing attacks</a:t>
            </a:r>
            <a:endParaRPr lang="en-US" sz="2000" dirty="0"/>
          </a:p>
        </p:txBody>
      </p:sp>
      <p:sp>
        <p:nvSpPr>
          <p:cNvPr id="9" name="Shape 6"/>
          <p:cNvSpPr/>
          <p:nvPr/>
        </p:nvSpPr>
        <p:spPr>
          <a:xfrm>
            <a:off x="621792" y="5074920"/>
            <a:ext cx="2011680" cy="0"/>
          </a:xfrm>
          <a:prstGeom prst="line">
            <a:avLst/>
          </a:prstGeom>
          <a:noFill/>
          <a:ln w="38100">
            <a:solidFill>
              <a:srgbClr val="E63946"/>
            </a:solidFill>
            <a:prstDash val="solid"/>
          </a:ln>
        </p:spPr>
      </p:sp>
      <p:sp>
        <p:nvSpPr>
          <p:cNvPr id="10" name="Text 7"/>
          <p:cNvSpPr/>
          <p:nvPr/>
        </p:nvSpPr>
        <p:spPr>
          <a:xfrm>
            <a:off x="621792" y="5257800"/>
            <a:ext cx="6949440" cy="914400"/>
          </a:xfrm>
          <a:prstGeom prst="rect">
            <a:avLst/>
          </a:prstGeom>
          <a:noFill/>
          <a:ln/>
        </p:spPr>
        <p:txBody>
          <a:bodyPr wrap="square" rtlCol="0" anchor="ctr"/>
          <a:lstStyle/>
          <a:p>
            <a:pPr indent="0" marL="0">
              <a:lnSpc>
                <a:spcPct val="125000"/>
              </a:lnSpc>
              <a:buNone/>
            </a:pPr>
            <a:r>
              <a:rPr lang="en-US" sz="1300" dirty="0">
                <a:solidFill>
                  <a:srgbClr val="D8E2F7"/>
                </a:solidFill>
                <a:latin typeface="Calibri" pitchFamily="34" charset="0"/>
                <a:ea typeface="Calibri" pitchFamily="34" charset="-122"/>
                <a:cs typeface="Calibri" pitchFamily="34" charset="-120"/>
              </a:rPr>
              <a:t>An interactive module on email, web, and social-engineering scams — how they work, how to spot them, and what to do when one lands in your inbox.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48640" y="749808"/>
            <a:ext cx="10515600" cy="822960"/>
          </a:xfrm>
          <a:prstGeom prst="rect">
            <a:avLst/>
          </a:prstGeom>
          <a:noFill/>
          <a:ln/>
        </p:spPr>
        <p:txBody>
          <a:bodyPr wrap="square" rtlCol="0" anchor="ctr"/>
          <a:lstStyle/>
          <a:p>
            <a:pPr indent="0" marL="0">
              <a:buNone/>
            </a:pPr>
            <a:r>
              <a:rPr lang="en-US" sz="3000" b="1" dirty="0">
                <a:solidFill>
                  <a:srgbClr val="1B2033"/>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965960"/>
            <a:ext cx="3611880" cy="1965960"/>
          </a:xfrm>
          <a:prstGeom prst="roundRect">
            <a:avLst>
              <a:gd name="adj" fmla="val 3721"/>
            </a:avLst>
          </a:prstGeom>
          <a:solidFill>
            <a:srgbClr val="FFFFFF"/>
          </a:solidFill>
          <a:ln/>
          <a:effectLst>
            <a:outerShdw sx="100000" sy="100000" kx="0" ky="0" algn="bl" rotWithShape="0" blurRad="101600" dist="38100" dir="5400000">
              <a:srgbClr val="3B4A6B">
                <a:alpha val="18000"/>
              </a:srgbClr>
            </a:outerShdw>
          </a:effectLst>
        </p:spPr>
      </p:sp>
      <p:sp>
        <p:nvSpPr>
          <p:cNvPr id="5" name="Shape 3"/>
          <p:cNvSpPr/>
          <p:nvPr/>
        </p:nvSpPr>
        <p:spPr>
          <a:xfrm>
            <a:off x="804672" y="2221992"/>
            <a:ext cx="566928" cy="566928"/>
          </a:xfrm>
          <a:prstGeom prst="ellipse">
            <a:avLst/>
          </a:prstGeom>
          <a:solidFill>
            <a:srgbClr val="1E2761"/>
          </a:solidFill>
          <a:ln/>
        </p:spPr>
      </p:sp>
      <p:pic>
        <p:nvPicPr>
          <p:cNvPr id="6" name="Image 0" descr="icons/envelope.png">    </p:cNvPr>
          <p:cNvPicPr>
            <a:picLocks noChangeAspect="1"/>
          </p:cNvPicPr>
          <p:nvPr/>
        </p:nvPicPr>
        <p:blipFill>
          <a:blip r:embed="rId1"/>
          <a:stretch>
            <a:fillRect/>
          </a:stretch>
        </p:blipFill>
        <p:spPr>
          <a:xfrm>
            <a:off x="932231" y="2349551"/>
            <a:ext cx="311810" cy="311810"/>
          </a:xfrm>
          <a:prstGeom prst="rect">
            <a:avLst/>
          </a:prstGeom>
        </p:spPr>
      </p:pic>
      <p:sp>
        <p:nvSpPr>
          <p:cNvPr id="7" name="Text 4"/>
          <p:cNvSpPr/>
          <p:nvPr/>
        </p:nvSpPr>
        <p:spPr>
          <a:xfrm>
            <a:off x="3474720" y="2167128"/>
            <a:ext cx="548640" cy="365760"/>
          </a:xfrm>
          <a:prstGeom prst="rect">
            <a:avLst/>
          </a:prstGeom>
          <a:noFill/>
          <a:ln/>
        </p:spPr>
        <p:txBody>
          <a:bodyPr wrap="square" rtlCol="0" anchor="ctr"/>
          <a:lstStyle/>
          <a:p>
            <a:pPr algn="r" indent="0" marL="0">
              <a:buNone/>
            </a:pPr>
            <a:r>
              <a:rPr lang="en-US" sz="1800" b="1" dirty="0">
                <a:solidFill>
                  <a:srgbClr val="CADCFC"/>
                </a:solidFill>
                <a:latin typeface="Cambria" pitchFamily="34" charset="0"/>
                <a:ea typeface="Cambria" pitchFamily="34" charset="-122"/>
                <a:cs typeface="Cambria" pitchFamily="34" charset="-120"/>
              </a:rPr>
              <a:t>01</a:t>
            </a:r>
            <a:endParaRPr lang="en-US" sz="1800" dirty="0"/>
          </a:p>
        </p:txBody>
      </p:sp>
      <p:sp>
        <p:nvSpPr>
          <p:cNvPr id="8" name="Text 5"/>
          <p:cNvSpPr/>
          <p:nvPr/>
        </p:nvSpPr>
        <p:spPr>
          <a:xfrm>
            <a:off x="804672" y="2926080"/>
            <a:ext cx="3108960" cy="411480"/>
          </a:xfrm>
          <a:prstGeom prst="rect">
            <a:avLst/>
          </a:prstGeom>
          <a:noFill/>
          <a:ln/>
        </p:spPr>
        <p:txBody>
          <a:bodyPr wrap="square" rtlCol="0" anchor="ctr"/>
          <a:lstStyle/>
          <a:p>
            <a:pPr indent="0" marL="0">
              <a:buNone/>
            </a:pPr>
            <a:r>
              <a:rPr lang="en-US" sz="1500" b="1" dirty="0">
                <a:solidFill>
                  <a:srgbClr val="1B2033"/>
                </a:solidFill>
                <a:latin typeface="Calibri" pitchFamily="34" charset="0"/>
                <a:ea typeface="Calibri" pitchFamily="34" charset="-122"/>
                <a:cs typeface="Calibri" pitchFamily="34" charset="-120"/>
              </a:rPr>
              <a:t>What phishing is</a:t>
            </a:r>
            <a:endParaRPr lang="en-US" sz="1500" dirty="0"/>
          </a:p>
        </p:txBody>
      </p:sp>
      <p:sp>
        <p:nvSpPr>
          <p:cNvPr id="9" name="Text 6"/>
          <p:cNvSpPr/>
          <p:nvPr/>
        </p:nvSpPr>
        <p:spPr>
          <a:xfrm>
            <a:off x="804672" y="3319272"/>
            <a:ext cx="3108960" cy="548640"/>
          </a:xfrm>
          <a:prstGeom prst="rect">
            <a:avLst/>
          </a:prstGeom>
          <a:noFill/>
          <a:ln/>
        </p:spPr>
        <p:txBody>
          <a:bodyPr wrap="square" rtlCol="0" anchor="ctr"/>
          <a:lstStyle/>
          <a:p>
            <a:pPr indent="0" marL="0">
              <a:buNone/>
            </a:pPr>
            <a:r>
              <a:rPr lang="en-US" sz="1100" dirty="0">
                <a:solidFill>
                  <a:srgbClr val="5A6B8C"/>
                </a:solidFill>
                <a:latin typeface="Calibri" pitchFamily="34" charset="0"/>
                <a:ea typeface="Calibri" pitchFamily="34" charset="-122"/>
                <a:cs typeface="Calibri" pitchFamily="34" charset="-120"/>
              </a:rPr>
              <a:t>Why it works and what it costs</a:t>
            </a:r>
            <a:endParaRPr lang="en-US" sz="1100" dirty="0"/>
          </a:p>
        </p:txBody>
      </p:sp>
      <p:sp>
        <p:nvSpPr>
          <p:cNvPr id="10" name="Shape 7"/>
          <p:cNvSpPr/>
          <p:nvPr/>
        </p:nvSpPr>
        <p:spPr>
          <a:xfrm>
            <a:off x="4389120" y="1965960"/>
            <a:ext cx="3611880" cy="1965960"/>
          </a:xfrm>
          <a:prstGeom prst="roundRect">
            <a:avLst>
              <a:gd name="adj" fmla="val 3721"/>
            </a:avLst>
          </a:prstGeom>
          <a:solidFill>
            <a:srgbClr val="FFFFFF"/>
          </a:solidFill>
          <a:ln/>
          <a:effectLst>
            <a:outerShdw sx="100000" sy="100000" kx="0" ky="0" algn="bl" rotWithShape="0" blurRad="101600" dist="38100" dir="5400000">
              <a:srgbClr val="3B4A6B">
                <a:alpha val="18000"/>
              </a:srgbClr>
            </a:outerShdw>
          </a:effectLst>
        </p:spPr>
      </p:sp>
      <p:sp>
        <p:nvSpPr>
          <p:cNvPr id="11" name="Shape 8"/>
          <p:cNvSpPr/>
          <p:nvPr/>
        </p:nvSpPr>
        <p:spPr>
          <a:xfrm>
            <a:off x="4645152" y="2221992"/>
            <a:ext cx="566928" cy="566928"/>
          </a:xfrm>
          <a:prstGeom prst="ellipse">
            <a:avLst/>
          </a:prstGeom>
          <a:solidFill>
            <a:srgbClr val="1E2761"/>
          </a:solidFill>
          <a:ln/>
        </p:spPr>
      </p:sp>
      <p:pic>
        <p:nvPicPr>
          <p:cNvPr id="12" name="Image 1" descr="icons/mask.png">    </p:cNvPr>
          <p:cNvPicPr>
            <a:picLocks noChangeAspect="1"/>
          </p:cNvPicPr>
          <p:nvPr/>
        </p:nvPicPr>
        <p:blipFill>
          <a:blip r:embed="rId2"/>
          <a:stretch>
            <a:fillRect/>
          </a:stretch>
        </p:blipFill>
        <p:spPr>
          <a:xfrm>
            <a:off x="4772711" y="2349551"/>
            <a:ext cx="311810" cy="311810"/>
          </a:xfrm>
          <a:prstGeom prst="rect">
            <a:avLst/>
          </a:prstGeom>
        </p:spPr>
      </p:pic>
      <p:sp>
        <p:nvSpPr>
          <p:cNvPr id="13" name="Text 9"/>
          <p:cNvSpPr/>
          <p:nvPr/>
        </p:nvSpPr>
        <p:spPr>
          <a:xfrm>
            <a:off x="7315200" y="2167128"/>
            <a:ext cx="548640" cy="365760"/>
          </a:xfrm>
          <a:prstGeom prst="rect">
            <a:avLst/>
          </a:prstGeom>
          <a:noFill/>
          <a:ln/>
        </p:spPr>
        <p:txBody>
          <a:bodyPr wrap="square" rtlCol="0" anchor="ctr"/>
          <a:lstStyle/>
          <a:p>
            <a:pPr algn="r" indent="0" marL="0">
              <a:buNone/>
            </a:pPr>
            <a:r>
              <a:rPr lang="en-US" sz="1800" b="1" dirty="0">
                <a:solidFill>
                  <a:srgbClr val="CADCFC"/>
                </a:solidFill>
                <a:latin typeface="Cambria" pitchFamily="34" charset="0"/>
                <a:ea typeface="Cambria" pitchFamily="34" charset="-122"/>
                <a:cs typeface="Cambria" pitchFamily="34" charset="-120"/>
              </a:rPr>
              <a:t>02</a:t>
            </a:r>
            <a:endParaRPr lang="en-US" sz="1800" dirty="0"/>
          </a:p>
        </p:txBody>
      </p:sp>
      <p:sp>
        <p:nvSpPr>
          <p:cNvPr id="14" name="Text 10"/>
          <p:cNvSpPr/>
          <p:nvPr/>
        </p:nvSpPr>
        <p:spPr>
          <a:xfrm>
            <a:off x="4645152" y="2926080"/>
            <a:ext cx="3108960" cy="411480"/>
          </a:xfrm>
          <a:prstGeom prst="rect">
            <a:avLst/>
          </a:prstGeom>
          <a:noFill/>
          <a:ln/>
        </p:spPr>
        <p:txBody>
          <a:bodyPr wrap="square" rtlCol="0" anchor="ctr"/>
          <a:lstStyle/>
          <a:p>
            <a:pPr indent="0" marL="0">
              <a:buNone/>
            </a:pPr>
            <a:r>
              <a:rPr lang="en-US" sz="1500" b="1" dirty="0">
                <a:solidFill>
                  <a:srgbClr val="1B2033"/>
                </a:solidFill>
                <a:latin typeface="Calibri" pitchFamily="34" charset="0"/>
                <a:ea typeface="Calibri" pitchFamily="34" charset="-122"/>
                <a:cs typeface="Calibri" pitchFamily="34" charset="-120"/>
              </a:rPr>
              <a:t>The playbook</a:t>
            </a:r>
            <a:endParaRPr lang="en-US" sz="1500" dirty="0"/>
          </a:p>
        </p:txBody>
      </p:sp>
      <p:sp>
        <p:nvSpPr>
          <p:cNvPr id="15" name="Text 11"/>
          <p:cNvSpPr/>
          <p:nvPr/>
        </p:nvSpPr>
        <p:spPr>
          <a:xfrm>
            <a:off x="4645152" y="3319272"/>
            <a:ext cx="3108960" cy="548640"/>
          </a:xfrm>
          <a:prstGeom prst="rect">
            <a:avLst/>
          </a:prstGeom>
          <a:noFill/>
          <a:ln/>
        </p:spPr>
        <p:txBody>
          <a:bodyPr wrap="square" rtlCol="0" anchor="ctr"/>
          <a:lstStyle/>
          <a:p>
            <a:pPr indent="0" marL="0">
              <a:buNone/>
            </a:pPr>
            <a:r>
              <a:rPr lang="en-US" sz="1100" dirty="0">
                <a:solidFill>
                  <a:srgbClr val="5A6B8C"/>
                </a:solidFill>
                <a:latin typeface="Calibri" pitchFamily="34" charset="0"/>
                <a:ea typeface="Calibri" pitchFamily="34" charset="-122"/>
                <a:cs typeface="Calibri" pitchFamily="34" charset="-120"/>
              </a:rPr>
              <a:t>Six common phishing formats</a:t>
            </a:r>
            <a:endParaRPr lang="en-US" sz="1100" dirty="0"/>
          </a:p>
        </p:txBody>
      </p:sp>
      <p:sp>
        <p:nvSpPr>
          <p:cNvPr id="16" name="Shape 12"/>
          <p:cNvSpPr/>
          <p:nvPr/>
        </p:nvSpPr>
        <p:spPr>
          <a:xfrm>
            <a:off x="8229600" y="1965960"/>
            <a:ext cx="3611880" cy="1965960"/>
          </a:xfrm>
          <a:prstGeom prst="roundRect">
            <a:avLst>
              <a:gd name="adj" fmla="val 3721"/>
            </a:avLst>
          </a:prstGeom>
          <a:solidFill>
            <a:srgbClr val="FFFFFF"/>
          </a:solidFill>
          <a:ln/>
          <a:effectLst>
            <a:outerShdw sx="100000" sy="100000" kx="0" ky="0" algn="bl" rotWithShape="0" blurRad="101600" dist="38100" dir="5400000">
              <a:srgbClr val="3B4A6B">
                <a:alpha val="18000"/>
              </a:srgbClr>
            </a:outerShdw>
          </a:effectLst>
        </p:spPr>
      </p:sp>
      <p:sp>
        <p:nvSpPr>
          <p:cNvPr id="17" name="Shape 13"/>
          <p:cNvSpPr/>
          <p:nvPr/>
        </p:nvSpPr>
        <p:spPr>
          <a:xfrm>
            <a:off x="8485632" y="2221992"/>
            <a:ext cx="566928" cy="566928"/>
          </a:xfrm>
          <a:prstGeom prst="ellipse">
            <a:avLst/>
          </a:prstGeom>
          <a:solidFill>
            <a:srgbClr val="1E2761"/>
          </a:solidFill>
          <a:ln/>
        </p:spPr>
      </p:sp>
      <p:pic>
        <p:nvPicPr>
          <p:cNvPr id="18" name="Image 2" descr="icons/warning.png">    </p:cNvPr>
          <p:cNvPicPr>
            <a:picLocks noChangeAspect="1"/>
          </p:cNvPicPr>
          <p:nvPr/>
        </p:nvPicPr>
        <p:blipFill>
          <a:blip r:embed="rId3"/>
          <a:stretch>
            <a:fillRect/>
          </a:stretch>
        </p:blipFill>
        <p:spPr>
          <a:xfrm>
            <a:off x="8613191" y="2349551"/>
            <a:ext cx="311810" cy="311810"/>
          </a:xfrm>
          <a:prstGeom prst="rect">
            <a:avLst/>
          </a:prstGeom>
        </p:spPr>
      </p:pic>
      <p:sp>
        <p:nvSpPr>
          <p:cNvPr id="19" name="Text 14"/>
          <p:cNvSpPr/>
          <p:nvPr/>
        </p:nvSpPr>
        <p:spPr>
          <a:xfrm>
            <a:off x="11155680" y="2167128"/>
            <a:ext cx="548640" cy="365760"/>
          </a:xfrm>
          <a:prstGeom prst="rect">
            <a:avLst/>
          </a:prstGeom>
          <a:noFill/>
          <a:ln/>
        </p:spPr>
        <p:txBody>
          <a:bodyPr wrap="square" rtlCol="0" anchor="ctr"/>
          <a:lstStyle/>
          <a:p>
            <a:pPr algn="r" indent="0" marL="0">
              <a:buNone/>
            </a:pPr>
            <a:r>
              <a:rPr lang="en-US" sz="1800" b="1" dirty="0">
                <a:solidFill>
                  <a:srgbClr val="CADCFC"/>
                </a:solidFill>
                <a:latin typeface="Cambria" pitchFamily="34" charset="0"/>
                <a:ea typeface="Cambria" pitchFamily="34" charset="-122"/>
                <a:cs typeface="Cambria" pitchFamily="34" charset="-120"/>
              </a:rPr>
              <a:t>03</a:t>
            </a:r>
            <a:endParaRPr lang="en-US" sz="1800" dirty="0"/>
          </a:p>
        </p:txBody>
      </p:sp>
      <p:sp>
        <p:nvSpPr>
          <p:cNvPr id="20" name="Text 15"/>
          <p:cNvSpPr/>
          <p:nvPr/>
        </p:nvSpPr>
        <p:spPr>
          <a:xfrm>
            <a:off x="8485632" y="2926080"/>
            <a:ext cx="3108960" cy="411480"/>
          </a:xfrm>
          <a:prstGeom prst="rect">
            <a:avLst/>
          </a:prstGeom>
          <a:noFill/>
          <a:ln/>
        </p:spPr>
        <p:txBody>
          <a:bodyPr wrap="square" rtlCol="0" anchor="ctr"/>
          <a:lstStyle/>
          <a:p>
            <a:pPr indent="0" marL="0">
              <a:buNone/>
            </a:pPr>
            <a:r>
              <a:rPr lang="en-US" sz="1500" b="1" dirty="0">
                <a:solidFill>
                  <a:srgbClr val="1B2033"/>
                </a:solidFill>
                <a:latin typeface="Calibri" pitchFamily="34" charset="0"/>
                <a:ea typeface="Calibri" pitchFamily="34" charset="-122"/>
                <a:cs typeface="Calibri" pitchFamily="34" charset="-120"/>
              </a:rPr>
              <a:t>Spotting the fakes</a:t>
            </a:r>
            <a:endParaRPr lang="en-US" sz="1500" dirty="0"/>
          </a:p>
        </p:txBody>
      </p:sp>
      <p:sp>
        <p:nvSpPr>
          <p:cNvPr id="21" name="Text 16"/>
          <p:cNvSpPr/>
          <p:nvPr/>
        </p:nvSpPr>
        <p:spPr>
          <a:xfrm>
            <a:off x="8485632" y="3319272"/>
            <a:ext cx="3108960" cy="548640"/>
          </a:xfrm>
          <a:prstGeom prst="rect">
            <a:avLst/>
          </a:prstGeom>
          <a:noFill/>
          <a:ln/>
        </p:spPr>
        <p:txBody>
          <a:bodyPr wrap="square" rtlCol="0" anchor="ctr"/>
          <a:lstStyle/>
          <a:p>
            <a:pPr indent="0" marL="0">
              <a:buNone/>
            </a:pPr>
            <a:r>
              <a:rPr lang="en-US" sz="1100" dirty="0">
                <a:solidFill>
                  <a:srgbClr val="5A6B8C"/>
                </a:solidFill>
                <a:latin typeface="Calibri" pitchFamily="34" charset="0"/>
                <a:ea typeface="Calibri" pitchFamily="34" charset="-122"/>
                <a:cs typeface="Calibri" pitchFamily="34" charset="-120"/>
              </a:rPr>
              <a:t>Red flags in emails &amp; websites</a:t>
            </a:r>
            <a:endParaRPr lang="en-US" sz="1100" dirty="0"/>
          </a:p>
        </p:txBody>
      </p:sp>
      <p:sp>
        <p:nvSpPr>
          <p:cNvPr id="22" name="Shape 17"/>
          <p:cNvSpPr/>
          <p:nvPr/>
        </p:nvSpPr>
        <p:spPr>
          <a:xfrm>
            <a:off x="548640" y="4206240"/>
            <a:ext cx="3611880" cy="1965960"/>
          </a:xfrm>
          <a:prstGeom prst="roundRect">
            <a:avLst>
              <a:gd name="adj" fmla="val 3721"/>
            </a:avLst>
          </a:prstGeom>
          <a:solidFill>
            <a:srgbClr val="FFFFFF"/>
          </a:solidFill>
          <a:ln/>
          <a:effectLst>
            <a:outerShdw sx="100000" sy="100000" kx="0" ky="0" algn="bl" rotWithShape="0" blurRad="101600" dist="38100" dir="5400000">
              <a:srgbClr val="3B4A6B">
                <a:alpha val="18000"/>
              </a:srgbClr>
            </a:outerShdw>
          </a:effectLst>
        </p:spPr>
      </p:sp>
      <p:sp>
        <p:nvSpPr>
          <p:cNvPr id="23" name="Shape 18"/>
          <p:cNvSpPr/>
          <p:nvPr/>
        </p:nvSpPr>
        <p:spPr>
          <a:xfrm>
            <a:off x="804672" y="4462272"/>
            <a:ext cx="566928" cy="566928"/>
          </a:xfrm>
          <a:prstGeom prst="ellipse">
            <a:avLst/>
          </a:prstGeom>
          <a:solidFill>
            <a:srgbClr val="1E2761"/>
          </a:solidFill>
          <a:ln/>
        </p:spPr>
      </p:sp>
      <p:pic>
        <p:nvPicPr>
          <p:cNvPr id="24" name="Image 3" descr="icons/userTie.png">    </p:cNvPr>
          <p:cNvPicPr>
            <a:picLocks noChangeAspect="1"/>
          </p:cNvPicPr>
          <p:nvPr/>
        </p:nvPicPr>
        <p:blipFill>
          <a:blip r:embed="rId4"/>
          <a:stretch>
            <a:fillRect/>
          </a:stretch>
        </p:blipFill>
        <p:spPr>
          <a:xfrm>
            <a:off x="932231" y="4589831"/>
            <a:ext cx="311810" cy="311810"/>
          </a:xfrm>
          <a:prstGeom prst="rect">
            <a:avLst/>
          </a:prstGeom>
        </p:spPr>
      </p:pic>
      <p:sp>
        <p:nvSpPr>
          <p:cNvPr id="25" name="Text 19"/>
          <p:cNvSpPr/>
          <p:nvPr/>
        </p:nvSpPr>
        <p:spPr>
          <a:xfrm>
            <a:off x="3474720" y="4407408"/>
            <a:ext cx="548640" cy="365760"/>
          </a:xfrm>
          <a:prstGeom prst="rect">
            <a:avLst/>
          </a:prstGeom>
          <a:noFill/>
          <a:ln/>
        </p:spPr>
        <p:txBody>
          <a:bodyPr wrap="square" rtlCol="0" anchor="ctr"/>
          <a:lstStyle/>
          <a:p>
            <a:pPr algn="r" indent="0" marL="0">
              <a:buNone/>
            </a:pPr>
            <a:r>
              <a:rPr lang="en-US" sz="1800" b="1" dirty="0">
                <a:solidFill>
                  <a:srgbClr val="CADCFC"/>
                </a:solidFill>
                <a:latin typeface="Cambria" pitchFamily="34" charset="0"/>
                <a:ea typeface="Cambria" pitchFamily="34" charset="-122"/>
                <a:cs typeface="Cambria" pitchFamily="34" charset="-120"/>
              </a:rPr>
              <a:t>04</a:t>
            </a:r>
            <a:endParaRPr lang="en-US" sz="1800" dirty="0"/>
          </a:p>
        </p:txBody>
      </p:sp>
      <p:sp>
        <p:nvSpPr>
          <p:cNvPr id="26" name="Text 20"/>
          <p:cNvSpPr/>
          <p:nvPr/>
        </p:nvSpPr>
        <p:spPr>
          <a:xfrm>
            <a:off x="804672" y="5166360"/>
            <a:ext cx="3108960" cy="411480"/>
          </a:xfrm>
          <a:prstGeom prst="rect">
            <a:avLst/>
          </a:prstGeom>
          <a:noFill/>
          <a:ln/>
        </p:spPr>
        <p:txBody>
          <a:bodyPr wrap="square" rtlCol="0" anchor="ctr"/>
          <a:lstStyle/>
          <a:p>
            <a:pPr indent="0" marL="0">
              <a:buNone/>
            </a:pPr>
            <a:r>
              <a:rPr lang="en-US" sz="1500" b="1" dirty="0">
                <a:solidFill>
                  <a:srgbClr val="1B2033"/>
                </a:solidFill>
                <a:latin typeface="Calibri" pitchFamily="34" charset="0"/>
                <a:ea typeface="Calibri" pitchFamily="34" charset="-122"/>
                <a:cs typeface="Calibri" pitchFamily="34" charset="-120"/>
              </a:rPr>
              <a:t>Social engineering</a:t>
            </a:r>
            <a:endParaRPr lang="en-US" sz="1500" dirty="0"/>
          </a:p>
        </p:txBody>
      </p:sp>
      <p:sp>
        <p:nvSpPr>
          <p:cNvPr id="27" name="Text 21"/>
          <p:cNvSpPr/>
          <p:nvPr/>
        </p:nvSpPr>
        <p:spPr>
          <a:xfrm>
            <a:off x="804672" y="5559552"/>
            <a:ext cx="3108960" cy="548640"/>
          </a:xfrm>
          <a:prstGeom prst="rect">
            <a:avLst/>
          </a:prstGeom>
          <a:noFill/>
          <a:ln/>
        </p:spPr>
        <p:txBody>
          <a:bodyPr wrap="square" rtlCol="0" anchor="ctr"/>
          <a:lstStyle/>
          <a:p>
            <a:pPr indent="0" marL="0">
              <a:buNone/>
            </a:pPr>
            <a:r>
              <a:rPr lang="en-US" sz="1100" dirty="0">
                <a:solidFill>
                  <a:srgbClr val="5A6B8C"/>
                </a:solidFill>
                <a:latin typeface="Calibri" pitchFamily="34" charset="0"/>
                <a:ea typeface="Calibri" pitchFamily="34" charset="-122"/>
                <a:cs typeface="Calibri" pitchFamily="34" charset="-120"/>
              </a:rPr>
              <a:t>The psychological levers attackers pull</a:t>
            </a:r>
            <a:endParaRPr lang="en-US" sz="1100" dirty="0"/>
          </a:p>
        </p:txBody>
      </p:sp>
      <p:sp>
        <p:nvSpPr>
          <p:cNvPr id="28" name="Shape 22"/>
          <p:cNvSpPr/>
          <p:nvPr/>
        </p:nvSpPr>
        <p:spPr>
          <a:xfrm>
            <a:off x="4389120" y="4206240"/>
            <a:ext cx="3611880" cy="1965960"/>
          </a:xfrm>
          <a:prstGeom prst="roundRect">
            <a:avLst>
              <a:gd name="adj" fmla="val 3721"/>
            </a:avLst>
          </a:prstGeom>
          <a:solidFill>
            <a:srgbClr val="FFFFFF"/>
          </a:solidFill>
          <a:ln/>
          <a:effectLst>
            <a:outerShdw sx="100000" sy="100000" kx="0" ky="0" algn="bl" rotWithShape="0" blurRad="101600" dist="38100" dir="5400000">
              <a:srgbClr val="3B4A6B">
                <a:alpha val="18000"/>
              </a:srgbClr>
            </a:outerShdw>
          </a:effectLst>
        </p:spPr>
      </p:sp>
      <p:sp>
        <p:nvSpPr>
          <p:cNvPr id="29" name="Shape 23"/>
          <p:cNvSpPr/>
          <p:nvPr/>
        </p:nvSpPr>
        <p:spPr>
          <a:xfrm>
            <a:off x="4645152" y="4462272"/>
            <a:ext cx="566928" cy="566928"/>
          </a:xfrm>
          <a:prstGeom prst="ellipse">
            <a:avLst/>
          </a:prstGeom>
          <a:solidFill>
            <a:srgbClr val="1E2761"/>
          </a:solidFill>
          <a:ln/>
        </p:spPr>
      </p:sp>
      <p:pic>
        <p:nvPicPr>
          <p:cNvPr id="30" name="Image 4" descr="icons/building.png">    </p:cNvPr>
          <p:cNvPicPr>
            <a:picLocks noChangeAspect="1"/>
          </p:cNvPicPr>
          <p:nvPr/>
        </p:nvPicPr>
        <p:blipFill>
          <a:blip r:embed="rId5"/>
          <a:stretch>
            <a:fillRect/>
          </a:stretch>
        </p:blipFill>
        <p:spPr>
          <a:xfrm>
            <a:off x="4772711" y="4589831"/>
            <a:ext cx="311810" cy="311810"/>
          </a:xfrm>
          <a:prstGeom prst="rect">
            <a:avLst/>
          </a:prstGeom>
        </p:spPr>
      </p:pic>
      <p:sp>
        <p:nvSpPr>
          <p:cNvPr id="31" name="Text 24"/>
          <p:cNvSpPr/>
          <p:nvPr/>
        </p:nvSpPr>
        <p:spPr>
          <a:xfrm>
            <a:off x="7315200" y="4407408"/>
            <a:ext cx="548640" cy="365760"/>
          </a:xfrm>
          <a:prstGeom prst="rect">
            <a:avLst/>
          </a:prstGeom>
          <a:noFill/>
          <a:ln/>
        </p:spPr>
        <p:txBody>
          <a:bodyPr wrap="square" rtlCol="0" anchor="ctr"/>
          <a:lstStyle/>
          <a:p>
            <a:pPr algn="r" indent="0" marL="0">
              <a:buNone/>
            </a:pPr>
            <a:r>
              <a:rPr lang="en-US" sz="1800" b="1" dirty="0">
                <a:solidFill>
                  <a:srgbClr val="CADCFC"/>
                </a:solidFill>
                <a:latin typeface="Cambria" pitchFamily="34" charset="0"/>
                <a:ea typeface="Cambria" pitchFamily="34" charset="-122"/>
                <a:cs typeface="Cambria" pitchFamily="34" charset="-120"/>
              </a:rPr>
              <a:t>05</a:t>
            </a:r>
            <a:endParaRPr lang="en-US" sz="1800" dirty="0"/>
          </a:p>
        </p:txBody>
      </p:sp>
      <p:sp>
        <p:nvSpPr>
          <p:cNvPr id="32" name="Text 25"/>
          <p:cNvSpPr/>
          <p:nvPr/>
        </p:nvSpPr>
        <p:spPr>
          <a:xfrm>
            <a:off x="4645152" y="5166360"/>
            <a:ext cx="3108960" cy="411480"/>
          </a:xfrm>
          <a:prstGeom prst="rect">
            <a:avLst/>
          </a:prstGeom>
          <a:noFill/>
          <a:ln/>
        </p:spPr>
        <p:txBody>
          <a:bodyPr wrap="square" rtlCol="0" anchor="ctr"/>
          <a:lstStyle/>
          <a:p>
            <a:pPr indent="0" marL="0">
              <a:buNone/>
            </a:pPr>
            <a:r>
              <a:rPr lang="en-US" sz="1500" b="1" dirty="0">
                <a:solidFill>
                  <a:srgbClr val="1B2033"/>
                </a:solidFill>
                <a:latin typeface="Calibri" pitchFamily="34" charset="0"/>
                <a:ea typeface="Calibri" pitchFamily="34" charset="-122"/>
                <a:cs typeface="Calibri" pitchFamily="34" charset="-120"/>
              </a:rPr>
              <a:t>Real breaches</a:t>
            </a:r>
            <a:endParaRPr lang="en-US" sz="1500" dirty="0"/>
          </a:p>
        </p:txBody>
      </p:sp>
      <p:sp>
        <p:nvSpPr>
          <p:cNvPr id="33" name="Text 26"/>
          <p:cNvSpPr/>
          <p:nvPr/>
        </p:nvSpPr>
        <p:spPr>
          <a:xfrm>
            <a:off x="4645152" y="5559552"/>
            <a:ext cx="3108960" cy="548640"/>
          </a:xfrm>
          <a:prstGeom prst="rect">
            <a:avLst/>
          </a:prstGeom>
          <a:noFill/>
          <a:ln/>
        </p:spPr>
        <p:txBody>
          <a:bodyPr wrap="square" rtlCol="0" anchor="ctr"/>
          <a:lstStyle/>
          <a:p>
            <a:pPr indent="0" marL="0">
              <a:buNone/>
            </a:pPr>
            <a:r>
              <a:rPr lang="en-US" sz="1100" dirty="0">
                <a:solidFill>
                  <a:srgbClr val="5A6B8C"/>
                </a:solidFill>
                <a:latin typeface="Calibri" pitchFamily="34" charset="0"/>
                <a:ea typeface="Calibri" pitchFamily="34" charset="-122"/>
                <a:cs typeface="Calibri" pitchFamily="34" charset="-120"/>
              </a:rPr>
              <a:t>Two attacks that started with one message</a:t>
            </a:r>
            <a:endParaRPr lang="en-US" sz="1100" dirty="0"/>
          </a:p>
        </p:txBody>
      </p:sp>
      <p:sp>
        <p:nvSpPr>
          <p:cNvPr id="34" name="Shape 27"/>
          <p:cNvSpPr/>
          <p:nvPr/>
        </p:nvSpPr>
        <p:spPr>
          <a:xfrm>
            <a:off x="8229600" y="4206240"/>
            <a:ext cx="3611880" cy="1965960"/>
          </a:xfrm>
          <a:prstGeom prst="roundRect">
            <a:avLst>
              <a:gd name="adj" fmla="val 3721"/>
            </a:avLst>
          </a:prstGeom>
          <a:solidFill>
            <a:srgbClr val="FFFFFF"/>
          </a:solidFill>
          <a:ln/>
          <a:effectLst>
            <a:outerShdw sx="100000" sy="100000" kx="0" ky="0" algn="bl" rotWithShape="0" blurRad="101600" dist="38100" dir="5400000">
              <a:srgbClr val="3B4A6B">
                <a:alpha val="18000"/>
              </a:srgbClr>
            </a:outerShdw>
          </a:effectLst>
        </p:spPr>
      </p:sp>
      <p:sp>
        <p:nvSpPr>
          <p:cNvPr id="35" name="Shape 28"/>
          <p:cNvSpPr/>
          <p:nvPr/>
        </p:nvSpPr>
        <p:spPr>
          <a:xfrm>
            <a:off x="8485632" y="4462272"/>
            <a:ext cx="566928" cy="566928"/>
          </a:xfrm>
          <a:prstGeom prst="ellipse">
            <a:avLst/>
          </a:prstGeom>
          <a:solidFill>
            <a:srgbClr val="1E2761"/>
          </a:solidFill>
          <a:ln/>
        </p:spPr>
      </p:sp>
      <p:pic>
        <p:nvPicPr>
          <p:cNvPr id="36" name="Image 5" descr="icons/clipboard.png">    </p:cNvPr>
          <p:cNvPicPr>
            <a:picLocks noChangeAspect="1"/>
          </p:cNvPicPr>
          <p:nvPr/>
        </p:nvPicPr>
        <p:blipFill>
          <a:blip r:embed="rId6"/>
          <a:stretch>
            <a:fillRect/>
          </a:stretch>
        </p:blipFill>
        <p:spPr>
          <a:xfrm>
            <a:off x="8613191" y="4589831"/>
            <a:ext cx="311810" cy="311810"/>
          </a:xfrm>
          <a:prstGeom prst="rect">
            <a:avLst/>
          </a:prstGeom>
        </p:spPr>
      </p:pic>
      <p:sp>
        <p:nvSpPr>
          <p:cNvPr id="37" name="Text 29"/>
          <p:cNvSpPr/>
          <p:nvPr/>
        </p:nvSpPr>
        <p:spPr>
          <a:xfrm>
            <a:off x="11155680" y="4407408"/>
            <a:ext cx="548640" cy="365760"/>
          </a:xfrm>
          <a:prstGeom prst="rect">
            <a:avLst/>
          </a:prstGeom>
          <a:noFill/>
          <a:ln/>
        </p:spPr>
        <p:txBody>
          <a:bodyPr wrap="square" rtlCol="0" anchor="ctr"/>
          <a:lstStyle/>
          <a:p>
            <a:pPr algn="r" indent="0" marL="0">
              <a:buNone/>
            </a:pPr>
            <a:r>
              <a:rPr lang="en-US" sz="1800" b="1" dirty="0">
                <a:solidFill>
                  <a:srgbClr val="CADCFC"/>
                </a:solidFill>
                <a:latin typeface="Cambria" pitchFamily="34" charset="0"/>
                <a:ea typeface="Cambria" pitchFamily="34" charset="-122"/>
                <a:cs typeface="Cambria" pitchFamily="34" charset="-120"/>
              </a:rPr>
              <a:t>06</a:t>
            </a:r>
            <a:endParaRPr lang="en-US" sz="1800" dirty="0"/>
          </a:p>
        </p:txBody>
      </p:sp>
      <p:sp>
        <p:nvSpPr>
          <p:cNvPr id="38" name="Text 30"/>
          <p:cNvSpPr/>
          <p:nvPr/>
        </p:nvSpPr>
        <p:spPr>
          <a:xfrm>
            <a:off x="8485632" y="5166360"/>
            <a:ext cx="3108960" cy="411480"/>
          </a:xfrm>
          <a:prstGeom prst="rect">
            <a:avLst/>
          </a:prstGeom>
          <a:noFill/>
          <a:ln/>
        </p:spPr>
        <p:txBody>
          <a:bodyPr wrap="square" rtlCol="0" anchor="ctr"/>
          <a:lstStyle/>
          <a:p>
            <a:pPr indent="0" marL="0">
              <a:buNone/>
            </a:pPr>
            <a:r>
              <a:rPr lang="en-US" sz="1500" b="1" dirty="0">
                <a:solidFill>
                  <a:srgbClr val="1B2033"/>
                </a:solidFill>
                <a:latin typeface="Calibri" pitchFamily="34" charset="0"/>
                <a:ea typeface="Calibri" pitchFamily="34" charset="-122"/>
                <a:cs typeface="Calibri" pitchFamily="34" charset="-120"/>
              </a:rPr>
              <a:t>Your defense</a:t>
            </a:r>
            <a:endParaRPr lang="en-US" sz="1500" dirty="0"/>
          </a:p>
        </p:txBody>
      </p:sp>
      <p:sp>
        <p:nvSpPr>
          <p:cNvPr id="39" name="Text 31"/>
          <p:cNvSpPr/>
          <p:nvPr/>
        </p:nvSpPr>
        <p:spPr>
          <a:xfrm>
            <a:off x="8485632" y="5559552"/>
            <a:ext cx="3108960" cy="548640"/>
          </a:xfrm>
          <a:prstGeom prst="rect">
            <a:avLst/>
          </a:prstGeom>
          <a:noFill/>
          <a:ln/>
        </p:spPr>
        <p:txBody>
          <a:bodyPr wrap="square" rtlCol="0" anchor="ctr"/>
          <a:lstStyle/>
          <a:p>
            <a:pPr indent="0" marL="0">
              <a:buNone/>
            </a:pPr>
            <a:r>
              <a:rPr lang="en-US" sz="1100" dirty="0">
                <a:solidFill>
                  <a:srgbClr val="5A6B8C"/>
                </a:solidFill>
                <a:latin typeface="Calibri" pitchFamily="34" charset="0"/>
                <a:ea typeface="Calibri" pitchFamily="34" charset="-122"/>
                <a:cs typeface="Calibri" pitchFamily="34" charset="-120"/>
              </a:rPr>
              <a:t>Best practices, response steps &amp; quiz</a:t>
            </a:r>
            <a:endParaRPr lang="en-US" sz="1100" dirty="0"/>
          </a:p>
        </p:txBody>
      </p:sp>
      <p:sp>
        <p:nvSpPr>
          <p:cNvPr id="40" name="Text 3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1E2761"/>
          </a:solidFill>
          <a:ln/>
        </p:spPr>
      </p:sp>
      <p:sp>
        <p:nvSpPr>
          <p:cNvPr id="3" name="Shape 1"/>
          <p:cNvSpPr/>
          <p:nvPr/>
        </p:nvSpPr>
        <p:spPr>
          <a:xfrm>
            <a:off x="548640" y="640080"/>
            <a:ext cx="822960" cy="822960"/>
          </a:xfrm>
          <a:prstGeom prst="ellipse">
            <a:avLst/>
          </a:prstGeom>
          <a:solidFill>
            <a:srgbClr val="E63946"/>
          </a:solidFill>
          <a:ln/>
        </p:spPr>
      </p:sp>
      <p:pic>
        <p:nvPicPr>
          <p:cNvPr id="4" name="Image 0" descr="icons/envelope.png">    </p:cNvPr>
          <p:cNvPicPr>
            <a:picLocks noChangeAspect="1"/>
          </p:cNvPicPr>
          <p:nvPr/>
        </p:nvPicPr>
        <p:blipFill>
          <a:blip r:embed="rId1"/>
          <a:stretch>
            <a:fillRect/>
          </a:stretch>
        </p:blipFill>
        <p:spPr>
          <a:xfrm>
            <a:off x="733806" y="825246"/>
            <a:ext cx="452628" cy="452628"/>
          </a:xfrm>
          <a:prstGeom prst="rect">
            <a:avLst/>
          </a:prstGeom>
        </p:spPr>
      </p:pic>
      <p:sp>
        <p:nvSpPr>
          <p:cNvPr id="5" name="Text 2"/>
          <p:cNvSpPr/>
          <p:nvPr/>
        </p:nvSpPr>
        <p:spPr>
          <a:xfrm>
            <a:off x="566928" y="1783080"/>
            <a:ext cx="365760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is</a:t>
            </a:r>
            <a:endParaRPr lang="en-US" sz="3000" dirty="0"/>
          </a:p>
        </p:txBody>
      </p:sp>
      <p:sp>
        <p:nvSpPr>
          <p:cNvPr id="6" name="Text 3"/>
          <p:cNvSpPr/>
          <p:nvPr/>
        </p:nvSpPr>
        <p:spPr>
          <a:xfrm>
            <a:off x="566928" y="2286000"/>
            <a:ext cx="3657600" cy="64008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phishing?</a:t>
            </a:r>
            <a:endParaRPr lang="en-US" sz="3400" dirty="0"/>
          </a:p>
        </p:txBody>
      </p:sp>
      <p:sp>
        <p:nvSpPr>
          <p:cNvPr id="7" name="Shape 4"/>
          <p:cNvSpPr/>
          <p:nvPr/>
        </p:nvSpPr>
        <p:spPr>
          <a:xfrm>
            <a:off x="566928" y="3063240"/>
            <a:ext cx="1463040" cy="0"/>
          </a:xfrm>
          <a:prstGeom prst="line">
            <a:avLst/>
          </a:prstGeom>
          <a:noFill/>
          <a:ln w="38100">
            <a:solidFill>
              <a:srgbClr val="E63946"/>
            </a:solidFill>
            <a:prstDash val="solid"/>
          </a:ln>
        </p:spPr>
      </p:sp>
      <p:sp>
        <p:nvSpPr>
          <p:cNvPr id="8" name="Text 5"/>
          <p:cNvSpPr/>
          <p:nvPr/>
        </p:nvSpPr>
        <p:spPr>
          <a:xfrm>
            <a:off x="566928" y="3291840"/>
            <a:ext cx="3566160" cy="2103120"/>
          </a:xfrm>
          <a:prstGeom prst="rect">
            <a:avLst/>
          </a:prstGeom>
          <a:noFill/>
          <a:ln/>
        </p:spPr>
        <p:txBody>
          <a:bodyPr wrap="square" rtlCol="0" anchor="ctr"/>
          <a:lstStyle/>
          <a:p>
            <a:pPr indent="0" marL="0">
              <a:lnSpc>
                <a:spcPct val="130000"/>
              </a:lnSpc>
              <a:buNone/>
            </a:pPr>
            <a:r>
              <a:rPr lang="en-US" sz="1350" dirty="0">
                <a:solidFill>
                  <a:srgbClr val="D8E2F7"/>
                </a:solidFill>
                <a:latin typeface="Calibri" pitchFamily="34" charset="0"/>
                <a:ea typeface="Calibri" pitchFamily="34" charset="-122"/>
                <a:cs typeface="Calibri" pitchFamily="34" charset="-120"/>
              </a:rPr>
              <a:t>A social-engineering attack that impersonates a trusted sender to trick you into handing over credentials, money, or access — by email, text, phone, or fake website.</a:t>
            </a:r>
            <a:endParaRPr lang="en-US" sz="1350" dirty="0"/>
          </a:p>
        </p:txBody>
      </p:sp>
      <p:sp>
        <p:nvSpPr>
          <p:cNvPr id="9" name="Shape 6"/>
          <p:cNvSpPr/>
          <p:nvPr/>
        </p:nvSpPr>
        <p:spPr>
          <a:xfrm>
            <a:off x="5029200" y="777240"/>
            <a:ext cx="502920" cy="502920"/>
          </a:xfrm>
          <a:prstGeom prst="ellipse">
            <a:avLst/>
          </a:prstGeom>
          <a:solidFill>
            <a:srgbClr val="1E2761"/>
          </a:solidFill>
          <a:ln/>
        </p:spPr>
      </p:sp>
      <p:pic>
        <p:nvPicPr>
          <p:cNvPr id="10" name="Image 1" descr="icons/eye.png">    </p:cNvPr>
          <p:cNvPicPr>
            <a:picLocks noChangeAspect="1"/>
          </p:cNvPicPr>
          <p:nvPr/>
        </p:nvPicPr>
        <p:blipFill>
          <a:blip r:embed="rId2"/>
          <a:stretch>
            <a:fillRect/>
          </a:stretch>
        </p:blipFill>
        <p:spPr>
          <a:xfrm>
            <a:off x="5142357" y="890397"/>
            <a:ext cx="276606" cy="276606"/>
          </a:xfrm>
          <a:prstGeom prst="rect">
            <a:avLst/>
          </a:prstGeom>
        </p:spPr>
      </p:pic>
      <p:sp>
        <p:nvSpPr>
          <p:cNvPr id="11" name="Text 7"/>
          <p:cNvSpPr/>
          <p:nvPr/>
        </p:nvSpPr>
        <p:spPr>
          <a:xfrm>
            <a:off x="5715000" y="731520"/>
            <a:ext cx="5852160" cy="365760"/>
          </a:xfrm>
          <a:prstGeom prst="rect">
            <a:avLst/>
          </a:prstGeom>
          <a:noFill/>
          <a:ln/>
        </p:spPr>
        <p:txBody>
          <a:bodyPr wrap="square" rtlCol="0" anchor="ctr"/>
          <a:lstStyle/>
          <a:p>
            <a:pPr indent="0" marL="0">
              <a:buNone/>
            </a:pPr>
            <a:r>
              <a:rPr lang="en-US" sz="1550" b="1" dirty="0">
                <a:solidFill>
                  <a:srgbClr val="1B2033"/>
                </a:solidFill>
                <a:latin typeface="Calibri" pitchFamily="34" charset="0"/>
                <a:ea typeface="Calibri" pitchFamily="34" charset="-122"/>
                <a:cs typeface="Calibri" pitchFamily="34" charset="-120"/>
              </a:rPr>
              <a:t>It targets people, not systems</a:t>
            </a:r>
            <a:endParaRPr lang="en-US" sz="1550" dirty="0"/>
          </a:p>
        </p:txBody>
      </p:sp>
      <p:sp>
        <p:nvSpPr>
          <p:cNvPr id="12" name="Text 8"/>
          <p:cNvSpPr/>
          <p:nvPr/>
        </p:nvSpPr>
        <p:spPr>
          <a:xfrm>
            <a:off x="5715000" y="1124712"/>
            <a:ext cx="5852160" cy="685800"/>
          </a:xfrm>
          <a:prstGeom prst="rect">
            <a:avLst/>
          </a:prstGeom>
          <a:noFill/>
          <a:ln/>
        </p:spPr>
        <p:txBody>
          <a:bodyPr wrap="square" rtlCol="0" anchor="ctr"/>
          <a:lstStyle/>
          <a:p>
            <a:pPr indent="0" marL="0">
              <a:lnSpc>
                <a:spcPct val="120000"/>
              </a:lnSpc>
              <a:buNone/>
            </a:pPr>
            <a:r>
              <a:rPr lang="en-US" sz="1200" dirty="0">
                <a:solidFill>
                  <a:srgbClr val="5A6B8C"/>
                </a:solidFill>
                <a:latin typeface="Calibri" pitchFamily="34" charset="0"/>
                <a:ea typeface="Calibri" pitchFamily="34" charset="-122"/>
                <a:cs typeface="Calibri" pitchFamily="34" charset="-120"/>
              </a:rPr>
              <a:t>Firewalls and filters can’t stop a convincing message from working on a busy, trusting employee.</a:t>
            </a:r>
            <a:endParaRPr lang="en-US" sz="1200" dirty="0"/>
          </a:p>
        </p:txBody>
      </p:sp>
      <p:sp>
        <p:nvSpPr>
          <p:cNvPr id="13" name="Shape 9"/>
          <p:cNvSpPr/>
          <p:nvPr/>
        </p:nvSpPr>
        <p:spPr>
          <a:xfrm>
            <a:off x="5029200" y="1828800"/>
            <a:ext cx="502920" cy="502920"/>
          </a:xfrm>
          <a:prstGeom prst="ellipse">
            <a:avLst/>
          </a:prstGeom>
          <a:solidFill>
            <a:srgbClr val="1E2761"/>
          </a:solidFill>
          <a:ln/>
        </p:spPr>
      </p:sp>
      <p:pic>
        <p:nvPicPr>
          <p:cNvPr id="14" name="Image 2" descr="icons/link.png">    </p:cNvPr>
          <p:cNvPicPr>
            <a:picLocks noChangeAspect="1"/>
          </p:cNvPicPr>
          <p:nvPr/>
        </p:nvPicPr>
        <p:blipFill>
          <a:blip r:embed="rId3"/>
          <a:stretch>
            <a:fillRect/>
          </a:stretch>
        </p:blipFill>
        <p:spPr>
          <a:xfrm>
            <a:off x="5142357" y="1941957"/>
            <a:ext cx="276606" cy="276606"/>
          </a:xfrm>
          <a:prstGeom prst="rect">
            <a:avLst/>
          </a:prstGeom>
        </p:spPr>
      </p:pic>
      <p:sp>
        <p:nvSpPr>
          <p:cNvPr id="15" name="Text 10"/>
          <p:cNvSpPr/>
          <p:nvPr/>
        </p:nvSpPr>
        <p:spPr>
          <a:xfrm>
            <a:off x="5715000" y="1783080"/>
            <a:ext cx="5852160" cy="365760"/>
          </a:xfrm>
          <a:prstGeom prst="rect">
            <a:avLst/>
          </a:prstGeom>
          <a:noFill/>
          <a:ln/>
        </p:spPr>
        <p:txBody>
          <a:bodyPr wrap="square" rtlCol="0" anchor="ctr"/>
          <a:lstStyle/>
          <a:p>
            <a:pPr indent="0" marL="0">
              <a:buNone/>
            </a:pPr>
            <a:r>
              <a:rPr lang="en-US" sz="1550" b="1" dirty="0">
                <a:solidFill>
                  <a:srgbClr val="1B2033"/>
                </a:solidFill>
                <a:latin typeface="Calibri" pitchFamily="34" charset="0"/>
                <a:ea typeface="Calibri" pitchFamily="34" charset="-122"/>
                <a:cs typeface="Calibri" pitchFamily="34" charset="-120"/>
              </a:rPr>
              <a:t>It scales effortlessly</a:t>
            </a:r>
            <a:endParaRPr lang="en-US" sz="1550" dirty="0"/>
          </a:p>
        </p:txBody>
      </p:sp>
      <p:sp>
        <p:nvSpPr>
          <p:cNvPr id="16" name="Text 11"/>
          <p:cNvSpPr/>
          <p:nvPr/>
        </p:nvSpPr>
        <p:spPr>
          <a:xfrm>
            <a:off x="5715000" y="2176272"/>
            <a:ext cx="5852160" cy="685800"/>
          </a:xfrm>
          <a:prstGeom prst="rect">
            <a:avLst/>
          </a:prstGeom>
          <a:noFill/>
          <a:ln/>
        </p:spPr>
        <p:txBody>
          <a:bodyPr wrap="square" rtlCol="0" anchor="ctr"/>
          <a:lstStyle/>
          <a:p>
            <a:pPr indent="0" marL="0">
              <a:lnSpc>
                <a:spcPct val="120000"/>
              </a:lnSpc>
              <a:buNone/>
            </a:pPr>
            <a:r>
              <a:rPr lang="en-US" sz="1200" dirty="0">
                <a:solidFill>
                  <a:srgbClr val="5A6B8C"/>
                </a:solidFill>
                <a:latin typeface="Calibri" pitchFamily="34" charset="0"/>
                <a:ea typeface="Calibri" pitchFamily="34" charset="-122"/>
                <a:cs typeface="Calibri" pitchFamily="34" charset="-120"/>
              </a:rPr>
              <a:t>One template, sent to thousands of inboxes in minutes, only needs a handful of people to click.</a:t>
            </a:r>
            <a:endParaRPr lang="en-US" sz="1200" dirty="0"/>
          </a:p>
        </p:txBody>
      </p:sp>
      <p:sp>
        <p:nvSpPr>
          <p:cNvPr id="17" name="Shape 12"/>
          <p:cNvSpPr/>
          <p:nvPr/>
        </p:nvSpPr>
        <p:spPr>
          <a:xfrm>
            <a:off x="5029200" y="2880360"/>
            <a:ext cx="502920" cy="502920"/>
          </a:xfrm>
          <a:prstGeom prst="ellipse">
            <a:avLst/>
          </a:prstGeom>
          <a:solidFill>
            <a:srgbClr val="E63946"/>
          </a:solidFill>
          <a:ln/>
        </p:spPr>
      </p:sp>
      <p:pic>
        <p:nvPicPr>
          <p:cNvPr id="18" name="Image 3" descr="icons/shield.png">    </p:cNvPr>
          <p:cNvPicPr>
            <a:picLocks noChangeAspect="1"/>
          </p:cNvPicPr>
          <p:nvPr/>
        </p:nvPicPr>
        <p:blipFill>
          <a:blip r:embed="rId4"/>
          <a:stretch>
            <a:fillRect/>
          </a:stretch>
        </p:blipFill>
        <p:spPr>
          <a:xfrm>
            <a:off x="5142357" y="2993517"/>
            <a:ext cx="276606" cy="276606"/>
          </a:xfrm>
          <a:prstGeom prst="rect">
            <a:avLst/>
          </a:prstGeom>
        </p:spPr>
      </p:pic>
      <p:sp>
        <p:nvSpPr>
          <p:cNvPr id="19" name="Text 13"/>
          <p:cNvSpPr/>
          <p:nvPr/>
        </p:nvSpPr>
        <p:spPr>
          <a:xfrm>
            <a:off x="5715000" y="2834640"/>
            <a:ext cx="5852160" cy="365760"/>
          </a:xfrm>
          <a:prstGeom prst="rect">
            <a:avLst/>
          </a:prstGeom>
          <a:noFill/>
          <a:ln/>
        </p:spPr>
        <p:txBody>
          <a:bodyPr wrap="square" rtlCol="0" anchor="ctr"/>
          <a:lstStyle/>
          <a:p>
            <a:pPr indent="0" marL="0">
              <a:buNone/>
            </a:pPr>
            <a:r>
              <a:rPr lang="en-US" sz="1550" b="1" dirty="0">
                <a:solidFill>
                  <a:srgbClr val="1B2033"/>
                </a:solidFill>
                <a:latin typeface="Calibri" pitchFamily="34" charset="0"/>
                <a:ea typeface="Calibri" pitchFamily="34" charset="-122"/>
                <a:cs typeface="Calibri" pitchFamily="34" charset="-120"/>
              </a:rPr>
              <a:t>It’s the door, not the damage</a:t>
            </a:r>
            <a:endParaRPr lang="en-US" sz="1550" dirty="0"/>
          </a:p>
        </p:txBody>
      </p:sp>
      <p:sp>
        <p:nvSpPr>
          <p:cNvPr id="20" name="Text 14"/>
          <p:cNvSpPr/>
          <p:nvPr/>
        </p:nvSpPr>
        <p:spPr>
          <a:xfrm>
            <a:off x="5715000" y="3227832"/>
            <a:ext cx="5852160" cy="685800"/>
          </a:xfrm>
          <a:prstGeom prst="rect">
            <a:avLst/>
          </a:prstGeom>
          <a:noFill/>
          <a:ln/>
        </p:spPr>
        <p:txBody>
          <a:bodyPr wrap="square" rtlCol="0" anchor="ctr"/>
          <a:lstStyle/>
          <a:p>
            <a:pPr indent="0" marL="0">
              <a:lnSpc>
                <a:spcPct val="120000"/>
              </a:lnSpc>
              <a:buNone/>
            </a:pPr>
            <a:r>
              <a:rPr lang="en-US" sz="1200" dirty="0">
                <a:solidFill>
                  <a:srgbClr val="5A6B8C"/>
                </a:solidFill>
                <a:latin typeface="Calibri" pitchFamily="34" charset="0"/>
                <a:ea typeface="Calibri" pitchFamily="34" charset="-122"/>
                <a:cs typeface="Calibri" pitchFamily="34" charset="-120"/>
              </a:rPr>
              <a:t>A single click can hand over credentials that lead to ransomware, fraud, or a full network breach.</a:t>
            </a:r>
            <a:endParaRPr lang="en-US" sz="1200" dirty="0"/>
          </a:p>
        </p:txBody>
      </p:sp>
      <p:sp>
        <p:nvSpPr>
          <p:cNvPr id="21" name="Shape 15"/>
          <p:cNvSpPr/>
          <p:nvPr/>
        </p:nvSpPr>
        <p:spPr>
          <a:xfrm>
            <a:off x="5029200" y="4160520"/>
            <a:ext cx="6583680" cy="2148840"/>
          </a:xfrm>
          <a:prstGeom prst="roundRect">
            <a:avLst>
              <a:gd name="adj" fmla="val 3404"/>
            </a:avLst>
          </a:prstGeom>
          <a:solidFill>
            <a:srgbClr val="FFFFFF"/>
          </a:solidFill>
          <a:ln/>
          <a:effectLst>
            <a:outerShdw sx="100000" sy="100000" kx="0" ky="0" algn="bl" rotWithShape="0" blurRad="101600" dist="38100" dir="5400000">
              <a:srgbClr val="3B4A6B">
                <a:alpha val="18000"/>
              </a:srgbClr>
            </a:outerShdw>
          </a:effectLst>
        </p:spPr>
      </p:sp>
      <p:sp>
        <p:nvSpPr>
          <p:cNvPr id="22" name="Text 16"/>
          <p:cNvSpPr/>
          <p:nvPr/>
        </p:nvSpPr>
        <p:spPr>
          <a:xfrm>
            <a:off x="5257800" y="4279392"/>
            <a:ext cx="2743200" cy="1005840"/>
          </a:xfrm>
          <a:prstGeom prst="rect">
            <a:avLst/>
          </a:prstGeom>
          <a:noFill/>
          <a:ln/>
        </p:spPr>
        <p:txBody>
          <a:bodyPr wrap="square" rtlCol="0" anchor="ctr"/>
          <a:lstStyle/>
          <a:p>
            <a:pPr indent="0" marL="0">
              <a:buNone/>
            </a:pPr>
            <a:r>
              <a:rPr lang="en-US" sz="5200" b="1" dirty="0">
                <a:solidFill>
                  <a:srgbClr val="E63946"/>
                </a:solidFill>
                <a:latin typeface="Cambria" pitchFamily="34" charset="0"/>
                <a:ea typeface="Cambria" pitchFamily="34" charset="-122"/>
                <a:cs typeface="Cambria" pitchFamily="34" charset="-120"/>
              </a:rPr>
              <a:t>90%+</a:t>
            </a:r>
            <a:endParaRPr lang="en-US" sz="5200" dirty="0"/>
          </a:p>
        </p:txBody>
      </p:sp>
      <p:sp>
        <p:nvSpPr>
          <p:cNvPr id="23" name="Text 17"/>
          <p:cNvSpPr/>
          <p:nvPr/>
        </p:nvSpPr>
        <p:spPr>
          <a:xfrm>
            <a:off x="5257800" y="5257800"/>
            <a:ext cx="2926080" cy="914400"/>
          </a:xfrm>
          <a:prstGeom prst="rect">
            <a:avLst/>
          </a:prstGeom>
          <a:noFill/>
          <a:ln/>
        </p:spPr>
        <p:txBody>
          <a:bodyPr wrap="square" rtlCol="0" anchor="ctr"/>
          <a:lstStyle/>
          <a:p>
            <a:pPr indent="0" marL="0">
              <a:lnSpc>
                <a:spcPct val="120000"/>
              </a:lnSpc>
              <a:buNone/>
            </a:pPr>
            <a:r>
              <a:rPr lang="en-US" sz="1150" dirty="0">
                <a:solidFill>
                  <a:srgbClr val="5A6B8C"/>
                </a:solidFill>
                <a:latin typeface="Calibri" pitchFamily="34" charset="0"/>
                <a:ea typeface="Calibri" pitchFamily="34" charset="-122"/>
                <a:cs typeface="Calibri" pitchFamily="34" charset="-120"/>
              </a:rPr>
              <a:t>of successful cyberattacks start with a phishing message, according to CISA.</a:t>
            </a:r>
            <a:endParaRPr lang="en-US" sz="1150" dirty="0"/>
          </a:p>
        </p:txBody>
      </p:sp>
      <p:sp>
        <p:nvSpPr>
          <p:cNvPr id="24" name="Shape 18"/>
          <p:cNvSpPr/>
          <p:nvPr/>
        </p:nvSpPr>
        <p:spPr>
          <a:xfrm>
            <a:off x="8366760" y="4343400"/>
            <a:ext cx="0" cy="1828800"/>
          </a:xfrm>
          <a:prstGeom prst="line">
            <a:avLst/>
          </a:prstGeom>
          <a:noFill/>
          <a:ln w="19050">
            <a:solidFill>
              <a:srgbClr val="E4E9F5"/>
            </a:solidFill>
            <a:prstDash val="solid"/>
          </a:ln>
        </p:spPr>
      </p:sp>
      <p:sp>
        <p:nvSpPr>
          <p:cNvPr id="25" name="Text 19"/>
          <p:cNvSpPr/>
          <p:nvPr/>
        </p:nvSpPr>
        <p:spPr>
          <a:xfrm>
            <a:off x="8641080" y="4279392"/>
            <a:ext cx="2743200" cy="77724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$4.88M</a:t>
            </a:r>
            <a:endParaRPr lang="en-US" sz="3400" dirty="0"/>
          </a:p>
        </p:txBody>
      </p:sp>
      <p:sp>
        <p:nvSpPr>
          <p:cNvPr id="26" name="Text 20"/>
          <p:cNvSpPr/>
          <p:nvPr/>
        </p:nvSpPr>
        <p:spPr>
          <a:xfrm>
            <a:off x="8641080" y="5029200"/>
            <a:ext cx="2926080" cy="1097280"/>
          </a:xfrm>
          <a:prstGeom prst="rect">
            <a:avLst/>
          </a:prstGeom>
          <a:noFill/>
          <a:ln/>
        </p:spPr>
        <p:txBody>
          <a:bodyPr wrap="square" rtlCol="0" anchor="ctr"/>
          <a:lstStyle/>
          <a:p>
            <a:pPr indent="0" marL="0">
              <a:lnSpc>
                <a:spcPct val="120000"/>
              </a:lnSpc>
              <a:buNone/>
            </a:pPr>
            <a:r>
              <a:rPr lang="en-US" sz="1150" dirty="0">
                <a:solidFill>
                  <a:srgbClr val="5A6B8C"/>
                </a:solidFill>
                <a:latin typeface="Calibri" pitchFamily="34" charset="0"/>
                <a:ea typeface="Calibri" pitchFamily="34" charset="-122"/>
                <a:cs typeface="Calibri" pitchFamily="34" charset="-120"/>
              </a:rPr>
              <a:t>average cost of a data breach that began with phishing (2025).</a:t>
            </a:r>
            <a:endParaRPr lang="en-US" sz="1150" dirty="0"/>
          </a:p>
        </p:txBody>
      </p:sp>
      <p:sp>
        <p:nvSpPr>
          <p:cNvPr id="27" name="Text 21"/>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CADCFC"/>
                </a:solidFill>
                <a:latin typeface="Calibri" pitchFamily="34" charset="0"/>
                <a:ea typeface="Calibri" pitchFamily="34" charset="-122"/>
                <a:cs typeface="Calibri" pitchFamily="34" charset="-120"/>
              </a:rPr>
              <a:t>THE SCALE OF THE PROBLEM</a:t>
            </a:r>
            <a:endParaRPr lang="en-US" sz="1250" dirty="0"/>
          </a:p>
        </p:txBody>
      </p:sp>
      <p:sp>
        <p:nvSpPr>
          <p:cNvPr id="3" name="Text 1"/>
          <p:cNvSpPr/>
          <p:nvPr/>
        </p:nvSpPr>
        <p:spPr>
          <a:xfrm>
            <a:off x="548640" y="749808"/>
            <a:ext cx="105156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phishing keeps winning</a:t>
            </a:r>
            <a:endParaRPr lang="en-US" sz="3000" dirty="0"/>
          </a:p>
        </p:txBody>
      </p:sp>
      <p:sp>
        <p:nvSpPr>
          <p:cNvPr id="4" name="Shape 2"/>
          <p:cNvSpPr/>
          <p:nvPr/>
        </p:nvSpPr>
        <p:spPr>
          <a:xfrm>
            <a:off x="548640" y="2011680"/>
            <a:ext cx="3520440" cy="3931920"/>
          </a:xfrm>
          <a:prstGeom prst="roundRect">
            <a:avLst>
              <a:gd name="adj" fmla="val 2338"/>
            </a:avLst>
          </a:prstGeom>
          <a:solidFill>
            <a:srgbClr val="141B47"/>
          </a:solidFill>
          <a:ln w="12700">
            <a:solidFill>
              <a:srgbClr val="32407A"/>
            </a:solidFill>
            <a:prstDash val="solid"/>
          </a:ln>
        </p:spPr>
      </p:sp>
      <p:sp>
        <p:nvSpPr>
          <p:cNvPr id="5" name="Shape 3"/>
          <p:cNvSpPr/>
          <p:nvPr/>
        </p:nvSpPr>
        <p:spPr>
          <a:xfrm>
            <a:off x="868680" y="2331720"/>
            <a:ext cx="640080" cy="640080"/>
          </a:xfrm>
          <a:prstGeom prst="ellipse">
            <a:avLst/>
          </a:prstGeom>
          <a:solidFill>
            <a:srgbClr val="E63946"/>
          </a:solidFill>
          <a:ln/>
        </p:spPr>
      </p:sp>
      <p:pic>
        <p:nvPicPr>
          <p:cNvPr id="6" name="Image 0" descr="icons/robot.png">    </p:cNvPr>
          <p:cNvPicPr>
            <a:picLocks noChangeAspect="1"/>
          </p:cNvPicPr>
          <p:nvPr/>
        </p:nvPicPr>
        <p:blipFill>
          <a:blip r:embed="rId1"/>
          <a:stretch>
            <a:fillRect/>
          </a:stretch>
        </p:blipFill>
        <p:spPr>
          <a:xfrm>
            <a:off x="1012698" y="2475738"/>
            <a:ext cx="352044" cy="352044"/>
          </a:xfrm>
          <a:prstGeom prst="rect">
            <a:avLst/>
          </a:prstGeom>
        </p:spPr>
      </p:pic>
      <p:sp>
        <p:nvSpPr>
          <p:cNvPr id="7" name="Text 4"/>
          <p:cNvSpPr/>
          <p:nvPr/>
        </p:nvSpPr>
        <p:spPr>
          <a:xfrm>
            <a:off x="868680" y="3154680"/>
            <a:ext cx="288036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82.6%</a:t>
            </a:r>
            <a:endParaRPr lang="en-US" sz="4200" dirty="0"/>
          </a:p>
        </p:txBody>
      </p:sp>
      <p:sp>
        <p:nvSpPr>
          <p:cNvPr id="8" name="Text 5"/>
          <p:cNvSpPr/>
          <p:nvPr/>
        </p:nvSpPr>
        <p:spPr>
          <a:xfrm>
            <a:off x="868680" y="4160520"/>
            <a:ext cx="2880360" cy="160020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of phishing emails detected in late 2024–early 2025 used AI to sound more convincing.</a:t>
            </a:r>
            <a:endParaRPr lang="en-US" sz="1300" dirty="0"/>
          </a:p>
        </p:txBody>
      </p:sp>
      <p:sp>
        <p:nvSpPr>
          <p:cNvPr id="9" name="Shape 6"/>
          <p:cNvSpPr/>
          <p:nvPr/>
        </p:nvSpPr>
        <p:spPr>
          <a:xfrm>
            <a:off x="4343400" y="2011680"/>
            <a:ext cx="3520440" cy="3931920"/>
          </a:xfrm>
          <a:prstGeom prst="roundRect">
            <a:avLst>
              <a:gd name="adj" fmla="val 2338"/>
            </a:avLst>
          </a:prstGeom>
          <a:solidFill>
            <a:srgbClr val="141B47"/>
          </a:solidFill>
          <a:ln w="12700">
            <a:solidFill>
              <a:srgbClr val="32407A"/>
            </a:solidFill>
            <a:prstDash val="solid"/>
          </a:ln>
        </p:spPr>
      </p:sp>
      <p:sp>
        <p:nvSpPr>
          <p:cNvPr id="10" name="Shape 7"/>
          <p:cNvSpPr/>
          <p:nvPr/>
        </p:nvSpPr>
        <p:spPr>
          <a:xfrm>
            <a:off x="4663440" y="2331720"/>
            <a:ext cx="640080" cy="640080"/>
          </a:xfrm>
          <a:prstGeom prst="ellipse">
            <a:avLst/>
          </a:prstGeom>
          <a:solidFill>
            <a:srgbClr val="E63946"/>
          </a:solidFill>
          <a:ln/>
        </p:spPr>
      </p:sp>
      <p:pic>
        <p:nvPicPr>
          <p:cNvPr id="11" name="Image 1" descr="icons/fileInvoice.png">    </p:cNvPr>
          <p:cNvPicPr>
            <a:picLocks noChangeAspect="1"/>
          </p:cNvPicPr>
          <p:nvPr/>
        </p:nvPicPr>
        <p:blipFill>
          <a:blip r:embed="rId2"/>
          <a:stretch>
            <a:fillRect/>
          </a:stretch>
        </p:blipFill>
        <p:spPr>
          <a:xfrm>
            <a:off x="4807458" y="2475738"/>
            <a:ext cx="352044" cy="352044"/>
          </a:xfrm>
          <a:prstGeom prst="rect">
            <a:avLst/>
          </a:prstGeom>
        </p:spPr>
      </p:pic>
      <p:sp>
        <p:nvSpPr>
          <p:cNvPr id="12" name="Text 8"/>
          <p:cNvSpPr/>
          <p:nvPr/>
        </p:nvSpPr>
        <p:spPr>
          <a:xfrm>
            <a:off x="4663440" y="3154680"/>
            <a:ext cx="288036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$2.77B</a:t>
            </a:r>
            <a:endParaRPr lang="en-US" sz="4200" dirty="0"/>
          </a:p>
        </p:txBody>
      </p:sp>
      <p:sp>
        <p:nvSpPr>
          <p:cNvPr id="13" name="Text 9"/>
          <p:cNvSpPr/>
          <p:nvPr/>
        </p:nvSpPr>
        <p:spPr>
          <a:xfrm>
            <a:off x="4663440" y="4160520"/>
            <a:ext cx="2880360" cy="160020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lost to business email compromise scams in 2024, from just 21,442 reported cases.</a:t>
            </a:r>
            <a:endParaRPr lang="en-US" sz="1300" dirty="0"/>
          </a:p>
        </p:txBody>
      </p:sp>
      <p:sp>
        <p:nvSpPr>
          <p:cNvPr id="14" name="Shape 10"/>
          <p:cNvSpPr/>
          <p:nvPr/>
        </p:nvSpPr>
        <p:spPr>
          <a:xfrm>
            <a:off x="8138160" y="2011680"/>
            <a:ext cx="3520440" cy="3931920"/>
          </a:xfrm>
          <a:prstGeom prst="roundRect">
            <a:avLst>
              <a:gd name="adj" fmla="val 2338"/>
            </a:avLst>
          </a:prstGeom>
          <a:solidFill>
            <a:srgbClr val="141B47"/>
          </a:solidFill>
          <a:ln w="12700">
            <a:solidFill>
              <a:srgbClr val="32407A"/>
            </a:solidFill>
            <a:prstDash val="solid"/>
          </a:ln>
        </p:spPr>
      </p:sp>
      <p:sp>
        <p:nvSpPr>
          <p:cNvPr id="15" name="Shape 11"/>
          <p:cNvSpPr/>
          <p:nvPr/>
        </p:nvSpPr>
        <p:spPr>
          <a:xfrm>
            <a:off x="8458200" y="2331720"/>
            <a:ext cx="640080" cy="640080"/>
          </a:xfrm>
          <a:prstGeom prst="ellipse">
            <a:avLst/>
          </a:prstGeom>
          <a:solidFill>
            <a:srgbClr val="E63946"/>
          </a:solidFill>
          <a:ln/>
        </p:spPr>
      </p:sp>
      <p:pic>
        <p:nvPicPr>
          <p:cNvPr id="16" name="Image 2" descr="icons/shield.png">    </p:cNvPr>
          <p:cNvPicPr>
            <a:picLocks noChangeAspect="1"/>
          </p:cNvPicPr>
          <p:nvPr/>
        </p:nvPicPr>
        <p:blipFill>
          <a:blip r:embed="rId3"/>
          <a:stretch>
            <a:fillRect/>
          </a:stretch>
        </p:blipFill>
        <p:spPr>
          <a:xfrm>
            <a:off x="8602218" y="2475738"/>
            <a:ext cx="352044" cy="352044"/>
          </a:xfrm>
          <a:prstGeom prst="rect">
            <a:avLst/>
          </a:prstGeom>
        </p:spPr>
      </p:pic>
      <p:sp>
        <p:nvSpPr>
          <p:cNvPr id="17" name="Text 12"/>
          <p:cNvSpPr/>
          <p:nvPr/>
        </p:nvSpPr>
        <p:spPr>
          <a:xfrm>
            <a:off x="8458200" y="3154680"/>
            <a:ext cx="288036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4.1%</a:t>
            </a:r>
            <a:endParaRPr lang="en-US" sz="4200" dirty="0"/>
          </a:p>
        </p:txBody>
      </p:sp>
      <p:sp>
        <p:nvSpPr>
          <p:cNvPr id="18" name="Text 13"/>
          <p:cNvSpPr/>
          <p:nvPr/>
        </p:nvSpPr>
        <p:spPr>
          <a:xfrm>
            <a:off x="8458200" y="4160520"/>
            <a:ext cx="2880360" cy="160020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the click rate after 12 months of security training — down from a 33% baseline.</a:t>
            </a:r>
            <a:endParaRPr lang="en-US" sz="1300" dirty="0"/>
          </a:p>
        </p:txBody>
      </p:sp>
      <p:sp>
        <p:nvSpPr>
          <p:cNvPr id="19" name="Text 14"/>
          <p:cNvSpPr/>
          <p:nvPr/>
        </p:nvSpPr>
        <p:spPr>
          <a:xfrm>
            <a:off x="548640" y="6355080"/>
            <a:ext cx="10515600" cy="320040"/>
          </a:xfrm>
          <a:prstGeom prst="rect">
            <a:avLst/>
          </a:prstGeom>
          <a:noFill/>
          <a:ln/>
        </p:spPr>
        <p:txBody>
          <a:bodyPr wrap="square" rtlCol="0" anchor="ctr"/>
          <a:lstStyle/>
          <a:p>
            <a:pPr indent="0" marL="0">
              <a:buNone/>
            </a:pPr>
            <a:r>
              <a:rPr lang="en-US" sz="850" i="1" dirty="0">
                <a:solidFill>
                  <a:srgbClr val="8A97C4"/>
                </a:solidFill>
                <a:latin typeface="Calibri" pitchFamily="34" charset="0"/>
                <a:ea typeface="Calibri" pitchFamily="34" charset="-122"/>
                <a:cs typeface="Calibri" pitchFamily="34" charset="-120"/>
              </a:rPr>
              <a:t>Sources: CISA; FBI IC3 2024 Annual Report; IBM Cost of a Data Breach 2025; KnowBe4 2025 Phishing by Industry Benchmarking Report.</a:t>
            </a:r>
            <a:endParaRPr lang="en-US" sz="850" dirty="0"/>
          </a:p>
        </p:txBody>
      </p:sp>
      <p:sp>
        <p:nvSpPr>
          <p:cNvPr id="20" name="Text 15"/>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KNOW THE PLAYBOOK</a:t>
            </a:r>
            <a:endParaRPr lang="en-US" sz="1250" dirty="0"/>
          </a:p>
        </p:txBody>
      </p:sp>
      <p:sp>
        <p:nvSpPr>
          <p:cNvPr id="3" name="Text 1"/>
          <p:cNvSpPr/>
          <p:nvPr/>
        </p:nvSpPr>
        <p:spPr>
          <a:xfrm>
            <a:off x="548640" y="749808"/>
            <a:ext cx="10515600" cy="822960"/>
          </a:xfrm>
          <a:prstGeom prst="rect">
            <a:avLst/>
          </a:prstGeom>
          <a:noFill/>
          <a:ln/>
        </p:spPr>
        <p:txBody>
          <a:bodyPr wrap="square" rtlCol="0" anchor="ctr"/>
          <a:lstStyle/>
          <a:p>
            <a:pPr indent="0" marL="0">
              <a:buNone/>
            </a:pPr>
            <a:r>
              <a:rPr lang="en-US" sz="3000" b="1" dirty="0">
                <a:solidFill>
                  <a:srgbClr val="1B2033"/>
                </a:solidFill>
                <a:latin typeface="Cambria" pitchFamily="34" charset="0"/>
                <a:ea typeface="Cambria" pitchFamily="34" charset="-122"/>
                <a:cs typeface="Cambria" pitchFamily="34" charset="-120"/>
              </a:rPr>
              <a:t>Six faces of phishing</a:t>
            </a:r>
            <a:endParaRPr lang="en-US" sz="3000" dirty="0"/>
          </a:p>
        </p:txBody>
      </p:sp>
      <p:sp>
        <p:nvSpPr>
          <p:cNvPr id="4" name="Shape 2"/>
          <p:cNvSpPr/>
          <p:nvPr/>
        </p:nvSpPr>
        <p:spPr>
          <a:xfrm>
            <a:off x="548640" y="1874520"/>
            <a:ext cx="3611880" cy="1920240"/>
          </a:xfrm>
          <a:prstGeom prst="roundRect">
            <a:avLst>
              <a:gd name="adj" fmla="val 3810"/>
            </a:avLst>
          </a:prstGeom>
          <a:solidFill>
            <a:srgbClr val="FFFFFF"/>
          </a:solidFill>
          <a:ln/>
          <a:effectLst>
            <a:outerShdw sx="100000" sy="100000" kx="0" ky="0" algn="bl" rotWithShape="0" blurRad="88900" dist="25400" dir="5400000">
              <a:srgbClr val="3B4A6B">
                <a:alpha val="16000"/>
              </a:srgbClr>
            </a:outerShdw>
          </a:effectLst>
        </p:spPr>
      </p:sp>
      <p:sp>
        <p:nvSpPr>
          <p:cNvPr id="5" name="Shape 3"/>
          <p:cNvSpPr/>
          <p:nvPr/>
        </p:nvSpPr>
        <p:spPr>
          <a:xfrm>
            <a:off x="777240" y="2103120"/>
            <a:ext cx="530352" cy="530352"/>
          </a:xfrm>
          <a:prstGeom prst="ellipse">
            <a:avLst/>
          </a:prstGeom>
          <a:solidFill>
            <a:srgbClr val="1E2761"/>
          </a:solidFill>
          <a:ln/>
        </p:spPr>
      </p:sp>
      <p:pic>
        <p:nvPicPr>
          <p:cNvPr id="6" name="Image 0" descr="icons/envelope.png">    </p:cNvPr>
          <p:cNvPicPr>
            <a:picLocks noChangeAspect="1"/>
          </p:cNvPicPr>
          <p:nvPr/>
        </p:nvPicPr>
        <p:blipFill>
          <a:blip r:embed="rId1"/>
          <a:stretch>
            <a:fillRect/>
          </a:stretch>
        </p:blipFill>
        <p:spPr>
          <a:xfrm>
            <a:off x="896569" y="2222449"/>
            <a:ext cx="291694" cy="291694"/>
          </a:xfrm>
          <a:prstGeom prst="rect">
            <a:avLst/>
          </a:prstGeom>
        </p:spPr>
      </p:pic>
      <p:sp>
        <p:nvSpPr>
          <p:cNvPr id="7" name="Text 4"/>
          <p:cNvSpPr/>
          <p:nvPr/>
        </p:nvSpPr>
        <p:spPr>
          <a:xfrm>
            <a:off x="1463040" y="2121408"/>
            <a:ext cx="2514600" cy="502920"/>
          </a:xfrm>
          <a:prstGeom prst="rect">
            <a:avLst/>
          </a:prstGeom>
          <a:noFill/>
          <a:ln/>
        </p:spPr>
        <p:txBody>
          <a:bodyPr wrap="square" rtlCol="0" anchor="t"/>
          <a:lstStyle/>
          <a:p>
            <a:pPr indent="0" marL="0">
              <a:buNone/>
            </a:pPr>
            <a:r>
              <a:rPr lang="en-US" sz="1500" b="1" dirty="0">
                <a:solidFill>
                  <a:srgbClr val="1B2033"/>
                </a:solidFill>
                <a:latin typeface="Calibri" pitchFamily="34" charset="0"/>
                <a:ea typeface="Calibri" pitchFamily="34" charset="-122"/>
                <a:cs typeface="Calibri" pitchFamily="34" charset="-120"/>
              </a:rPr>
              <a:t>Email phishing</a:t>
            </a:r>
            <a:endParaRPr lang="en-US" sz="1500" dirty="0"/>
          </a:p>
        </p:txBody>
      </p:sp>
      <p:sp>
        <p:nvSpPr>
          <p:cNvPr id="8" name="Text 5"/>
          <p:cNvSpPr/>
          <p:nvPr/>
        </p:nvSpPr>
        <p:spPr>
          <a:xfrm>
            <a:off x="777240" y="2770632"/>
            <a:ext cx="3154680" cy="914400"/>
          </a:xfrm>
          <a:prstGeom prst="rect">
            <a:avLst/>
          </a:prstGeom>
          <a:noFill/>
          <a:ln/>
        </p:spPr>
        <p:txBody>
          <a:bodyPr wrap="square" rtlCol="0" anchor="ctr"/>
          <a:lstStyle/>
          <a:p>
            <a:pPr indent="0" marL="0">
              <a:lnSpc>
                <a:spcPct val="122000"/>
              </a:lnSpc>
              <a:buNone/>
            </a:pPr>
            <a:r>
              <a:rPr lang="en-US" sz="1080" dirty="0">
                <a:solidFill>
                  <a:srgbClr val="5A6B8C"/>
                </a:solidFill>
                <a:latin typeface="Calibri" pitchFamily="34" charset="0"/>
                <a:ea typeface="Calibri" pitchFamily="34" charset="-122"/>
                <a:cs typeface="Calibri" pitchFamily="34" charset="-120"/>
              </a:rPr>
              <a:t>Mass, generic messages impersonating a brand or service, sent to as many inboxes as possible.</a:t>
            </a:r>
            <a:endParaRPr lang="en-US" sz="1080" dirty="0"/>
          </a:p>
        </p:txBody>
      </p:sp>
      <p:sp>
        <p:nvSpPr>
          <p:cNvPr id="9" name="Shape 6"/>
          <p:cNvSpPr/>
          <p:nvPr/>
        </p:nvSpPr>
        <p:spPr>
          <a:xfrm>
            <a:off x="4389120" y="1874520"/>
            <a:ext cx="3611880" cy="1920240"/>
          </a:xfrm>
          <a:prstGeom prst="roundRect">
            <a:avLst>
              <a:gd name="adj" fmla="val 3810"/>
            </a:avLst>
          </a:prstGeom>
          <a:solidFill>
            <a:srgbClr val="FFFFFF"/>
          </a:solidFill>
          <a:ln/>
          <a:effectLst>
            <a:outerShdw sx="100000" sy="100000" kx="0" ky="0" algn="bl" rotWithShape="0" blurRad="88900" dist="25400" dir="5400000">
              <a:srgbClr val="3B4A6B">
                <a:alpha val="16000"/>
              </a:srgbClr>
            </a:outerShdw>
          </a:effectLst>
        </p:spPr>
      </p:sp>
      <p:sp>
        <p:nvSpPr>
          <p:cNvPr id="10" name="Shape 7"/>
          <p:cNvSpPr/>
          <p:nvPr/>
        </p:nvSpPr>
        <p:spPr>
          <a:xfrm>
            <a:off x="4617720" y="2103120"/>
            <a:ext cx="530352" cy="530352"/>
          </a:xfrm>
          <a:prstGeom prst="ellipse">
            <a:avLst/>
          </a:prstGeom>
          <a:solidFill>
            <a:srgbClr val="1E2761"/>
          </a:solidFill>
          <a:ln/>
        </p:spPr>
      </p:sp>
      <p:pic>
        <p:nvPicPr>
          <p:cNvPr id="11" name="Image 1" descr="icons/crown.png">    </p:cNvPr>
          <p:cNvPicPr>
            <a:picLocks noChangeAspect="1"/>
          </p:cNvPicPr>
          <p:nvPr/>
        </p:nvPicPr>
        <p:blipFill>
          <a:blip r:embed="rId2"/>
          <a:stretch>
            <a:fillRect/>
          </a:stretch>
        </p:blipFill>
        <p:spPr>
          <a:xfrm>
            <a:off x="4737049" y="2222449"/>
            <a:ext cx="291694" cy="291694"/>
          </a:xfrm>
          <a:prstGeom prst="rect">
            <a:avLst/>
          </a:prstGeom>
        </p:spPr>
      </p:pic>
      <p:sp>
        <p:nvSpPr>
          <p:cNvPr id="12" name="Text 8"/>
          <p:cNvSpPr/>
          <p:nvPr/>
        </p:nvSpPr>
        <p:spPr>
          <a:xfrm>
            <a:off x="5303520" y="2121408"/>
            <a:ext cx="2514600" cy="502920"/>
          </a:xfrm>
          <a:prstGeom prst="rect">
            <a:avLst/>
          </a:prstGeom>
          <a:noFill/>
          <a:ln/>
        </p:spPr>
        <p:txBody>
          <a:bodyPr wrap="square" rtlCol="0" anchor="t"/>
          <a:lstStyle/>
          <a:p>
            <a:pPr indent="0" marL="0">
              <a:buNone/>
            </a:pPr>
            <a:r>
              <a:rPr lang="en-US" sz="1500" b="1" dirty="0">
                <a:solidFill>
                  <a:srgbClr val="1B2033"/>
                </a:solidFill>
                <a:latin typeface="Calibri" pitchFamily="34" charset="0"/>
                <a:ea typeface="Calibri" pitchFamily="34" charset="-122"/>
                <a:cs typeface="Calibri" pitchFamily="34" charset="-120"/>
              </a:rPr>
              <a:t>Spear phishing</a:t>
            </a:r>
            <a:endParaRPr lang="en-US" sz="1500" dirty="0"/>
          </a:p>
        </p:txBody>
      </p:sp>
      <p:sp>
        <p:nvSpPr>
          <p:cNvPr id="13" name="Text 9"/>
          <p:cNvSpPr/>
          <p:nvPr/>
        </p:nvSpPr>
        <p:spPr>
          <a:xfrm>
            <a:off x="4617720" y="2770632"/>
            <a:ext cx="3154680" cy="914400"/>
          </a:xfrm>
          <a:prstGeom prst="rect">
            <a:avLst/>
          </a:prstGeom>
          <a:noFill/>
          <a:ln/>
        </p:spPr>
        <p:txBody>
          <a:bodyPr wrap="square" rtlCol="0" anchor="ctr"/>
          <a:lstStyle/>
          <a:p>
            <a:pPr indent="0" marL="0">
              <a:lnSpc>
                <a:spcPct val="122000"/>
              </a:lnSpc>
              <a:buNone/>
            </a:pPr>
            <a:r>
              <a:rPr lang="en-US" sz="1080" dirty="0">
                <a:solidFill>
                  <a:srgbClr val="5A6B8C"/>
                </a:solidFill>
                <a:latin typeface="Calibri" pitchFamily="34" charset="0"/>
                <a:ea typeface="Calibri" pitchFamily="34" charset="-122"/>
                <a:cs typeface="Calibri" pitchFamily="34" charset="-120"/>
              </a:rPr>
              <a:t>Personalized messages that use your name, role, or projects to feel authentic.</a:t>
            </a:r>
            <a:endParaRPr lang="en-US" sz="1080" dirty="0"/>
          </a:p>
        </p:txBody>
      </p:sp>
      <p:sp>
        <p:nvSpPr>
          <p:cNvPr id="14" name="Shape 10"/>
          <p:cNvSpPr/>
          <p:nvPr/>
        </p:nvSpPr>
        <p:spPr>
          <a:xfrm>
            <a:off x="8229600" y="1874520"/>
            <a:ext cx="3611880" cy="1920240"/>
          </a:xfrm>
          <a:prstGeom prst="roundRect">
            <a:avLst>
              <a:gd name="adj" fmla="val 3810"/>
            </a:avLst>
          </a:prstGeom>
          <a:solidFill>
            <a:srgbClr val="FFFFFF"/>
          </a:solidFill>
          <a:ln/>
          <a:effectLst>
            <a:outerShdw sx="100000" sy="100000" kx="0" ky="0" algn="bl" rotWithShape="0" blurRad="88900" dist="25400" dir="5400000">
              <a:srgbClr val="3B4A6B">
                <a:alpha val="16000"/>
              </a:srgbClr>
            </a:outerShdw>
          </a:effectLst>
        </p:spPr>
      </p:sp>
      <p:sp>
        <p:nvSpPr>
          <p:cNvPr id="15" name="Shape 11"/>
          <p:cNvSpPr/>
          <p:nvPr/>
        </p:nvSpPr>
        <p:spPr>
          <a:xfrm>
            <a:off x="8458200" y="2103120"/>
            <a:ext cx="530352" cy="530352"/>
          </a:xfrm>
          <a:prstGeom prst="ellipse">
            <a:avLst/>
          </a:prstGeom>
          <a:solidFill>
            <a:srgbClr val="1E2761"/>
          </a:solidFill>
          <a:ln/>
        </p:spPr>
      </p:sp>
      <p:pic>
        <p:nvPicPr>
          <p:cNvPr id="16" name="Image 2" descr="icons/userTie.png">    </p:cNvPr>
          <p:cNvPicPr>
            <a:picLocks noChangeAspect="1"/>
          </p:cNvPicPr>
          <p:nvPr/>
        </p:nvPicPr>
        <p:blipFill>
          <a:blip r:embed="rId3"/>
          <a:stretch>
            <a:fillRect/>
          </a:stretch>
        </p:blipFill>
        <p:spPr>
          <a:xfrm>
            <a:off x="8577529" y="2222449"/>
            <a:ext cx="291694" cy="291694"/>
          </a:xfrm>
          <a:prstGeom prst="rect">
            <a:avLst/>
          </a:prstGeom>
        </p:spPr>
      </p:pic>
      <p:sp>
        <p:nvSpPr>
          <p:cNvPr id="17" name="Text 12"/>
          <p:cNvSpPr/>
          <p:nvPr/>
        </p:nvSpPr>
        <p:spPr>
          <a:xfrm>
            <a:off x="9144000" y="2121408"/>
            <a:ext cx="2514600" cy="502920"/>
          </a:xfrm>
          <a:prstGeom prst="rect">
            <a:avLst/>
          </a:prstGeom>
          <a:noFill/>
          <a:ln/>
        </p:spPr>
        <p:txBody>
          <a:bodyPr wrap="square" rtlCol="0" anchor="t"/>
          <a:lstStyle/>
          <a:p>
            <a:pPr indent="0" marL="0">
              <a:buNone/>
            </a:pPr>
            <a:r>
              <a:rPr lang="en-US" sz="1500" b="1" dirty="0">
                <a:solidFill>
                  <a:srgbClr val="1B2033"/>
                </a:solidFill>
                <a:latin typeface="Calibri" pitchFamily="34" charset="0"/>
                <a:ea typeface="Calibri" pitchFamily="34" charset="-122"/>
                <a:cs typeface="Calibri" pitchFamily="34" charset="-120"/>
              </a:rPr>
              <a:t>Whaling</a:t>
            </a:r>
            <a:endParaRPr lang="en-US" sz="1500" dirty="0"/>
          </a:p>
        </p:txBody>
      </p:sp>
      <p:sp>
        <p:nvSpPr>
          <p:cNvPr id="18" name="Text 13"/>
          <p:cNvSpPr/>
          <p:nvPr/>
        </p:nvSpPr>
        <p:spPr>
          <a:xfrm>
            <a:off x="8458200" y="2770632"/>
            <a:ext cx="3154680" cy="914400"/>
          </a:xfrm>
          <a:prstGeom prst="rect">
            <a:avLst/>
          </a:prstGeom>
          <a:noFill/>
          <a:ln/>
        </p:spPr>
        <p:txBody>
          <a:bodyPr wrap="square" rtlCol="0" anchor="ctr"/>
          <a:lstStyle/>
          <a:p>
            <a:pPr indent="0" marL="0">
              <a:lnSpc>
                <a:spcPct val="122000"/>
              </a:lnSpc>
              <a:buNone/>
            </a:pPr>
            <a:r>
              <a:rPr lang="en-US" sz="1080" dirty="0">
                <a:solidFill>
                  <a:srgbClr val="5A6B8C"/>
                </a:solidFill>
                <a:latin typeface="Calibri" pitchFamily="34" charset="0"/>
                <a:ea typeface="Calibri" pitchFamily="34" charset="-122"/>
                <a:cs typeface="Calibri" pitchFamily="34" charset="-120"/>
              </a:rPr>
              <a:t>Spear phishing aimed at executives — often to authorize a wire transfer or data release.</a:t>
            </a:r>
            <a:endParaRPr lang="en-US" sz="1080" dirty="0"/>
          </a:p>
        </p:txBody>
      </p:sp>
      <p:sp>
        <p:nvSpPr>
          <p:cNvPr id="19" name="Shape 14"/>
          <p:cNvSpPr/>
          <p:nvPr/>
        </p:nvSpPr>
        <p:spPr>
          <a:xfrm>
            <a:off x="548640" y="4023360"/>
            <a:ext cx="3611880" cy="1920240"/>
          </a:xfrm>
          <a:prstGeom prst="roundRect">
            <a:avLst>
              <a:gd name="adj" fmla="val 3810"/>
            </a:avLst>
          </a:prstGeom>
          <a:solidFill>
            <a:srgbClr val="FFFFFF"/>
          </a:solidFill>
          <a:ln/>
          <a:effectLst>
            <a:outerShdw sx="100000" sy="100000" kx="0" ky="0" algn="bl" rotWithShape="0" blurRad="88900" dist="25400" dir="5400000">
              <a:srgbClr val="3B4A6B">
                <a:alpha val="16000"/>
              </a:srgbClr>
            </a:outerShdw>
          </a:effectLst>
        </p:spPr>
      </p:sp>
      <p:sp>
        <p:nvSpPr>
          <p:cNvPr id="20" name="Shape 15"/>
          <p:cNvSpPr/>
          <p:nvPr/>
        </p:nvSpPr>
        <p:spPr>
          <a:xfrm>
            <a:off x="777240" y="4251960"/>
            <a:ext cx="530352" cy="530352"/>
          </a:xfrm>
          <a:prstGeom prst="ellipse">
            <a:avLst/>
          </a:prstGeom>
          <a:solidFill>
            <a:srgbClr val="1E2761"/>
          </a:solidFill>
          <a:ln/>
        </p:spPr>
      </p:sp>
      <p:pic>
        <p:nvPicPr>
          <p:cNvPr id="21" name="Image 3" descr="icons/sms.png">    </p:cNvPr>
          <p:cNvPicPr>
            <a:picLocks noChangeAspect="1"/>
          </p:cNvPicPr>
          <p:nvPr/>
        </p:nvPicPr>
        <p:blipFill>
          <a:blip r:embed="rId4"/>
          <a:stretch>
            <a:fillRect/>
          </a:stretch>
        </p:blipFill>
        <p:spPr>
          <a:xfrm>
            <a:off x="896569" y="4371289"/>
            <a:ext cx="291694" cy="291694"/>
          </a:xfrm>
          <a:prstGeom prst="rect">
            <a:avLst/>
          </a:prstGeom>
        </p:spPr>
      </p:pic>
      <p:sp>
        <p:nvSpPr>
          <p:cNvPr id="22" name="Text 16"/>
          <p:cNvSpPr/>
          <p:nvPr/>
        </p:nvSpPr>
        <p:spPr>
          <a:xfrm>
            <a:off x="1463040" y="4270248"/>
            <a:ext cx="2514600" cy="502920"/>
          </a:xfrm>
          <a:prstGeom prst="rect">
            <a:avLst/>
          </a:prstGeom>
          <a:noFill/>
          <a:ln/>
        </p:spPr>
        <p:txBody>
          <a:bodyPr wrap="square" rtlCol="0" anchor="t"/>
          <a:lstStyle/>
          <a:p>
            <a:pPr indent="0" marL="0">
              <a:buNone/>
            </a:pPr>
            <a:r>
              <a:rPr lang="en-US" sz="1500" b="1" dirty="0">
                <a:solidFill>
                  <a:srgbClr val="1B2033"/>
                </a:solidFill>
                <a:latin typeface="Calibri" pitchFamily="34" charset="0"/>
                <a:ea typeface="Calibri" pitchFamily="34" charset="-122"/>
                <a:cs typeface="Calibri" pitchFamily="34" charset="-120"/>
              </a:rPr>
              <a:t>Smishing</a:t>
            </a:r>
            <a:endParaRPr lang="en-US" sz="1500" dirty="0"/>
          </a:p>
        </p:txBody>
      </p:sp>
      <p:sp>
        <p:nvSpPr>
          <p:cNvPr id="23" name="Text 17"/>
          <p:cNvSpPr/>
          <p:nvPr/>
        </p:nvSpPr>
        <p:spPr>
          <a:xfrm>
            <a:off x="777240" y="4919472"/>
            <a:ext cx="3154680" cy="914400"/>
          </a:xfrm>
          <a:prstGeom prst="rect">
            <a:avLst/>
          </a:prstGeom>
          <a:noFill/>
          <a:ln/>
        </p:spPr>
        <p:txBody>
          <a:bodyPr wrap="square" rtlCol="0" anchor="ctr"/>
          <a:lstStyle/>
          <a:p>
            <a:pPr indent="0" marL="0">
              <a:lnSpc>
                <a:spcPct val="122000"/>
              </a:lnSpc>
              <a:buNone/>
            </a:pPr>
            <a:r>
              <a:rPr lang="en-US" sz="1080" dirty="0">
                <a:solidFill>
                  <a:srgbClr val="5A6B8C"/>
                </a:solidFill>
                <a:latin typeface="Calibri" pitchFamily="34" charset="0"/>
                <a:ea typeface="Calibri" pitchFamily="34" charset="-122"/>
                <a:cs typeface="Calibri" pitchFamily="34" charset="-120"/>
              </a:rPr>
              <a:t>Phishing by text message, frequently spoofing delivery notices or bank alerts.</a:t>
            </a:r>
            <a:endParaRPr lang="en-US" sz="1080" dirty="0"/>
          </a:p>
        </p:txBody>
      </p:sp>
      <p:sp>
        <p:nvSpPr>
          <p:cNvPr id="24" name="Shape 18"/>
          <p:cNvSpPr/>
          <p:nvPr/>
        </p:nvSpPr>
        <p:spPr>
          <a:xfrm>
            <a:off x="4389120" y="4023360"/>
            <a:ext cx="3611880" cy="1920240"/>
          </a:xfrm>
          <a:prstGeom prst="roundRect">
            <a:avLst>
              <a:gd name="adj" fmla="val 3810"/>
            </a:avLst>
          </a:prstGeom>
          <a:solidFill>
            <a:srgbClr val="FFFFFF"/>
          </a:solidFill>
          <a:ln/>
          <a:effectLst>
            <a:outerShdw sx="100000" sy="100000" kx="0" ky="0" algn="bl" rotWithShape="0" blurRad="88900" dist="25400" dir="5400000">
              <a:srgbClr val="3B4A6B">
                <a:alpha val="16000"/>
              </a:srgbClr>
            </a:outerShdw>
          </a:effectLst>
        </p:spPr>
      </p:sp>
      <p:sp>
        <p:nvSpPr>
          <p:cNvPr id="25" name="Shape 19"/>
          <p:cNvSpPr/>
          <p:nvPr/>
        </p:nvSpPr>
        <p:spPr>
          <a:xfrm>
            <a:off x="4617720" y="4251960"/>
            <a:ext cx="530352" cy="530352"/>
          </a:xfrm>
          <a:prstGeom prst="ellipse">
            <a:avLst/>
          </a:prstGeom>
          <a:solidFill>
            <a:srgbClr val="1E2761"/>
          </a:solidFill>
          <a:ln/>
        </p:spPr>
      </p:sp>
      <p:pic>
        <p:nvPicPr>
          <p:cNvPr id="26" name="Image 4" descr="icons/phone.png">    </p:cNvPr>
          <p:cNvPicPr>
            <a:picLocks noChangeAspect="1"/>
          </p:cNvPicPr>
          <p:nvPr/>
        </p:nvPicPr>
        <p:blipFill>
          <a:blip r:embed="rId5"/>
          <a:stretch>
            <a:fillRect/>
          </a:stretch>
        </p:blipFill>
        <p:spPr>
          <a:xfrm>
            <a:off x="4737049" y="4371289"/>
            <a:ext cx="291694" cy="291694"/>
          </a:xfrm>
          <a:prstGeom prst="rect">
            <a:avLst/>
          </a:prstGeom>
        </p:spPr>
      </p:pic>
      <p:sp>
        <p:nvSpPr>
          <p:cNvPr id="27" name="Text 20"/>
          <p:cNvSpPr/>
          <p:nvPr/>
        </p:nvSpPr>
        <p:spPr>
          <a:xfrm>
            <a:off x="5303520" y="4270248"/>
            <a:ext cx="2514600" cy="502920"/>
          </a:xfrm>
          <a:prstGeom prst="rect">
            <a:avLst/>
          </a:prstGeom>
          <a:noFill/>
          <a:ln/>
        </p:spPr>
        <p:txBody>
          <a:bodyPr wrap="square" rtlCol="0" anchor="t"/>
          <a:lstStyle/>
          <a:p>
            <a:pPr indent="0" marL="0">
              <a:buNone/>
            </a:pPr>
            <a:r>
              <a:rPr lang="en-US" sz="1500" b="1" dirty="0">
                <a:solidFill>
                  <a:srgbClr val="1B2033"/>
                </a:solidFill>
                <a:latin typeface="Calibri" pitchFamily="34" charset="0"/>
                <a:ea typeface="Calibri" pitchFamily="34" charset="-122"/>
                <a:cs typeface="Calibri" pitchFamily="34" charset="-120"/>
              </a:rPr>
              <a:t>Vishing</a:t>
            </a:r>
            <a:endParaRPr lang="en-US" sz="1500" dirty="0"/>
          </a:p>
        </p:txBody>
      </p:sp>
      <p:sp>
        <p:nvSpPr>
          <p:cNvPr id="28" name="Text 21"/>
          <p:cNvSpPr/>
          <p:nvPr/>
        </p:nvSpPr>
        <p:spPr>
          <a:xfrm>
            <a:off x="4617720" y="4919472"/>
            <a:ext cx="3154680" cy="914400"/>
          </a:xfrm>
          <a:prstGeom prst="rect">
            <a:avLst/>
          </a:prstGeom>
          <a:noFill/>
          <a:ln/>
        </p:spPr>
        <p:txBody>
          <a:bodyPr wrap="square" rtlCol="0" anchor="ctr"/>
          <a:lstStyle/>
          <a:p>
            <a:pPr indent="0" marL="0">
              <a:lnSpc>
                <a:spcPct val="122000"/>
              </a:lnSpc>
              <a:buNone/>
            </a:pPr>
            <a:r>
              <a:rPr lang="en-US" sz="1080" dirty="0">
                <a:solidFill>
                  <a:srgbClr val="5A6B8C"/>
                </a:solidFill>
                <a:latin typeface="Calibri" pitchFamily="34" charset="0"/>
                <a:ea typeface="Calibri" pitchFamily="34" charset="-122"/>
                <a:cs typeface="Calibri" pitchFamily="34" charset="-120"/>
              </a:rPr>
              <a:t>Phone or voicemail scams, often impersonating IT, a bank, or a help desk.</a:t>
            </a:r>
            <a:endParaRPr lang="en-US" sz="1080" dirty="0"/>
          </a:p>
        </p:txBody>
      </p:sp>
      <p:sp>
        <p:nvSpPr>
          <p:cNvPr id="29" name="Shape 22"/>
          <p:cNvSpPr/>
          <p:nvPr/>
        </p:nvSpPr>
        <p:spPr>
          <a:xfrm>
            <a:off x="8229600" y="4023360"/>
            <a:ext cx="3611880" cy="1920240"/>
          </a:xfrm>
          <a:prstGeom prst="roundRect">
            <a:avLst>
              <a:gd name="adj" fmla="val 3810"/>
            </a:avLst>
          </a:prstGeom>
          <a:solidFill>
            <a:srgbClr val="FFFFFF"/>
          </a:solidFill>
          <a:ln/>
          <a:effectLst>
            <a:outerShdw sx="100000" sy="100000" kx="0" ky="0" algn="bl" rotWithShape="0" blurRad="88900" dist="25400" dir="5400000">
              <a:srgbClr val="3B4A6B">
                <a:alpha val="16000"/>
              </a:srgbClr>
            </a:outerShdw>
          </a:effectLst>
        </p:spPr>
      </p:sp>
      <p:sp>
        <p:nvSpPr>
          <p:cNvPr id="30" name="Shape 23"/>
          <p:cNvSpPr/>
          <p:nvPr/>
        </p:nvSpPr>
        <p:spPr>
          <a:xfrm>
            <a:off x="8458200" y="4251960"/>
            <a:ext cx="530352" cy="530352"/>
          </a:xfrm>
          <a:prstGeom prst="ellipse">
            <a:avLst/>
          </a:prstGeom>
          <a:solidFill>
            <a:srgbClr val="1E2761"/>
          </a:solidFill>
          <a:ln/>
        </p:spPr>
      </p:sp>
      <p:pic>
        <p:nvPicPr>
          <p:cNvPr id="31" name="Image 5" descr="icons/qrcode.png">    </p:cNvPr>
          <p:cNvPicPr>
            <a:picLocks noChangeAspect="1"/>
          </p:cNvPicPr>
          <p:nvPr/>
        </p:nvPicPr>
        <p:blipFill>
          <a:blip r:embed="rId6"/>
          <a:stretch>
            <a:fillRect/>
          </a:stretch>
        </p:blipFill>
        <p:spPr>
          <a:xfrm>
            <a:off x="8577529" y="4371289"/>
            <a:ext cx="291694" cy="291694"/>
          </a:xfrm>
          <a:prstGeom prst="rect">
            <a:avLst/>
          </a:prstGeom>
        </p:spPr>
      </p:pic>
      <p:sp>
        <p:nvSpPr>
          <p:cNvPr id="32" name="Text 24"/>
          <p:cNvSpPr/>
          <p:nvPr/>
        </p:nvSpPr>
        <p:spPr>
          <a:xfrm>
            <a:off x="9144000" y="4270248"/>
            <a:ext cx="2514600" cy="502920"/>
          </a:xfrm>
          <a:prstGeom prst="rect">
            <a:avLst/>
          </a:prstGeom>
          <a:noFill/>
          <a:ln/>
        </p:spPr>
        <p:txBody>
          <a:bodyPr wrap="square" rtlCol="0" anchor="t"/>
          <a:lstStyle/>
          <a:p>
            <a:pPr indent="0" marL="0">
              <a:buNone/>
            </a:pPr>
            <a:r>
              <a:rPr lang="en-US" sz="1500" b="1" dirty="0">
                <a:solidFill>
                  <a:srgbClr val="1B2033"/>
                </a:solidFill>
                <a:latin typeface="Calibri" pitchFamily="34" charset="0"/>
                <a:ea typeface="Calibri" pitchFamily="34" charset="-122"/>
                <a:cs typeface="Calibri" pitchFamily="34" charset="-120"/>
              </a:rPr>
              <a:t>Quishing</a:t>
            </a:r>
            <a:endParaRPr lang="en-US" sz="1500" dirty="0"/>
          </a:p>
        </p:txBody>
      </p:sp>
      <p:sp>
        <p:nvSpPr>
          <p:cNvPr id="33" name="Text 25"/>
          <p:cNvSpPr/>
          <p:nvPr/>
        </p:nvSpPr>
        <p:spPr>
          <a:xfrm>
            <a:off x="8458200" y="4919472"/>
            <a:ext cx="3154680" cy="914400"/>
          </a:xfrm>
          <a:prstGeom prst="rect">
            <a:avLst/>
          </a:prstGeom>
          <a:noFill/>
          <a:ln/>
        </p:spPr>
        <p:txBody>
          <a:bodyPr wrap="square" rtlCol="0" anchor="ctr"/>
          <a:lstStyle/>
          <a:p>
            <a:pPr indent="0" marL="0">
              <a:lnSpc>
                <a:spcPct val="122000"/>
              </a:lnSpc>
              <a:buNone/>
            </a:pPr>
            <a:r>
              <a:rPr lang="en-US" sz="1080" dirty="0">
                <a:solidFill>
                  <a:srgbClr val="5A6B8C"/>
                </a:solidFill>
                <a:latin typeface="Calibri" pitchFamily="34" charset="0"/>
                <a:ea typeface="Calibri" pitchFamily="34" charset="-122"/>
                <a:cs typeface="Calibri" pitchFamily="34" charset="-120"/>
              </a:rPr>
              <a:t>Malicious QR codes on posters, parking meters, or emails that lead to fake login pages.</a:t>
            </a:r>
            <a:endParaRPr lang="en-US" sz="1080" dirty="0"/>
          </a:p>
        </p:txBody>
      </p:sp>
      <p:sp>
        <p:nvSpPr>
          <p:cNvPr id="34" name="Text 2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READ BEFORE YOU CLICK</a:t>
            </a:r>
            <a:endParaRPr lang="en-US" sz="1250" dirty="0"/>
          </a:p>
        </p:txBody>
      </p:sp>
      <p:sp>
        <p:nvSpPr>
          <p:cNvPr id="3" name="Text 1"/>
          <p:cNvSpPr/>
          <p:nvPr/>
        </p:nvSpPr>
        <p:spPr>
          <a:xfrm>
            <a:off x="548640" y="749808"/>
            <a:ext cx="10515600" cy="822960"/>
          </a:xfrm>
          <a:prstGeom prst="rect">
            <a:avLst/>
          </a:prstGeom>
          <a:noFill/>
          <a:ln/>
        </p:spPr>
        <p:txBody>
          <a:bodyPr wrap="square" rtlCol="0" anchor="ctr"/>
          <a:lstStyle/>
          <a:p>
            <a:pPr indent="0" marL="0">
              <a:buNone/>
            </a:pPr>
            <a:r>
              <a:rPr lang="en-US" sz="3000" b="1" dirty="0">
                <a:solidFill>
                  <a:srgbClr val="1B2033"/>
                </a:solidFill>
                <a:latin typeface="Cambria" pitchFamily="34" charset="0"/>
                <a:ea typeface="Cambria" pitchFamily="34" charset="-122"/>
                <a:cs typeface="Cambria" pitchFamily="34" charset="-120"/>
              </a:rPr>
              <a:t>Anatomy of a phishing email</a:t>
            </a:r>
            <a:endParaRPr lang="en-US" sz="3000" dirty="0"/>
          </a:p>
        </p:txBody>
      </p:sp>
      <p:sp>
        <p:nvSpPr>
          <p:cNvPr id="4" name="Shape 2"/>
          <p:cNvSpPr/>
          <p:nvPr/>
        </p:nvSpPr>
        <p:spPr>
          <a:xfrm>
            <a:off x="548640" y="1874520"/>
            <a:ext cx="6492240" cy="4480560"/>
          </a:xfrm>
          <a:prstGeom prst="roundRect">
            <a:avLst>
              <a:gd name="adj" fmla="val 1429"/>
            </a:avLst>
          </a:prstGeom>
          <a:solidFill>
            <a:srgbClr val="FFFFFF"/>
          </a:solidFill>
          <a:ln w="12700">
            <a:solidFill>
              <a:srgbClr val="DDE3F0"/>
            </a:solidFill>
            <a:prstDash val="solid"/>
          </a:ln>
          <a:effectLst>
            <a:outerShdw sx="100000" sy="100000" kx="0" ky="0" algn="bl" rotWithShape="0" blurRad="101600" dist="38100" dir="5400000">
              <a:srgbClr val="3B4A6B">
                <a:alpha val="15000"/>
              </a:srgbClr>
            </a:outerShdw>
          </a:effectLst>
        </p:spPr>
      </p:sp>
      <p:sp>
        <p:nvSpPr>
          <p:cNvPr id="5" name="Shape 3"/>
          <p:cNvSpPr/>
          <p:nvPr/>
        </p:nvSpPr>
        <p:spPr>
          <a:xfrm>
            <a:off x="548640" y="1874520"/>
            <a:ext cx="6492240" cy="411480"/>
          </a:xfrm>
          <a:prstGeom prst="rect">
            <a:avLst/>
          </a:prstGeom>
          <a:solidFill>
            <a:srgbClr val="2B3350"/>
          </a:solidFill>
          <a:ln/>
        </p:spPr>
      </p:sp>
      <p:sp>
        <p:nvSpPr>
          <p:cNvPr id="6" name="Shape 4"/>
          <p:cNvSpPr/>
          <p:nvPr/>
        </p:nvSpPr>
        <p:spPr>
          <a:xfrm>
            <a:off x="731520" y="2020824"/>
            <a:ext cx="118872" cy="118872"/>
          </a:xfrm>
          <a:prstGeom prst="ellipse">
            <a:avLst/>
          </a:prstGeom>
          <a:solidFill>
            <a:srgbClr val="E63946"/>
          </a:solidFill>
          <a:ln/>
        </p:spPr>
      </p:sp>
      <p:sp>
        <p:nvSpPr>
          <p:cNvPr id="7" name="Shape 5"/>
          <p:cNvSpPr/>
          <p:nvPr/>
        </p:nvSpPr>
        <p:spPr>
          <a:xfrm>
            <a:off x="987552" y="2020824"/>
            <a:ext cx="118872" cy="118872"/>
          </a:xfrm>
          <a:prstGeom prst="ellipse">
            <a:avLst/>
          </a:prstGeom>
          <a:solidFill>
            <a:srgbClr val="F4A100"/>
          </a:solidFill>
          <a:ln/>
        </p:spPr>
      </p:sp>
      <p:sp>
        <p:nvSpPr>
          <p:cNvPr id="8" name="Shape 6"/>
          <p:cNvSpPr/>
          <p:nvPr/>
        </p:nvSpPr>
        <p:spPr>
          <a:xfrm>
            <a:off x="1243584" y="2020824"/>
            <a:ext cx="118872" cy="118872"/>
          </a:xfrm>
          <a:prstGeom prst="ellipse">
            <a:avLst/>
          </a:prstGeom>
          <a:solidFill>
            <a:srgbClr val="2A9D6F"/>
          </a:solidFill>
          <a:ln/>
        </p:spPr>
      </p:sp>
      <p:sp>
        <p:nvSpPr>
          <p:cNvPr id="9" name="Text 7"/>
          <p:cNvSpPr/>
          <p:nvPr/>
        </p:nvSpPr>
        <p:spPr>
          <a:xfrm>
            <a:off x="777240" y="2441448"/>
            <a:ext cx="914400" cy="274320"/>
          </a:xfrm>
          <a:prstGeom prst="rect">
            <a:avLst/>
          </a:prstGeom>
          <a:noFill/>
          <a:ln/>
        </p:spPr>
        <p:txBody>
          <a:bodyPr wrap="square" rtlCol="0" anchor="ctr"/>
          <a:lstStyle/>
          <a:p>
            <a:pPr indent="0" marL="0">
              <a:buNone/>
            </a:pPr>
            <a:r>
              <a:rPr lang="en-US" sz="1050" b="1" dirty="0">
                <a:solidFill>
                  <a:srgbClr val="5A6B8C"/>
                </a:solidFill>
                <a:latin typeface="Calibri" pitchFamily="34" charset="0"/>
                <a:ea typeface="Calibri" pitchFamily="34" charset="-122"/>
                <a:cs typeface="Calibri" pitchFamily="34" charset="-120"/>
              </a:rPr>
              <a:t>From:</a:t>
            </a:r>
            <a:endParaRPr lang="en-US" sz="1050" dirty="0"/>
          </a:p>
        </p:txBody>
      </p:sp>
      <p:sp>
        <p:nvSpPr>
          <p:cNvPr id="10" name="Text 8"/>
          <p:cNvSpPr/>
          <p:nvPr/>
        </p:nvSpPr>
        <p:spPr>
          <a:xfrm>
            <a:off x="1600200" y="2441448"/>
            <a:ext cx="5212080" cy="274320"/>
          </a:xfrm>
          <a:prstGeom prst="rect">
            <a:avLst/>
          </a:prstGeom>
          <a:noFill/>
          <a:ln/>
        </p:spPr>
        <p:txBody>
          <a:bodyPr wrap="square" rtlCol="0" anchor="ctr"/>
          <a:lstStyle/>
          <a:p>
            <a:pPr indent="0" marL="0">
              <a:buNone/>
            </a:pPr>
            <a:r>
              <a:rPr lang="en-US" sz="1050" dirty="0">
                <a:solidFill>
                  <a:srgbClr val="1B2033"/>
                </a:solidFill>
                <a:latin typeface="Calibri" pitchFamily="34" charset="0"/>
                <a:ea typeface="Calibri" pitchFamily="34" charset="-122"/>
                <a:cs typeface="Calibri" pitchFamily="34" charset="-120"/>
              </a:rPr>
              <a:t>IT Support &lt;it-helpdesk@secure-account-verify.com&gt;</a:t>
            </a:r>
            <a:endParaRPr lang="en-US" sz="1050" dirty="0"/>
          </a:p>
        </p:txBody>
      </p:sp>
      <p:sp>
        <p:nvSpPr>
          <p:cNvPr id="11" name="Text 9"/>
          <p:cNvSpPr/>
          <p:nvPr/>
        </p:nvSpPr>
        <p:spPr>
          <a:xfrm>
            <a:off x="777240" y="2743200"/>
            <a:ext cx="914400" cy="274320"/>
          </a:xfrm>
          <a:prstGeom prst="rect">
            <a:avLst/>
          </a:prstGeom>
          <a:noFill/>
          <a:ln/>
        </p:spPr>
        <p:txBody>
          <a:bodyPr wrap="square" rtlCol="0" anchor="ctr"/>
          <a:lstStyle/>
          <a:p>
            <a:pPr indent="0" marL="0">
              <a:buNone/>
            </a:pPr>
            <a:r>
              <a:rPr lang="en-US" sz="1050" b="1" dirty="0">
                <a:solidFill>
                  <a:srgbClr val="5A6B8C"/>
                </a:solidFill>
                <a:latin typeface="Calibri" pitchFamily="34" charset="0"/>
                <a:ea typeface="Calibri" pitchFamily="34" charset="-122"/>
                <a:cs typeface="Calibri" pitchFamily="34" charset="-120"/>
              </a:rPr>
              <a:t>Subject:</a:t>
            </a:r>
            <a:endParaRPr lang="en-US" sz="1050" dirty="0"/>
          </a:p>
        </p:txBody>
      </p:sp>
      <p:sp>
        <p:nvSpPr>
          <p:cNvPr id="12" name="Text 10"/>
          <p:cNvSpPr/>
          <p:nvPr/>
        </p:nvSpPr>
        <p:spPr>
          <a:xfrm>
            <a:off x="1600200" y="2743200"/>
            <a:ext cx="5212080" cy="274320"/>
          </a:xfrm>
          <a:prstGeom prst="rect">
            <a:avLst/>
          </a:prstGeom>
          <a:noFill/>
          <a:ln/>
        </p:spPr>
        <p:txBody>
          <a:bodyPr wrap="square" rtlCol="0" anchor="ctr"/>
          <a:lstStyle/>
          <a:p>
            <a:pPr indent="0" marL="0">
              <a:buNone/>
            </a:pPr>
            <a:r>
              <a:rPr lang="en-US" sz="1050" dirty="0">
                <a:solidFill>
                  <a:srgbClr val="1B2033"/>
                </a:solidFill>
                <a:latin typeface="Calibri" pitchFamily="34" charset="0"/>
                <a:ea typeface="Calibri" pitchFamily="34" charset="-122"/>
                <a:cs typeface="Calibri" pitchFamily="34" charset="-120"/>
              </a:rPr>
              <a:t>URGENT: Your mailbox will be suspended in 24 hours</a:t>
            </a:r>
            <a:endParaRPr lang="en-US" sz="1050" dirty="0"/>
          </a:p>
        </p:txBody>
      </p:sp>
      <p:sp>
        <p:nvSpPr>
          <p:cNvPr id="13" name="Shape 11"/>
          <p:cNvSpPr/>
          <p:nvPr/>
        </p:nvSpPr>
        <p:spPr>
          <a:xfrm>
            <a:off x="777240" y="3090672"/>
            <a:ext cx="6035040" cy="0"/>
          </a:xfrm>
          <a:prstGeom prst="line">
            <a:avLst/>
          </a:prstGeom>
          <a:noFill/>
          <a:ln w="12700">
            <a:solidFill>
              <a:srgbClr val="EAEEF7"/>
            </a:solidFill>
            <a:prstDash val="solid"/>
          </a:ln>
        </p:spPr>
      </p:sp>
      <p:sp>
        <p:nvSpPr>
          <p:cNvPr id="14" name="Text 12"/>
          <p:cNvSpPr/>
          <p:nvPr/>
        </p:nvSpPr>
        <p:spPr>
          <a:xfrm>
            <a:off x="777240" y="3227832"/>
            <a:ext cx="6035040" cy="2377440"/>
          </a:xfrm>
          <a:prstGeom prst="rect">
            <a:avLst/>
          </a:prstGeom>
          <a:noFill/>
          <a:ln/>
        </p:spPr>
        <p:txBody>
          <a:bodyPr wrap="square" rtlCol="0" anchor="ctr"/>
          <a:lstStyle/>
          <a:p>
            <a:pPr indent="0" marL="0">
              <a:lnSpc>
                <a:spcPct val="125000"/>
              </a:lnSpc>
              <a:buNone/>
            </a:pPr>
            <a:r>
              <a:rPr lang="en-US" sz="1080" dirty="0">
                <a:solidFill>
                  <a:srgbClr val="3A4157"/>
                </a:solidFill>
                <a:latin typeface="Calibri" pitchFamily="34" charset="0"/>
                <a:ea typeface="Calibri" pitchFamily="34" charset="-122"/>
                <a:cs typeface="Calibri" pitchFamily="34" charset="-120"/>
              </a:rPr>
              <a:t>Dear Valued User,</a:t>
            </a:r>
            <a:endParaRPr lang="en-US" sz="1080" dirty="0"/>
          </a:p>
          <a:p>
            <a:pPr indent="0" marL="0">
              <a:lnSpc>
                <a:spcPct val="125000"/>
              </a:lnSpc>
              <a:buNone/>
            </a:pPr>
            <a:r>
              <a:rPr lang="en-US" sz="1080" dirty="0">
                <a:solidFill>
                  <a:srgbClr val="3A4157"/>
                </a:solidFill>
                <a:latin typeface="Calibri" pitchFamily="34" charset="0"/>
                <a:ea typeface="Calibri" pitchFamily="34" charset="-122"/>
                <a:cs typeface="Calibri" pitchFamily="34" charset="-120"/>
              </a:rPr>
              <a:t>We detected unusual sign-in activity on your account. To avoid permanent suspension, you must verify your identity immediately by clicking the secure link below.</a:t>
            </a:r>
            <a:endParaRPr lang="en-US" sz="1080" dirty="0"/>
          </a:p>
          <a:p>
            <a:pPr indent="0" marL="0">
              <a:lnSpc>
                <a:spcPct val="125000"/>
              </a:lnSpc>
              <a:buNone/>
            </a:pPr>
            <a:endParaRPr lang="en-US" sz="1080" dirty="0"/>
          </a:p>
          <a:p>
            <a:pPr indent="0" marL="0">
              <a:lnSpc>
                <a:spcPct val="125000"/>
              </a:lnSpc>
              <a:buNone/>
            </a:pPr>
            <a:r>
              <a:rPr lang="en-US" sz="1080" dirty="0">
                <a:solidFill>
                  <a:srgbClr val="3A4157"/>
                </a:solidFill>
                <a:latin typeface="Calibri" pitchFamily="34" charset="0"/>
                <a:ea typeface="Calibri" pitchFamily="34" charset="-122"/>
                <a:cs typeface="Calibri" pitchFamily="34" charset="-120"/>
              </a:rPr>
              <a:t>[ Verify My Account Now ]</a:t>
            </a:r>
            <a:endParaRPr lang="en-US" sz="1080" dirty="0"/>
          </a:p>
          <a:p>
            <a:pPr indent="0" marL="0">
              <a:lnSpc>
                <a:spcPct val="125000"/>
              </a:lnSpc>
              <a:buNone/>
            </a:pPr>
            <a:endParaRPr lang="en-US" sz="1080" dirty="0"/>
          </a:p>
          <a:p>
            <a:pPr indent="0" marL="0">
              <a:lnSpc>
                <a:spcPct val="125000"/>
              </a:lnSpc>
              <a:buNone/>
            </a:pPr>
            <a:r>
              <a:rPr lang="en-US" sz="1080" dirty="0">
                <a:solidFill>
                  <a:srgbClr val="3A4157"/>
                </a:solidFill>
                <a:latin typeface="Calibri" pitchFamily="34" charset="0"/>
                <a:ea typeface="Calibri" pitchFamily="34" charset="-122"/>
                <a:cs typeface="Calibri" pitchFamily="34" charset="-120"/>
              </a:rPr>
              <a:t>Failure to respond within 24 hours will result in permanent loss of access. This is an automated message, please do not reply.</a:t>
            </a:r>
            <a:endParaRPr lang="en-US" sz="1080" dirty="0"/>
          </a:p>
          <a:p>
            <a:pPr indent="0" marL="0">
              <a:lnSpc>
                <a:spcPct val="125000"/>
              </a:lnSpc>
              <a:buNone/>
            </a:pPr>
            <a:endParaRPr lang="en-US" sz="1080" dirty="0"/>
          </a:p>
          <a:p>
            <a:pPr indent="0" marL="0">
              <a:lnSpc>
                <a:spcPct val="125000"/>
              </a:lnSpc>
              <a:buNone/>
            </a:pPr>
            <a:r>
              <a:rPr lang="en-US" sz="1080" dirty="0">
                <a:solidFill>
                  <a:srgbClr val="3A4157"/>
                </a:solidFill>
                <a:latin typeface="Calibri" pitchFamily="34" charset="0"/>
                <a:ea typeface="Calibri" pitchFamily="34" charset="-122"/>
                <a:cs typeface="Calibri" pitchFamily="34" charset="-120"/>
              </a:rPr>
              <a:t>IT Help Desk Team</a:t>
            </a:r>
            <a:endParaRPr lang="en-US" sz="1080" dirty="0"/>
          </a:p>
        </p:txBody>
      </p:sp>
      <p:sp>
        <p:nvSpPr>
          <p:cNvPr id="15" name="Shape 13"/>
          <p:cNvSpPr/>
          <p:nvPr/>
        </p:nvSpPr>
        <p:spPr>
          <a:xfrm>
            <a:off x="7360920" y="1828800"/>
            <a:ext cx="457200" cy="457200"/>
          </a:xfrm>
          <a:prstGeom prst="ellipse">
            <a:avLst/>
          </a:prstGeom>
          <a:solidFill>
            <a:srgbClr val="E63946"/>
          </a:solidFill>
          <a:ln/>
        </p:spPr>
      </p:sp>
      <p:pic>
        <p:nvPicPr>
          <p:cNvPr id="16" name="Image 0" descr="icons/warning.png">    </p:cNvPr>
          <p:cNvPicPr>
            <a:picLocks noChangeAspect="1"/>
          </p:cNvPicPr>
          <p:nvPr/>
        </p:nvPicPr>
        <p:blipFill>
          <a:blip r:embed="rId1"/>
          <a:stretch>
            <a:fillRect/>
          </a:stretch>
        </p:blipFill>
        <p:spPr>
          <a:xfrm>
            <a:off x="7463790" y="1931670"/>
            <a:ext cx="251460" cy="251460"/>
          </a:xfrm>
          <a:prstGeom prst="rect">
            <a:avLst/>
          </a:prstGeom>
        </p:spPr>
      </p:pic>
      <p:sp>
        <p:nvSpPr>
          <p:cNvPr id="17" name="Text 14"/>
          <p:cNvSpPr/>
          <p:nvPr/>
        </p:nvSpPr>
        <p:spPr>
          <a:xfrm>
            <a:off x="7955280" y="1801368"/>
            <a:ext cx="3749040" cy="320040"/>
          </a:xfrm>
          <a:prstGeom prst="rect">
            <a:avLst/>
          </a:prstGeom>
          <a:noFill/>
          <a:ln/>
        </p:spPr>
        <p:txBody>
          <a:bodyPr wrap="square" rtlCol="0" anchor="ctr"/>
          <a:lstStyle/>
          <a:p>
            <a:pPr indent="0" marL="0">
              <a:buNone/>
            </a:pPr>
            <a:r>
              <a:rPr lang="en-US" sz="1300" b="1" dirty="0">
                <a:solidFill>
                  <a:srgbClr val="1B2033"/>
                </a:solidFill>
                <a:latin typeface="Calibri" pitchFamily="34" charset="0"/>
                <a:ea typeface="Calibri" pitchFamily="34" charset="-122"/>
                <a:cs typeface="Calibri" pitchFamily="34" charset="-120"/>
              </a:rPr>
              <a:t>Look-alike domain</a:t>
            </a:r>
            <a:endParaRPr lang="en-US" sz="1300" dirty="0"/>
          </a:p>
        </p:txBody>
      </p:sp>
      <p:sp>
        <p:nvSpPr>
          <p:cNvPr id="18" name="Text 15"/>
          <p:cNvSpPr/>
          <p:nvPr/>
        </p:nvSpPr>
        <p:spPr>
          <a:xfrm>
            <a:off x="7955280" y="2130552"/>
            <a:ext cx="3749040" cy="685800"/>
          </a:xfrm>
          <a:prstGeom prst="rect">
            <a:avLst/>
          </a:prstGeom>
          <a:noFill/>
          <a:ln/>
        </p:spPr>
        <p:txBody>
          <a:bodyPr wrap="square" rtlCol="0" anchor="ctr"/>
          <a:lstStyle/>
          <a:p>
            <a:pPr indent="0" marL="0">
              <a:lnSpc>
                <a:spcPct val="120000"/>
              </a:lnSpc>
              <a:buNone/>
            </a:pPr>
            <a:r>
              <a:rPr lang="en-US" sz="1050" dirty="0">
                <a:solidFill>
                  <a:srgbClr val="5A6B8C"/>
                </a:solidFill>
                <a:latin typeface="Calibri" pitchFamily="34" charset="0"/>
                <a:ea typeface="Calibri" pitchFamily="34" charset="-122"/>
                <a:cs typeface="Calibri" pitchFamily="34" charset="-120"/>
              </a:rPr>
              <a:t>Not your real IT domain — "secure-account-verify.com" mimics legitimacy but isn’t your company’s.</a:t>
            </a:r>
            <a:endParaRPr lang="en-US" sz="1050" dirty="0"/>
          </a:p>
        </p:txBody>
      </p:sp>
      <p:sp>
        <p:nvSpPr>
          <p:cNvPr id="19" name="Shape 16"/>
          <p:cNvSpPr/>
          <p:nvPr/>
        </p:nvSpPr>
        <p:spPr>
          <a:xfrm>
            <a:off x="7360920" y="2880360"/>
            <a:ext cx="457200" cy="457200"/>
          </a:xfrm>
          <a:prstGeom prst="ellipse">
            <a:avLst/>
          </a:prstGeom>
          <a:solidFill>
            <a:srgbClr val="E63946"/>
          </a:solidFill>
          <a:ln/>
        </p:spPr>
      </p:sp>
      <p:pic>
        <p:nvPicPr>
          <p:cNvPr id="20" name="Image 1" descr="icons/warning.png">    </p:cNvPr>
          <p:cNvPicPr>
            <a:picLocks noChangeAspect="1"/>
          </p:cNvPicPr>
          <p:nvPr/>
        </p:nvPicPr>
        <p:blipFill>
          <a:blip r:embed="rId2"/>
          <a:stretch>
            <a:fillRect/>
          </a:stretch>
        </p:blipFill>
        <p:spPr>
          <a:xfrm>
            <a:off x="7463790" y="2983230"/>
            <a:ext cx="251460" cy="251460"/>
          </a:xfrm>
          <a:prstGeom prst="rect">
            <a:avLst/>
          </a:prstGeom>
        </p:spPr>
      </p:pic>
      <p:sp>
        <p:nvSpPr>
          <p:cNvPr id="21" name="Text 17"/>
          <p:cNvSpPr/>
          <p:nvPr/>
        </p:nvSpPr>
        <p:spPr>
          <a:xfrm>
            <a:off x="7955280" y="2852928"/>
            <a:ext cx="3749040" cy="320040"/>
          </a:xfrm>
          <a:prstGeom prst="rect">
            <a:avLst/>
          </a:prstGeom>
          <a:noFill/>
          <a:ln/>
        </p:spPr>
        <p:txBody>
          <a:bodyPr wrap="square" rtlCol="0" anchor="ctr"/>
          <a:lstStyle/>
          <a:p>
            <a:pPr indent="0" marL="0">
              <a:buNone/>
            </a:pPr>
            <a:r>
              <a:rPr lang="en-US" sz="1300" b="1" dirty="0">
                <a:solidFill>
                  <a:srgbClr val="1B2033"/>
                </a:solidFill>
                <a:latin typeface="Calibri" pitchFamily="34" charset="0"/>
                <a:ea typeface="Calibri" pitchFamily="34" charset="-122"/>
                <a:cs typeface="Calibri" pitchFamily="34" charset="-120"/>
              </a:rPr>
              <a:t>Manufactured urgency</a:t>
            </a:r>
            <a:endParaRPr lang="en-US" sz="1300" dirty="0"/>
          </a:p>
        </p:txBody>
      </p:sp>
      <p:sp>
        <p:nvSpPr>
          <p:cNvPr id="22" name="Text 18"/>
          <p:cNvSpPr/>
          <p:nvPr/>
        </p:nvSpPr>
        <p:spPr>
          <a:xfrm>
            <a:off x="7955280" y="3182112"/>
            <a:ext cx="3749040" cy="685800"/>
          </a:xfrm>
          <a:prstGeom prst="rect">
            <a:avLst/>
          </a:prstGeom>
          <a:noFill/>
          <a:ln/>
        </p:spPr>
        <p:txBody>
          <a:bodyPr wrap="square" rtlCol="0" anchor="ctr"/>
          <a:lstStyle/>
          <a:p>
            <a:pPr indent="0" marL="0">
              <a:lnSpc>
                <a:spcPct val="120000"/>
              </a:lnSpc>
              <a:buNone/>
            </a:pPr>
            <a:r>
              <a:rPr lang="en-US" sz="1050" dirty="0">
                <a:solidFill>
                  <a:srgbClr val="5A6B8C"/>
                </a:solidFill>
                <a:latin typeface="Calibri" pitchFamily="34" charset="0"/>
                <a:ea typeface="Calibri" pitchFamily="34" charset="-122"/>
                <a:cs typeface="Calibri" pitchFamily="34" charset="-120"/>
              </a:rPr>
              <a:t>A ticking clock is designed to make you act before you think.</a:t>
            </a:r>
            <a:endParaRPr lang="en-US" sz="1050" dirty="0"/>
          </a:p>
        </p:txBody>
      </p:sp>
      <p:sp>
        <p:nvSpPr>
          <p:cNvPr id="23" name="Shape 19"/>
          <p:cNvSpPr/>
          <p:nvPr/>
        </p:nvSpPr>
        <p:spPr>
          <a:xfrm>
            <a:off x="7360920" y="3931920"/>
            <a:ext cx="457200" cy="457200"/>
          </a:xfrm>
          <a:prstGeom prst="ellipse">
            <a:avLst/>
          </a:prstGeom>
          <a:solidFill>
            <a:srgbClr val="E63946"/>
          </a:solidFill>
          <a:ln/>
        </p:spPr>
      </p:sp>
      <p:pic>
        <p:nvPicPr>
          <p:cNvPr id="24" name="Image 2" descr="icons/warning.png">    </p:cNvPr>
          <p:cNvPicPr>
            <a:picLocks noChangeAspect="1"/>
          </p:cNvPicPr>
          <p:nvPr/>
        </p:nvPicPr>
        <p:blipFill>
          <a:blip r:embed="rId3"/>
          <a:stretch>
            <a:fillRect/>
          </a:stretch>
        </p:blipFill>
        <p:spPr>
          <a:xfrm>
            <a:off x="7463790" y="4034790"/>
            <a:ext cx="251460" cy="251460"/>
          </a:xfrm>
          <a:prstGeom prst="rect">
            <a:avLst/>
          </a:prstGeom>
        </p:spPr>
      </p:pic>
      <p:sp>
        <p:nvSpPr>
          <p:cNvPr id="25" name="Text 20"/>
          <p:cNvSpPr/>
          <p:nvPr/>
        </p:nvSpPr>
        <p:spPr>
          <a:xfrm>
            <a:off x="7955280" y="3904488"/>
            <a:ext cx="3749040" cy="320040"/>
          </a:xfrm>
          <a:prstGeom prst="rect">
            <a:avLst/>
          </a:prstGeom>
          <a:noFill/>
          <a:ln/>
        </p:spPr>
        <p:txBody>
          <a:bodyPr wrap="square" rtlCol="0" anchor="ctr"/>
          <a:lstStyle/>
          <a:p>
            <a:pPr indent="0" marL="0">
              <a:buNone/>
            </a:pPr>
            <a:r>
              <a:rPr lang="en-US" sz="1300" b="1" dirty="0">
                <a:solidFill>
                  <a:srgbClr val="1B2033"/>
                </a:solidFill>
                <a:latin typeface="Calibri" pitchFamily="34" charset="0"/>
                <a:ea typeface="Calibri" pitchFamily="34" charset="-122"/>
                <a:cs typeface="Calibri" pitchFamily="34" charset="-120"/>
              </a:rPr>
              <a:t>Generic greeting</a:t>
            </a:r>
            <a:endParaRPr lang="en-US" sz="1300" dirty="0"/>
          </a:p>
        </p:txBody>
      </p:sp>
      <p:sp>
        <p:nvSpPr>
          <p:cNvPr id="26" name="Text 21"/>
          <p:cNvSpPr/>
          <p:nvPr/>
        </p:nvSpPr>
        <p:spPr>
          <a:xfrm>
            <a:off x="7955280" y="4233672"/>
            <a:ext cx="3749040" cy="685800"/>
          </a:xfrm>
          <a:prstGeom prst="rect">
            <a:avLst/>
          </a:prstGeom>
          <a:noFill/>
          <a:ln/>
        </p:spPr>
        <p:txBody>
          <a:bodyPr wrap="square" rtlCol="0" anchor="ctr"/>
          <a:lstStyle/>
          <a:p>
            <a:pPr indent="0" marL="0">
              <a:lnSpc>
                <a:spcPct val="120000"/>
              </a:lnSpc>
              <a:buNone/>
            </a:pPr>
            <a:r>
              <a:rPr lang="en-US" sz="1050" dirty="0">
                <a:solidFill>
                  <a:srgbClr val="5A6B8C"/>
                </a:solidFill>
                <a:latin typeface="Calibri" pitchFamily="34" charset="0"/>
                <a:ea typeface="Calibri" pitchFamily="34" charset="-122"/>
                <a:cs typeface="Calibri" pitchFamily="34" charset="-120"/>
              </a:rPr>
              <a:t>Legitimate IT teams addressing your account usually know your name.</a:t>
            </a:r>
            <a:endParaRPr lang="en-US" sz="1050" dirty="0"/>
          </a:p>
        </p:txBody>
      </p:sp>
      <p:sp>
        <p:nvSpPr>
          <p:cNvPr id="27" name="Shape 22"/>
          <p:cNvSpPr/>
          <p:nvPr/>
        </p:nvSpPr>
        <p:spPr>
          <a:xfrm>
            <a:off x="7360920" y="4983480"/>
            <a:ext cx="457200" cy="457200"/>
          </a:xfrm>
          <a:prstGeom prst="ellipse">
            <a:avLst/>
          </a:prstGeom>
          <a:solidFill>
            <a:srgbClr val="E63946"/>
          </a:solidFill>
          <a:ln/>
        </p:spPr>
      </p:sp>
      <p:pic>
        <p:nvPicPr>
          <p:cNvPr id="28" name="Image 3" descr="icons/warning.png">    </p:cNvPr>
          <p:cNvPicPr>
            <a:picLocks noChangeAspect="1"/>
          </p:cNvPicPr>
          <p:nvPr/>
        </p:nvPicPr>
        <p:blipFill>
          <a:blip r:embed="rId4"/>
          <a:stretch>
            <a:fillRect/>
          </a:stretch>
        </p:blipFill>
        <p:spPr>
          <a:xfrm>
            <a:off x="7463790" y="5086350"/>
            <a:ext cx="251460" cy="251460"/>
          </a:xfrm>
          <a:prstGeom prst="rect">
            <a:avLst/>
          </a:prstGeom>
        </p:spPr>
      </p:pic>
      <p:sp>
        <p:nvSpPr>
          <p:cNvPr id="29" name="Text 23"/>
          <p:cNvSpPr/>
          <p:nvPr/>
        </p:nvSpPr>
        <p:spPr>
          <a:xfrm>
            <a:off x="7955280" y="4956048"/>
            <a:ext cx="3749040" cy="320040"/>
          </a:xfrm>
          <a:prstGeom prst="rect">
            <a:avLst/>
          </a:prstGeom>
          <a:noFill/>
          <a:ln/>
        </p:spPr>
        <p:txBody>
          <a:bodyPr wrap="square" rtlCol="0" anchor="ctr"/>
          <a:lstStyle/>
          <a:p>
            <a:pPr indent="0" marL="0">
              <a:buNone/>
            </a:pPr>
            <a:r>
              <a:rPr lang="en-US" sz="1300" b="1" dirty="0">
                <a:solidFill>
                  <a:srgbClr val="1B2033"/>
                </a:solidFill>
                <a:latin typeface="Calibri" pitchFamily="34" charset="0"/>
                <a:ea typeface="Calibri" pitchFamily="34" charset="-122"/>
                <a:cs typeface="Calibri" pitchFamily="34" charset="-120"/>
              </a:rPr>
              <a:t>Vague, unverifiable threat</a:t>
            </a:r>
            <a:endParaRPr lang="en-US" sz="1300" dirty="0"/>
          </a:p>
        </p:txBody>
      </p:sp>
      <p:sp>
        <p:nvSpPr>
          <p:cNvPr id="30" name="Text 24"/>
          <p:cNvSpPr/>
          <p:nvPr/>
        </p:nvSpPr>
        <p:spPr>
          <a:xfrm>
            <a:off x="7955280" y="5285232"/>
            <a:ext cx="3749040" cy="685800"/>
          </a:xfrm>
          <a:prstGeom prst="rect">
            <a:avLst/>
          </a:prstGeom>
          <a:noFill/>
          <a:ln/>
        </p:spPr>
        <p:txBody>
          <a:bodyPr wrap="square" rtlCol="0" anchor="ctr"/>
          <a:lstStyle/>
          <a:p>
            <a:pPr indent="0" marL="0">
              <a:lnSpc>
                <a:spcPct val="120000"/>
              </a:lnSpc>
              <a:buNone/>
            </a:pPr>
            <a:r>
              <a:rPr lang="en-US" sz="1050" dirty="0">
                <a:solidFill>
                  <a:srgbClr val="5A6B8C"/>
                </a:solidFill>
                <a:latin typeface="Calibri" pitchFamily="34" charset="0"/>
                <a:ea typeface="Calibri" pitchFamily="34" charset="-122"/>
                <a:cs typeface="Calibri" pitchFamily="34" charset="-120"/>
              </a:rPr>
              <a:t>No ticket number, no specific account detail — just a scary consequence.</a:t>
            </a:r>
            <a:endParaRPr lang="en-US" sz="1050" dirty="0"/>
          </a:p>
        </p:txBody>
      </p:sp>
      <p:sp>
        <p:nvSpPr>
          <p:cNvPr id="31" name="Text 25"/>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BEFORE YOU TYPE A PASSWORD</a:t>
            </a:r>
            <a:endParaRPr lang="en-US" sz="1250" dirty="0"/>
          </a:p>
        </p:txBody>
      </p:sp>
      <p:sp>
        <p:nvSpPr>
          <p:cNvPr id="3" name="Text 1"/>
          <p:cNvSpPr/>
          <p:nvPr/>
        </p:nvSpPr>
        <p:spPr>
          <a:xfrm>
            <a:off x="548640" y="749808"/>
            <a:ext cx="10515600" cy="822960"/>
          </a:xfrm>
          <a:prstGeom prst="rect">
            <a:avLst/>
          </a:prstGeom>
          <a:noFill/>
          <a:ln/>
        </p:spPr>
        <p:txBody>
          <a:bodyPr wrap="square" rtlCol="0" anchor="ctr"/>
          <a:lstStyle/>
          <a:p>
            <a:pPr indent="0" marL="0">
              <a:buNone/>
            </a:pPr>
            <a:r>
              <a:rPr lang="en-US" sz="3000" b="1" dirty="0">
                <a:solidFill>
                  <a:srgbClr val="1B2033"/>
                </a:solidFill>
                <a:latin typeface="Cambria" pitchFamily="34" charset="0"/>
                <a:ea typeface="Cambria" pitchFamily="34" charset="-122"/>
                <a:cs typeface="Cambria" pitchFamily="34" charset="-120"/>
              </a:rPr>
              <a:t>Spotting a fake website</a:t>
            </a:r>
            <a:endParaRPr lang="en-US" sz="3000" dirty="0"/>
          </a:p>
        </p:txBody>
      </p:sp>
      <p:sp>
        <p:nvSpPr>
          <p:cNvPr id="4" name="Shape 2"/>
          <p:cNvSpPr/>
          <p:nvPr/>
        </p:nvSpPr>
        <p:spPr>
          <a:xfrm>
            <a:off x="548640" y="1920240"/>
            <a:ext cx="6035040" cy="594360"/>
          </a:xfrm>
          <a:prstGeom prst="roundRect">
            <a:avLst>
              <a:gd name="adj" fmla="val 53846"/>
            </a:avLst>
          </a:prstGeom>
          <a:solidFill>
            <a:srgbClr val="FFFFFF"/>
          </a:solidFill>
          <a:ln w="19050">
            <a:solidFill>
              <a:srgbClr val="D8DEEC"/>
            </a:solidFill>
            <a:prstDash val="solid"/>
          </a:ln>
        </p:spPr>
      </p:sp>
      <p:sp>
        <p:nvSpPr>
          <p:cNvPr id="5" name="Shape 3"/>
          <p:cNvSpPr/>
          <p:nvPr/>
        </p:nvSpPr>
        <p:spPr>
          <a:xfrm>
            <a:off x="658368" y="2011680"/>
            <a:ext cx="411480" cy="411480"/>
          </a:xfrm>
          <a:prstGeom prst="ellipse">
            <a:avLst/>
          </a:prstGeom>
          <a:solidFill>
            <a:srgbClr val="E63946"/>
          </a:solidFill>
          <a:ln/>
        </p:spPr>
      </p:sp>
      <p:pic>
        <p:nvPicPr>
          <p:cNvPr id="6" name="Image 0" descr="icons/link.png">    </p:cNvPr>
          <p:cNvPicPr>
            <a:picLocks noChangeAspect="1"/>
          </p:cNvPicPr>
          <p:nvPr/>
        </p:nvPicPr>
        <p:blipFill>
          <a:blip r:embed="rId1"/>
          <a:stretch>
            <a:fillRect/>
          </a:stretch>
        </p:blipFill>
        <p:spPr>
          <a:xfrm>
            <a:off x="750951" y="2104263"/>
            <a:ext cx="226314" cy="226314"/>
          </a:xfrm>
          <a:prstGeom prst="rect">
            <a:avLst/>
          </a:prstGeom>
        </p:spPr>
      </p:pic>
      <p:sp>
        <p:nvSpPr>
          <p:cNvPr id="7" name="Text 4"/>
          <p:cNvSpPr/>
          <p:nvPr/>
        </p:nvSpPr>
        <p:spPr>
          <a:xfrm>
            <a:off x="1188720" y="1920240"/>
            <a:ext cx="5212080" cy="594360"/>
          </a:xfrm>
          <a:prstGeom prst="rect">
            <a:avLst/>
          </a:prstGeom>
          <a:noFill/>
          <a:ln/>
        </p:spPr>
        <p:txBody>
          <a:bodyPr wrap="square" rtlCol="0" anchor="ctr"/>
          <a:lstStyle/>
          <a:p>
            <a:pPr indent="0" marL="0">
              <a:buNone/>
            </a:pPr>
            <a:r>
              <a:rPr lang="en-US" sz="1500" dirty="0">
                <a:solidFill>
                  <a:srgbClr val="1B2033"/>
                </a:solidFill>
                <a:latin typeface="Courier New" pitchFamily="34" charset="0"/>
                <a:ea typeface="Courier New" pitchFamily="34" charset="-122"/>
                <a:cs typeface="Courier New" pitchFamily="34" charset="-120"/>
              </a:rPr>
              <a:t>http://paypa1-secure-login.info/verify</a:t>
            </a:r>
            <a:endParaRPr lang="en-US" sz="1500" dirty="0"/>
          </a:p>
        </p:txBody>
      </p:sp>
      <p:sp>
        <p:nvSpPr>
          <p:cNvPr id="8" name="Shape 5"/>
          <p:cNvSpPr/>
          <p:nvPr/>
        </p:nvSpPr>
        <p:spPr>
          <a:xfrm>
            <a:off x="594360" y="2843784"/>
            <a:ext cx="91440" cy="91440"/>
          </a:xfrm>
          <a:prstGeom prst="ellipse">
            <a:avLst/>
          </a:prstGeom>
          <a:solidFill>
            <a:srgbClr val="E63946"/>
          </a:solidFill>
          <a:ln/>
        </p:spPr>
      </p:sp>
      <p:sp>
        <p:nvSpPr>
          <p:cNvPr id="9" name="Text 6"/>
          <p:cNvSpPr/>
          <p:nvPr/>
        </p:nvSpPr>
        <p:spPr>
          <a:xfrm>
            <a:off x="868680" y="2734056"/>
            <a:ext cx="5760720" cy="502920"/>
          </a:xfrm>
          <a:prstGeom prst="rect">
            <a:avLst/>
          </a:prstGeom>
          <a:noFill/>
          <a:ln/>
        </p:spPr>
        <p:txBody>
          <a:bodyPr wrap="square" rtlCol="0" anchor="ctr"/>
          <a:lstStyle/>
          <a:p>
            <a:pPr indent="0" marL="0">
              <a:lnSpc>
                <a:spcPct val="120000"/>
              </a:lnSpc>
              <a:buNone/>
            </a:pPr>
            <a:r>
              <a:rPr lang="en-US" sz="1200" dirty="0">
                <a:solidFill>
                  <a:srgbClr val="3A4157"/>
                </a:solidFill>
                <a:latin typeface="Calibri" pitchFamily="34" charset="0"/>
                <a:ea typeface="Calibri" pitchFamily="34" charset="-122"/>
                <a:cs typeface="Calibri" pitchFamily="34" charset="-120"/>
              </a:rPr>
              <a:t>No padlock / "http" instead of "https" — the connection isn’t encrypted.</a:t>
            </a:r>
            <a:endParaRPr lang="en-US" sz="1200" dirty="0"/>
          </a:p>
        </p:txBody>
      </p:sp>
      <p:sp>
        <p:nvSpPr>
          <p:cNvPr id="10" name="Shape 7"/>
          <p:cNvSpPr/>
          <p:nvPr/>
        </p:nvSpPr>
        <p:spPr>
          <a:xfrm>
            <a:off x="594360" y="3410712"/>
            <a:ext cx="91440" cy="91440"/>
          </a:xfrm>
          <a:prstGeom prst="ellipse">
            <a:avLst/>
          </a:prstGeom>
          <a:solidFill>
            <a:srgbClr val="E63946"/>
          </a:solidFill>
          <a:ln/>
        </p:spPr>
      </p:sp>
      <p:sp>
        <p:nvSpPr>
          <p:cNvPr id="11" name="Text 8"/>
          <p:cNvSpPr/>
          <p:nvPr/>
        </p:nvSpPr>
        <p:spPr>
          <a:xfrm>
            <a:off x="868680" y="3300984"/>
            <a:ext cx="5760720" cy="502920"/>
          </a:xfrm>
          <a:prstGeom prst="rect">
            <a:avLst/>
          </a:prstGeom>
          <a:noFill/>
          <a:ln/>
        </p:spPr>
        <p:txBody>
          <a:bodyPr wrap="square" rtlCol="0" anchor="ctr"/>
          <a:lstStyle/>
          <a:p>
            <a:pPr indent="0" marL="0">
              <a:lnSpc>
                <a:spcPct val="120000"/>
              </a:lnSpc>
              <a:buNone/>
            </a:pPr>
            <a:r>
              <a:rPr lang="en-US" sz="1200" dirty="0">
                <a:solidFill>
                  <a:srgbClr val="3A4157"/>
                </a:solidFill>
                <a:latin typeface="Calibri" pitchFamily="34" charset="0"/>
                <a:ea typeface="Calibri" pitchFamily="34" charset="-122"/>
                <a:cs typeface="Calibri" pitchFamily="34" charset="-120"/>
              </a:rPr>
              <a:t>Misspelled brand name ("paypa1" with a numeral 1 instead of an "l").</a:t>
            </a:r>
            <a:endParaRPr lang="en-US" sz="1200" dirty="0"/>
          </a:p>
        </p:txBody>
      </p:sp>
      <p:sp>
        <p:nvSpPr>
          <p:cNvPr id="12" name="Shape 9"/>
          <p:cNvSpPr/>
          <p:nvPr/>
        </p:nvSpPr>
        <p:spPr>
          <a:xfrm>
            <a:off x="594360" y="3977640"/>
            <a:ext cx="91440" cy="91440"/>
          </a:xfrm>
          <a:prstGeom prst="ellipse">
            <a:avLst/>
          </a:prstGeom>
          <a:solidFill>
            <a:srgbClr val="E63946"/>
          </a:solidFill>
          <a:ln/>
        </p:spPr>
      </p:sp>
      <p:sp>
        <p:nvSpPr>
          <p:cNvPr id="13" name="Text 10"/>
          <p:cNvSpPr/>
          <p:nvPr/>
        </p:nvSpPr>
        <p:spPr>
          <a:xfrm>
            <a:off x="868680" y="3867912"/>
            <a:ext cx="5760720" cy="502920"/>
          </a:xfrm>
          <a:prstGeom prst="rect">
            <a:avLst/>
          </a:prstGeom>
          <a:noFill/>
          <a:ln/>
        </p:spPr>
        <p:txBody>
          <a:bodyPr wrap="square" rtlCol="0" anchor="ctr"/>
          <a:lstStyle/>
          <a:p>
            <a:pPr indent="0" marL="0">
              <a:lnSpc>
                <a:spcPct val="120000"/>
              </a:lnSpc>
              <a:buNone/>
            </a:pPr>
            <a:r>
              <a:rPr lang="en-US" sz="1200" dirty="0">
                <a:solidFill>
                  <a:srgbClr val="3A4157"/>
                </a:solidFill>
                <a:latin typeface="Calibri" pitchFamily="34" charset="0"/>
                <a:ea typeface="Calibri" pitchFamily="34" charset="-122"/>
                <a:cs typeface="Calibri" pitchFamily="34" charset="-120"/>
              </a:rPr>
              <a:t>Unrelated top-level domain (.info, .xyz, .support) for a brand that normally uses .com.</a:t>
            </a:r>
            <a:endParaRPr lang="en-US" sz="1200" dirty="0"/>
          </a:p>
        </p:txBody>
      </p:sp>
      <p:sp>
        <p:nvSpPr>
          <p:cNvPr id="14" name="Shape 11"/>
          <p:cNvSpPr/>
          <p:nvPr/>
        </p:nvSpPr>
        <p:spPr>
          <a:xfrm>
            <a:off x="594360" y="4544568"/>
            <a:ext cx="91440" cy="91440"/>
          </a:xfrm>
          <a:prstGeom prst="ellipse">
            <a:avLst/>
          </a:prstGeom>
          <a:solidFill>
            <a:srgbClr val="E63946"/>
          </a:solidFill>
          <a:ln/>
        </p:spPr>
      </p:sp>
      <p:sp>
        <p:nvSpPr>
          <p:cNvPr id="15" name="Text 12"/>
          <p:cNvSpPr/>
          <p:nvPr/>
        </p:nvSpPr>
        <p:spPr>
          <a:xfrm>
            <a:off x="868680" y="4434840"/>
            <a:ext cx="5760720" cy="502920"/>
          </a:xfrm>
          <a:prstGeom prst="rect">
            <a:avLst/>
          </a:prstGeom>
          <a:noFill/>
          <a:ln/>
        </p:spPr>
        <p:txBody>
          <a:bodyPr wrap="square" rtlCol="0" anchor="ctr"/>
          <a:lstStyle/>
          <a:p>
            <a:pPr indent="0" marL="0">
              <a:lnSpc>
                <a:spcPct val="120000"/>
              </a:lnSpc>
              <a:buNone/>
            </a:pPr>
            <a:r>
              <a:rPr lang="en-US" sz="1200" dirty="0">
                <a:solidFill>
                  <a:srgbClr val="3A4157"/>
                </a:solidFill>
                <a:latin typeface="Calibri" pitchFamily="34" charset="0"/>
                <a:ea typeface="Calibri" pitchFamily="34" charset="-122"/>
                <a:cs typeface="Calibri" pitchFamily="34" charset="-120"/>
              </a:rPr>
              <a:t>Extra words tacked onto a familiar name ("-secure-login", "-verify", "-account").</a:t>
            </a:r>
            <a:endParaRPr lang="en-US" sz="1200" dirty="0"/>
          </a:p>
        </p:txBody>
      </p:sp>
      <p:sp>
        <p:nvSpPr>
          <p:cNvPr id="16" name="Shape 13"/>
          <p:cNvSpPr/>
          <p:nvPr/>
        </p:nvSpPr>
        <p:spPr>
          <a:xfrm>
            <a:off x="548640" y="5193792"/>
            <a:ext cx="6035040" cy="1417320"/>
          </a:xfrm>
          <a:prstGeom prst="roundRect">
            <a:avLst>
              <a:gd name="adj" fmla="val 5161"/>
            </a:avLst>
          </a:prstGeom>
          <a:solidFill>
            <a:srgbClr val="1E2761"/>
          </a:solidFill>
          <a:ln/>
        </p:spPr>
      </p:sp>
      <p:sp>
        <p:nvSpPr>
          <p:cNvPr id="17" name="Text 14"/>
          <p:cNvSpPr/>
          <p:nvPr/>
        </p:nvSpPr>
        <p:spPr>
          <a:xfrm>
            <a:off x="777240" y="5330952"/>
            <a:ext cx="5577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Quick check: hover before you click</a:t>
            </a:r>
            <a:endParaRPr lang="en-US" sz="1300" dirty="0"/>
          </a:p>
        </p:txBody>
      </p:sp>
      <p:sp>
        <p:nvSpPr>
          <p:cNvPr id="18" name="Text 15"/>
          <p:cNvSpPr/>
          <p:nvPr/>
        </p:nvSpPr>
        <p:spPr>
          <a:xfrm>
            <a:off x="777240" y="5650992"/>
            <a:ext cx="5577840" cy="868680"/>
          </a:xfrm>
          <a:prstGeom prst="rect">
            <a:avLst/>
          </a:prstGeom>
          <a:noFill/>
          <a:ln/>
        </p:spPr>
        <p:txBody>
          <a:bodyPr wrap="square" rtlCol="0" anchor="ctr"/>
          <a:lstStyle/>
          <a:p>
            <a:pPr indent="0" marL="0">
              <a:lnSpc>
                <a:spcPct val="125000"/>
              </a:lnSpc>
              <a:buNone/>
            </a:pPr>
            <a:r>
              <a:rPr lang="en-US" sz="1100" dirty="0">
                <a:solidFill>
                  <a:srgbClr val="CADCFC"/>
                </a:solidFill>
                <a:latin typeface="Calibri" pitchFamily="34" charset="0"/>
                <a:ea typeface="Calibri" pitchFamily="34" charset="-122"/>
                <a:cs typeface="Calibri" pitchFamily="34" charset="-120"/>
              </a:rPr>
              <a:t>On desktop, hover over any link to preview the real destination in the corner of your screen. On mobile, press and hold. If the preview doesn’t match the sender or looks unfamiliar, don’t tap it.</a:t>
            </a:r>
            <a:endParaRPr lang="en-US" sz="1100" dirty="0"/>
          </a:p>
        </p:txBody>
      </p:sp>
      <p:sp>
        <p:nvSpPr>
          <p:cNvPr id="19" name="Shape 16"/>
          <p:cNvSpPr/>
          <p:nvPr/>
        </p:nvSpPr>
        <p:spPr>
          <a:xfrm>
            <a:off x="6995160" y="1783080"/>
            <a:ext cx="4617720" cy="4572000"/>
          </a:xfrm>
          <a:prstGeom prst="rect">
            <a:avLst/>
          </a:prstGeom>
          <a:solidFill>
            <a:srgbClr val="FFFFFF"/>
          </a:solidFill>
          <a:ln w="12700">
            <a:solidFill>
              <a:srgbClr val="DDE3F0"/>
            </a:solidFill>
            <a:prstDash val="solid"/>
          </a:ln>
        </p:spPr>
      </p:sp>
      <p:sp>
        <p:nvSpPr>
          <p:cNvPr id="20" name="Text 17"/>
          <p:cNvSpPr/>
          <p:nvPr/>
        </p:nvSpPr>
        <p:spPr>
          <a:xfrm>
            <a:off x="7269480" y="1965960"/>
            <a:ext cx="4114800" cy="320040"/>
          </a:xfrm>
          <a:prstGeom prst="rect">
            <a:avLst/>
          </a:prstGeom>
          <a:noFill/>
          <a:ln/>
        </p:spPr>
        <p:txBody>
          <a:bodyPr wrap="square" rtlCol="0" anchor="ctr"/>
          <a:lstStyle/>
          <a:p>
            <a:pPr indent="0" marL="0">
              <a:buNone/>
            </a:pPr>
            <a:r>
              <a:rPr lang="en-US" sz="1200" b="1" spc="150" kern="0" dirty="0">
                <a:solidFill>
                  <a:srgbClr val="E63946"/>
                </a:solidFill>
                <a:latin typeface="Calibri" pitchFamily="34" charset="0"/>
                <a:ea typeface="Calibri" pitchFamily="34" charset="-122"/>
                <a:cs typeface="Calibri" pitchFamily="34" charset="-120"/>
              </a:rPr>
              <a:t>ON THE PAGE ITSELF</a:t>
            </a:r>
            <a:endParaRPr lang="en-US" sz="1200" dirty="0"/>
          </a:p>
        </p:txBody>
      </p:sp>
      <p:sp>
        <p:nvSpPr>
          <p:cNvPr id="21" name="Shape 18"/>
          <p:cNvSpPr/>
          <p:nvPr/>
        </p:nvSpPr>
        <p:spPr>
          <a:xfrm>
            <a:off x="7269480" y="2478024"/>
            <a:ext cx="91440" cy="91440"/>
          </a:xfrm>
          <a:prstGeom prst="ellipse">
            <a:avLst/>
          </a:prstGeom>
          <a:solidFill>
            <a:srgbClr val="E63946"/>
          </a:solidFill>
          <a:ln/>
        </p:spPr>
      </p:sp>
      <p:sp>
        <p:nvSpPr>
          <p:cNvPr id="22" name="Text 19"/>
          <p:cNvSpPr/>
          <p:nvPr/>
        </p:nvSpPr>
        <p:spPr>
          <a:xfrm>
            <a:off x="7543800" y="2350008"/>
            <a:ext cx="388620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Low-quality logo or layout</a:t>
            </a:r>
            <a:endParaRPr lang="en-US" sz="1250" dirty="0"/>
          </a:p>
        </p:txBody>
      </p:sp>
      <p:sp>
        <p:nvSpPr>
          <p:cNvPr id="23" name="Text 20"/>
          <p:cNvSpPr/>
          <p:nvPr/>
        </p:nvSpPr>
        <p:spPr>
          <a:xfrm>
            <a:off x="7543800" y="2660904"/>
            <a:ext cx="3886200" cy="502920"/>
          </a:xfrm>
          <a:prstGeom prst="rect">
            <a:avLst/>
          </a:prstGeom>
          <a:noFill/>
          <a:ln/>
        </p:spPr>
        <p:txBody>
          <a:bodyPr wrap="square" rtlCol="0" anchor="ctr"/>
          <a:lstStyle/>
          <a:p>
            <a:pPr indent="0" marL="0">
              <a:lnSpc>
                <a:spcPct val="120000"/>
              </a:lnSpc>
              <a:buNone/>
            </a:pPr>
            <a:r>
              <a:rPr lang="en-US" sz="1050" dirty="0">
                <a:solidFill>
                  <a:srgbClr val="5A6B8C"/>
                </a:solidFill>
                <a:latin typeface="Calibri" pitchFamily="34" charset="0"/>
                <a:ea typeface="Calibri" pitchFamily="34" charset="-122"/>
                <a:cs typeface="Calibri" pitchFamily="34" charset="-120"/>
              </a:rPr>
              <a:t>Stretched images, off-brand fonts, or slightly outdated design.</a:t>
            </a:r>
            <a:endParaRPr lang="en-US" sz="1050" dirty="0"/>
          </a:p>
        </p:txBody>
      </p:sp>
      <p:sp>
        <p:nvSpPr>
          <p:cNvPr id="24" name="Shape 21"/>
          <p:cNvSpPr/>
          <p:nvPr/>
        </p:nvSpPr>
        <p:spPr>
          <a:xfrm>
            <a:off x="7269480" y="3346704"/>
            <a:ext cx="91440" cy="91440"/>
          </a:xfrm>
          <a:prstGeom prst="ellipse">
            <a:avLst/>
          </a:prstGeom>
          <a:solidFill>
            <a:srgbClr val="E63946"/>
          </a:solidFill>
          <a:ln/>
        </p:spPr>
      </p:sp>
      <p:sp>
        <p:nvSpPr>
          <p:cNvPr id="25" name="Text 22"/>
          <p:cNvSpPr/>
          <p:nvPr/>
        </p:nvSpPr>
        <p:spPr>
          <a:xfrm>
            <a:off x="7543800" y="3218688"/>
            <a:ext cx="388620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Asks for more than needed</a:t>
            </a:r>
            <a:endParaRPr lang="en-US" sz="1250" dirty="0"/>
          </a:p>
        </p:txBody>
      </p:sp>
      <p:sp>
        <p:nvSpPr>
          <p:cNvPr id="26" name="Text 23"/>
          <p:cNvSpPr/>
          <p:nvPr/>
        </p:nvSpPr>
        <p:spPr>
          <a:xfrm>
            <a:off x="7543800" y="3529584"/>
            <a:ext cx="3886200" cy="502920"/>
          </a:xfrm>
          <a:prstGeom prst="rect">
            <a:avLst/>
          </a:prstGeom>
          <a:noFill/>
          <a:ln/>
        </p:spPr>
        <p:txBody>
          <a:bodyPr wrap="square" rtlCol="0" anchor="ctr"/>
          <a:lstStyle/>
          <a:p>
            <a:pPr indent="0" marL="0">
              <a:lnSpc>
                <a:spcPct val="120000"/>
              </a:lnSpc>
              <a:buNone/>
            </a:pPr>
            <a:r>
              <a:rPr lang="en-US" sz="1050" dirty="0">
                <a:solidFill>
                  <a:srgbClr val="5A6B8C"/>
                </a:solidFill>
                <a:latin typeface="Calibri" pitchFamily="34" charset="0"/>
                <a:ea typeface="Calibri" pitchFamily="34" charset="-122"/>
                <a:cs typeface="Calibri" pitchFamily="34" charset="-120"/>
              </a:rPr>
              <a:t>A login page requesting your SSN, full card number, or security answers upfront.</a:t>
            </a:r>
            <a:endParaRPr lang="en-US" sz="1050" dirty="0"/>
          </a:p>
        </p:txBody>
      </p:sp>
      <p:sp>
        <p:nvSpPr>
          <p:cNvPr id="27" name="Shape 24"/>
          <p:cNvSpPr/>
          <p:nvPr/>
        </p:nvSpPr>
        <p:spPr>
          <a:xfrm>
            <a:off x="7269480" y="4215384"/>
            <a:ext cx="91440" cy="91440"/>
          </a:xfrm>
          <a:prstGeom prst="ellipse">
            <a:avLst/>
          </a:prstGeom>
          <a:solidFill>
            <a:srgbClr val="E63946"/>
          </a:solidFill>
          <a:ln/>
        </p:spPr>
      </p:sp>
      <p:sp>
        <p:nvSpPr>
          <p:cNvPr id="28" name="Text 25"/>
          <p:cNvSpPr/>
          <p:nvPr/>
        </p:nvSpPr>
        <p:spPr>
          <a:xfrm>
            <a:off x="7543800" y="4087368"/>
            <a:ext cx="388620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No way to navigate away</a:t>
            </a:r>
            <a:endParaRPr lang="en-US" sz="1250" dirty="0"/>
          </a:p>
        </p:txBody>
      </p:sp>
      <p:sp>
        <p:nvSpPr>
          <p:cNvPr id="29" name="Text 26"/>
          <p:cNvSpPr/>
          <p:nvPr/>
        </p:nvSpPr>
        <p:spPr>
          <a:xfrm>
            <a:off x="7543800" y="4398264"/>
            <a:ext cx="3886200" cy="502920"/>
          </a:xfrm>
          <a:prstGeom prst="rect">
            <a:avLst/>
          </a:prstGeom>
          <a:noFill/>
          <a:ln/>
        </p:spPr>
        <p:txBody>
          <a:bodyPr wrap="square" rtlCol="0" anchor="ctr"/>
          <a:lstStyle/>
          <a:p>
            <a:pPr indent="0" marL="0">
              <a:lnSpc>
                <a:spcPct val="120000"/>
              </a:lnSpc>
              <a:buNone/>
            </a:pPr>
            <a:r>
              <a:rPr lang="en-US" sz="1050" dirty="0">
                <a:solidFill>
                  <a:srgbClr val="5A6B8C"/>
                </a:solidFill>
                <a:latin typeface="Calibri" pitchFamily="34" charset="0"/>
                <a:ea typeface="Calibri" pitchFamily="34" charset="-122"/>
                <a:cs typeface="Calibri" pitchFamily="34" charset="-120"/>
              </a:rPr>
              <a:t>Missing footer links, help pages, or a working search bar.</a:t>
            </a:r>
            <a:endParaRPr lang="en-US" sz="1050" dirty="0"/>
          </a:p>
        </p:txBody>
      </p:sp>
      <p:sp>
        <p:nvSpPr>
          <p:cNvPr id="30" name="Shape 27"/>
          <p:cNvSpPr/>
          <p:nvPr/>
        </p:nvSpPr>
        <p:spPr>
          <a:xfrm>
            <a:off x="7269480" y="5084064"/>
            <a:ext cx="91440" cy="91440"/>
          </a:xfrm>
          <a:prstGeom prst="ellipse">
            <a:avLst/>
          </a:prstGeom>
          <a:solidFill>
            <a:srgbClr val="E63946"/>
          </a:solidFill>
          <a:ln/>
        </p:spPr>
      </p:sp>
      <p:sp>
        <p:nvSpPr>
          <p:cNvPr id="31" name="Text 28"/>
          <p:cNvSpPr/>
          <p:nvPr/>
        </p:nvSpPr>
        <p:spPr>
          <a:xfrm>
            <a:off x="7543800" y="4956048"/>
            <a:ext cx="388620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Pressure the moment you land</a:t>
            </a:r>
            <a:endParaRPr lang="en-US" sz="1250" dirty="0"/>
          </a:p>
        </p:txBody>
      </p:sp>
      <p:sp>
        <p:nvSpPr>
          <p:cNvPr id="32" name="Text 29"/>
          <p:cNvSpPr/>
          <p:nvPr/>
        </p:nvSpPr>
        <p:spPr>
          <a:xfrm>
            <a:off x="7543800" y="5266944"/>
            <a:ext cx="3886200" cy="502920"/>
          </a:xfrm>
          <a:prstGeom prst="rect">
            <a:avLst/>
          </a:prstGeom>
          <a:noFill/>
          <a:ln/>
        </p:spPr>
        <p:txBody>
          <a:bodyPr wrap="square" rtlCol="0" anchor="ctr"/>
          <a:lstStyle/>
          <a:p>
            <a:pPr indent="0" marL="0">
              <a:lnSpc>
                <a:spcPct val="120000"/>
              </a:lnSpc>
              <a:buNone/>
            </a:pPr>
            <a:r>
              <a:rPr lang="en-US" sz="1050" dirty="0">
                <a:solidFill>
                  <a:srgbClr val="5A6B8C"/>
                </a:solidFill>
                <a:latin typeface="Calibri" pitchFamily="34" charset="0"/>
                <a:ea typeface="Calibri" pitchFamily="34" charset="-122"/>
                <a:cs typeface="Calibri" pitchFamily="34" charset="-120"/>
              </a:rPr>
              <a:t>Countdown timers or pop-ups pushing you to "act now".</a:t>
            </a:r>
            <a:endParaRPr lang="en-US" sz="1050" dirty="0"/>
          </a:p>
        </p:txBody>
      </p:sp>
      <p:sp>
        <p:nvSpPr>
          <p:cNvPr id="33" name="Text 3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CADCFC"/>
                </a:solidFill>
                <a:latin typeface="Calibri" pitchFamily="34" charset="0"/>
                <a:ea typeface="Calibri" pitchFamily="34" charset="-122"/>
                <a:cs typeface="Calibri" pitchFamily="34" charset="-120"/>
              </a:rPr>
              <a:t>THE HUMAN EXPLOIT</a:t>
            </a:r>
            <a:endParaRPr lang="en-US" sz="1250" dirty="0"/>
          </a:p>
        </p:txBody>
      </p:sp>
      <p:sp>
        <p:nvSpPr>
          <p:cNvPr id="3" name="Text 1"/>
          <p:cNvSpPr/>
          <p:nvPr/>
        </p:nvSpPr>
        <p:spPr>
          <a:xfrm>
            <a:off x="548640" y="749808"/>
            <a:ext cx="105156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Social engineering tactics</a:t>
            </a:r>
            <a:endParaRPr lang="en-US" sz="3000" dirty="0"/>
          </a:p>
        </p:txBody>
      </p:sp>
      <p:sp>
        <p:nvSpPr>
          <p:cNvPr id="4" name="Text 2"/>
          <p:cNvSpPr/>
          <p:nvPr/>
        </p:nvSpPr>
        <p:spPr>
          <a:xfrm>
            <a:off x="548640" y="1417320"/>
            <a:ext cx="9601200" cy="45720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Attackers don’t hack computers first — they hack decisions. These five levers show up in almost every scam.</a:t>
            </a:r>
            <a:endParaRPr lang="en-US" sz="1300" dirty="0"/>
          </a:p>
        </p:txBody>
      </p:sp>
      <p:sp>
        <p:nvSpPr>
          <p:cNvPr id="5" name="Shape 3"/>
          <p:cNvSpPr/>
          <p:nvPr/>
        </p:nvSpPr>
        <p:spPr>
          <a:xfrm>
            <a:off x="548640" y="2286000"/>
            <a:ext cx="2084832" cy="3520440"/>
          </a:xfrm>
          <a:prstGeom prst="roundRect">
            <a:avLst>
              <a:gd name="adj" fmla="val 3947"/>
            </a:avLst>
          </a:prstGeom>
          <a:solidFill>
            <a:srgbClr val="141B47"/>
          </a:solidFill>
          <a:ln w="12700">
            <a:solidFill>
              <a:srgbClr val="32407A"/>
            </a:solidFill>
            <a:prstDash val="solid"/>
          </a:ln>
        </p:spPr>
      </p:sp>
      <p:sp>
        <p:nvSpPr>
          <p:cNvPr id="6" name="Shape 4"/>
          <p:cNvSpPr/>
          <p:nvPr/>
        </p:nvSpPr>
        <p:spPr>
          <a:xfrm>
            <a:off x="1248156" y="2606040"/>
            <a:ext cx="685800" cy="685800"/>
          </a:xfrm>
          <a:prstGeom prst="ellipse">
            <a:avLst/>
          </a:prstGeom>
          <a:solidFill>
            <a:srgbClr val="E63946"/>
          </a:solidFill>
          <a:ln/>
        </p:spPr>
      </p:sp>
      <p:pic>
        <p:nvPicPr>
          <p:cNvPr id="7" name="Image 0" descr="icons/clock.png">    </p:cNvPr>
          <p:cNvPicPr>
            <a:picLocks noChangeAspect="1"/>
          </p:cNvPicPr>
          <p:nvPr/>
        </p:nvPicPr>
        <p:blipFill>
          <a:blip r:embed="rId1"/>
          <a:stretch>
            <a:fillRect/>
          </a:stretch>
        </p:blipFill>
        <p:spPr>
          <a:xfrm>
            <a:off x="1402461" y="2760345"/>
            <a:ext cx="377190" cy="377190"/>
          </a:xfrm>
          <a:prstGeom prst="rect">
            <a:avLst/>
          </a:prstGeom>
        </p:spPr>
      </p:pic>
      <p:sp>
        <p:nvSpPr>
          <p:cNvPr id="8" name="Text 5"/>
          <p:cNvSpPr/>
          <p:nvPr/>
        </p:nvSpPr>
        <p:spPr>
          <a:xfrm>
            <a:off x="685800" y="3520440"/>
            <a:ext cx="1810512" cy="50292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Urgency</a:t>
            </a:r>
            <a:endParaRPr lang="en-US" sz="1450" dirty="0"/>
          </a:p>
        </p:txBody>
      </p:sp>
      <p:sp>
        <p:nvSpPr>
          <p:cNvPr id="9" name="Text 6"/>
          <p:cNvSpPr/>
          <p:nvPr/>
        </p:nvSpPr>
        <p:spPr>
          <a:xfrm>
            <a:off x="731520" y="4069080"/>
            <a:ext cx="1719072" cy="1600200"/>
          </a:xfrm>
          <a:prstGeom prst="rect">
            <a:avLst/>
          </a:prstGeom>
          <a:noFill/>
          <a:ln/>
        </p:spPr>
        <p:txBody>
          <a:bodyPr wrap="square" rtlCol="0" anchor="ctr"/>
          <a:lstStyle/>
          <a:p>
            <a:pPr algn="ctr" indent="0" marL="0">
              <a:lnSpc>
                <a:spcPct val="125000"/>
              </a:lnSpc>
              <a:buNone/>
            </a:pPr>
            <a:r>
              <a:rPr lang="en-US" sz="1030" dirty="0">
                <a:solidFill>
                  <a:srgbClr val="CADCFC"/>
                </a:solidFill>
                <a:latin typeface="Calibri" pitchFamily="34" charset="0"/>
                <a:ea typeface="Calibri" pitchFamily="34" charset="-122"/>
                <a:cs typeface="Calibri" pitchFamily="34" charset="-120"/>
              </a:rPr>
              <a:t>"Act within 24 hours" short-circuits careful thinking and pushes fast, reflexive action.</a:t>
            </a:r>
            <a:endParaRPr lang="en-US" sz="1030" dirty="0"/>
          </a:p>
        </p:txBody>
      </p:sp>
      <p:sp>
        <p:nvSpPr>
          <p:cNvPr id="10" name="Shape 7"/>
          <p:cNvSpPr/>
          <p:nvPr/>
        </p:nvSpPr>
        <p:spPr>
          <a:xfrm>
            <a:off x="2798064" y="2286000"/>
            <a:ext cx="2084832" cy="3520440"/>
          </a:xfrm>
          <a:prstGeom prst="roundRect">
            <a:avLst>
              <a:gd name="adj" fmla="val 3947"/>
            </a:avLst>
          </a:prstGeom>
          <a:solidFill>
            <a:srgbClr val="141B47"/>
          </a:solidFill>
          <a:ln w="12700">
            <a:solidFill>
              <a:srgbClr val="32407A"/>
            </a:solidFill>
            <a:prstDash val="solid"/>
          </a:ln>
        </p:spPr>
      </p:sp>
      <p:sp>
        <p:nvSpPr>
          <p:cNvPr id="11" name="Shape 8"/>
          <p:cNvSpPr/>
          <p:nvPr/>
        </p:nvSpPr>
        <p:spPr>
          <a:xfrm>
            <a:off x="3497580" y="2606040"/>
            <a:ext cx="685800" cy="685800"/>
          </a:xfrm>
          <a:prstGeom prst="ellipse">
            <a:avLst/>
          </a:prstGeom>
          <a:solidFill>
            <a:srgbClr val="E63946"/>
          </a:solidFill>
          <a:ln/>
        </p:spPr>
      </p:sp>
      <p:pic>
        <p:nvPicPr>
          <p:cNvPr id="12" name="Image 1" descr="icons/crown.png">    </p:cNvPr>
          <p:cNvPicPr>
            <a:picLocks noChangeAspect="1"/>
          </p:cNvPicPr>
          <p:nvPr/>
        </p:nvPicPr>
        <p:blipFill>
          <a:blip r:embed="rId2"/>
          <a:stretch>
            <a:fillRect/>
          </a:stretch>
        </p:blipFill>
        <p:spPr>
          <a:xfrm>
            <a:off x="3651885" y="2760345"/>
            <a:ext cx="377190" cy="377190"/>
          </a:xfrm>
          <a:prstGeom prst="rect">
            <a:avLst/>
          </a:prstGeom>
        </p:spPr>
      </p:pic>
      <p:sp>
        <p:nvSpPr>
          <p:cNvPr id="13" name="Text 9"/>
          <p:cNvSpPr/>
          <p:nvPr/>
        </p:nvSpPr>
        <p:spPr>
          <a:xfrm>
            <a:off x="2935224" y="3520440"/>
            <a:ext cx="1810512" cy="50292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Authority</a:t>
            </a:r>
            <a:endParaRPr lang="en-US" sz="1450" dirty="0"/>
          </a:p>
        </p:txBody>
      </p:sp>
      <p:sp>
        <p:nvSpPr>
          <p:cNvPr id="14" name="Text 10"/>
          <p:cNvSpPr/>
          <p:nvPr/>
        </p:nvSpPr>
        <p:spPr>
          <a:xfrm>
            <a:off x="2980944" y="4069080"/>
            <a:ext cx="1719072" cy="1600200"/>
          </a:xfrm>
          <a:prstGeom prst="rect">
            <a:avLst/>
          </a:prstGeom>
          <a:noFill/>
          <a:ln/>
        </p:spPr>
        <p:txBody>
          <a:bodyPr wrap="square" rtlCol="0" anchor="ctr"/>
          <a:lstStyle/>
          <a:p>
            <a:pPr algn="ctr" indent="0" marL="0">
              <a:lnSpc>
                <a:spcPct val="125000"/>
              </a:lnSpc>
              <a:buNone/>
            </a:pPr>
            <a:r>
              <a:rPr lang="en-US" sz="1030" dirty="0">
                <a:solidFill>
                  <a:srgbClr val="CADCFC"/>
                </a:solidFill>
                <a:latin typeface="Calibri" pitchFamily="34" charset="0"/>
                <a:ea typeface="Calibri" pitchFamily="34" charset="-122"/>
                <a:cs typeface="Calibri" pitchFamily="34" charset="-120"/>
              </a:rPr>
              <a:t>Posing as a CEO, bank, or IT admin exploits our instinct to comply with people in charge.</a:t>
            </a:r>
            <a:endParaRPr lang="en-US" sz="1030" dirty="0"/>
          </a:p>
        </p:txBody>
      </p:sp>
      <p:sp>
        <p:nvSpPr>
          <p:cNvPr id="15" name="Shape 11"/>
          <p:cNvSpPr/>
          <p:nvPr/>
        </p:nvSpPr>
        <p:spPr>
          <a:xfrm>
            <a:off x="5047488" y="2286000"/>
            <a:ext cx="2084832" cy="3520440"/>
          </a:xfrm>
          <a:prstGeom prst="roundRect">
            <a:avLst>
              <a:gd name="adj" fmla="val 3947"/>
            </a:avLst>
          </a:prstGeom>
          <a:solidFill>
            <a:srgbClr val="141B47"/>
          </a:solidFill>
          <a:ln w="12700">
            <a:solidFill>
              <a:srgbClr val="32407A"/>
            </a:solidFill>
            <a:prstDash val="solid"/>
          </a:ln>
        </p:spPr>
      </p:sp>
      <p:sp>
        <p:nvSpPr>
          <p:cNvPr id="16" name="Shape 12"/>
          <p:cNvSpPr/>
          <p:nvPr/>
        </p:nvSpPr>
        <p:spPr>
          <a:xfrm>
            <a:off x="5747004" y="2606040"/>
            <a:ext cx="685800" cy="685800"/>
          </a:xfrm>
          <a:prstGeom prst="ellipse">
            <a:avLst/>
          </a:prstGeom>
          <a:solidFill>
            <a:srgbClr val="E63946"/>
          </a:solidFill>
          <a:ln/>
        </p:spPr>
      </p:sp>
      <p:pic>
        <p:nvPicPr>
          <p:cNvPr id="17" name="Image 2" descr="icons/fire.png">    </p:cNvPr>
          <p:cNvPicPr>
            <a:picLocks noChangeAspect="1"/>
          </p:cNvPicPr>
          <p:nvPr/>
        </p:nvPicPr>
        <p:blipFill>
          <a:blip r:embed="rId3"/>
          <a:stretch>
            <a:fillRect/>
          </a:stretch>
        </p:blipFill>
        <p:spPr>
          <a:xfrm>
            <a:off x="5901309" y="2760345"/>
            <a:ext cx="377190" cy="377190"/>
          </a:xfrm>
          <a:prstGeom prst="rect">
            <a:avLst/>
          </a:prstGeom>
        </p:spPr>
      </p:pic>
      <p:sp>
        <p:nvSpPr>
          <p:cNvPr id="18" name="Text 13"/>
          <p:cNvSpPr/>
          <p:nvPr/>
        </p:nvSpPr>
        <p:spPr>
          <a:xfrm>
            <a:off x="5184648" y="3520440"/>
            <a:ext cx="1810512" cy="50292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Fear</a:t>
            </a:r>
            <a:endParaRPr lang="en-US" sz="1450" dirty="0"/>
          </a:p>
        </p:txBody>
      </p:sp>
      <p:sp>
        <p:nvSpPr>
          <p:cNvPr id="19" name="Text 14"/>
          <p:cNvSpPr/>
          <p:nvPr/>
        </p:nvSpPr>
        <p:spPr>
          <a:xfrm>
            <a:off x="5230368" y="4069080"/>
            <a:ext cx="1719072" cy="1600200"/>
          </a:xfrm>
          <a:prstGeom prst="rect">
            <a:avLst/>
          </a:prstGeom>
          <a:noFill/>
          <a:ln/>
        </p:spPr>
        <p:txBody>
          <a:bodyPr wrap="square" rtlCol="0" anchor="ctr"/>
          <a:lstStyle/>
          <a:p>
            <a:pPr algn="ctr" indent="0" marL="0">
              <a:lnSpc>
                <a:spcPct val="125000"/>
              </a:lnSpc>
              <a:buNone/>
            </a:pPr>
            <a:r>
              <a:rPr lang="en-US" sz="1030" dirty="0">
                <a:solidFill>
                  <a:srgbClr val="CADCFC"/>
                </a:solidFill>
                <a:latin typeface="Calibri" pitchFamily="34" charset="0"/>
                <a:ea typeface="Calibri" pitchFamily="34" charset="-122"/>
                <a:cs typeface="Calibri" pitchFamily="34" charset="-120"/>
              </a:rPr>
              <a:t>Threats of account suspension, legal action, or job loss trigger panic over pause.</a:t>
            </a:r>
            <a:endParaRPr lang="en-US" sz="1030" dirty="0"/>
          </a:p>
        </p:txBody>
      </p:sp>
      <p:sp>
        <p:nvSpPr>
          <p:cNvPr id="20" name="Shape 15"/>
          <p:cNvSpPr/>
          <p:nvPr/>
        </p:nvSpPr>
        <p:spPr>
          <a:xfrm>
            <a:off x="7296912" y="2286000"/>
            <a:ext cx="2084832" cy="3520440"/>
          </a:xfrm>
          <a:prstGeom prst="roundRect">
            <a:avLst>
              <a:gd name="adj" fmla="val 3947"/>
            </a:avLst>
          </a:prstGeom>
          <a:solidFill>
            <a:srgbClr val="141B47"/>
          </a:solidFill>
          <a:ln w="12700">
            <a:solidFill>
              <a:srgbClr val="32407A"/>
            </a:solidFill>
            <a:prstDash val="solid"/>
          </a:ln>
        </p:spPr>
      </p:sp>
      <p:sp>
        <p:nvSpPr>
          <p:cNvPr id="21" name="Shape 16"/>
          <p:cNvSpPr/>
          <p:nvPr/>
        </p:nvSpPr>
        <p:spPr>
          <a:xfrm>
            <a:off x="7996428" y="2606040"/>
            <a:ext cx="685800" cy="685800"/>
          </a:xfrm>
          <a:prstGeom prst="ellipse">
            <a:avLst/>
          </a:prstGeom>
          <a:solidFill>
            <a:srgbClr val="E63946"/>
          </a:solidFill>
          <a:ln/>
        </p:spPr>
      </p:sp>
      <p:pic>
        <p:nvPicPr>
          <p:cNvPr id="22" name="Image 3" descr="icons/gift.png">    </p:cNvPr>
          <p:cNvPicPr>
            <a:picLocks noChangeAspect="1"/>
          </p:cNvPicPr>
          <p:nvPr/>
        </p:nvPicPr>
        <p:blipFill>
          <a:blip r:embed="rId4"/>
          <a:stretch>
            <a:fillRect/>
          </a:stretch>
        </p:blipFill>
        <p:spPr>
          <a:xfrm>
            <a:off x="8150733" y="2760345"/>
            <a:ext cx="377190" cy="377190"/>
          </a:xfrm>
          <a:prstGeom prst="rect">
            <a:avLst/>
          </a:prstGeom>
        </p:spPr>
      </p:pic>
      <p:sp>
        <p:nvSpPr>
          <p:cNvPr id="23" name="Text 17"/>
          <p:cNvSpPr/>
          <p:nvPr/>
        </p:nvSpPr>
        <p:spPr>
          <a:xfrm>
            <a:off x="7434072" y="3520440"/>
            <a:ext cx="1810512" cy="50292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Greed / curiosity</a:t>
            </a:r>
            <a:endParaRPr lang="en-US" sz="1450" dirty="0"/>
          </a:p>
        </p:txBody>
      </p:sp>
      <p:sp>
        <p:nvSpPr>
          <p:cNvPr id="24" name="Text 18"/>
          <p:cNvSpPr/>
          <p:nvPr/>
        </p:nvSpPr>
        <p:spPr>
          <a:xfrm>
            <a:off x="7479792" y="4069080"/>
            <a:ext cx="1719072" cy="1600200"/>
          </a:xfrm>
          <a:prstGeom prst="rect">
            <a:avLst/>
          </a:prstGeom>
          <a:noFill/>
          <a:ln/>
        </p:spPr>
        <p:txBody>
          <a:bodyPr wrap="square" rtlCol="0" anchor="ctr"/>
          <a:lstStyle/>
          <a:p>
            <a:pPr algn="ctr" indent="0" marL="0">
              <a:lnSpc>
                <a:spcPct val="125000"/>
              </a:lnSpc>
              <a:buNone/>
            </a:pPr>
            <a:r>
              <a:rPr lang="en-US" sz="1030" dirty="0">
                <a:solidFill>
                  <a:srgbClr val="CADCFC"/>
                </a:solidFill>
                <a:latin typeface="Calibri" pitchFamily="34" charset="0"/>
                <a:ea typeface="Calibri" pitchFamily="34" charset="-122"/>
                <a:cs typeface="Calibri" pitchFamily="34" charset="-120"/>
              </a:rPr>
              <a:t>A too-good prize, refund, or shocking attachment tempts a click before a check.</a:t>
            </a:r>
            <a:endParaRPr lang="en-US" sz="1030" dirty="0"/>
          </a:p>
        </p:txBody>
      </p:sp>
      <p:sp>
        <p:nvSpPr>
          <p:cNvPr id="25" name="Shape 19"/>
          <p:cNvSpPr/>
          <p:nvPr/>
        </p:nvSpPr>
        <p:spPr>
          <a:xfrm>
            <a:off x="9546336" y="2286000"/>
            <a:ext cx="2084832" cy="3520440"/>
          </a:xfrm>
          <a:prstGeom prst="roundRect">
            <a:avLst>
              <a:gd name="adj" fmla="val 3947"/>
            </a:avLst>
          </a:prstGeom>
          <a:solidFill>
            <a:srgbClr val="141B47"/>
          </a:solidFill>
          <a:ln w="12700">
            <a:solidFill>
              <a:srgbClr val="32407A"/>
            </a:solidFill>
            <a:prstDash val="solid"/>
          </a:ln>
        </p:spPr>
      </p:sp>
      <p:sp>
        <p:nvSpPr>
          <p:cNvPr id="26" name="Shape 20"/>
          <p:cNvSpPr/>
          <p:nvPr/>
        </p:nvSpPr>
        <p:spPr>
          <a:xfrm>
            <a:off x="10245852" y="2606040"/>
            <a:ext cx="685800" cy="685800"/>
          </a:xfrm>
          <a:prstGeom prst="ellipse">
            <a:avLst/>
          </a:prstGeom>
          <a:solidFill>
            <a:srgbClr val="E63946"/>
          </a:solidFill>
          <a:ln/>
        </p:spPr>
      </p:sp>
      <p:pic>
        <p:nvPicPr>
          <p:cNvPr id="27" name="Image 4" descr="icons/handshake.png">    </p:cNvPr>
          <p:cNvPicPr>
            <a:picLocks noChangeAspect="1"/>
          </p:cNvPicPr>
          <p:nvPr/>
        </p:nvPicPr>
        <p:blipFill>
          <a:blip r:embed="rId5"/>
          <a:stretch>
            <a:fillRect/>
          </a:stretch>
        </p:blipFill>
        <p:spPr>
          <a:xfrm>
            <a:off x="10400157" y="2760345"/>
            <a:ext cx="377190" cy="377190"/>
          </a:xfrm>
          <a:prstGeom prst="rect">
            <a:avLst/>
          </a:prstGeom>
        </p:spPr>
      </p:pic>
      <p:sp>
        <p:nvSpPr>
          <p:cNvPr id="28" name="Text 21"/>
          <p:cNvSpPr/>
          <p:nvPr/>
        </p:nvSpPr>
        <p:spPr>
          <a:xfrm>
            <a:off x="9683496" y="3520440"/>
            <a:ext cx="1810512" cy="50292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Trust &amp; familiarity</a:t>
            </a:r>
            <a:endParaRPr lang="en-US" sz="1450" dirty="0"/>
          </a:p>
        </p:txBody>
      </p:sp>
      <p:sp>
        <p:nvSpPr>
          <p:cNvPr id="29" name="Text 22"/>
          <p:cNvSpPr/>
          <p:nvPr/>
        </p:nvSpPr>
        <p:spPr>
          <a:xfrm>
            <a:off x="9729216" y="4069080"/>
            <a:ext cx="1719072" cy="1600200"/>
          </a:xfrm>
          <a:prstGeom prst="rect">
            <a:avLst/>
          </a:prstGeom>
          <a:noFill/>
          <a:ln/>
        </p:spPr>
        <p:txBody>
          <a:bodyPr wrap="square" rtlCol="0" anchor="ctr"/>
          <a:lstStyle/>
          <a:p>
            <a:pPr algn="ctr" indent="0" marL="0">
              <a:lnSpc>
                <a:spcPct val="125000"/>
              </a:lnSpc>
              <a:buNone/>
            </a:pPr>
            <a:r>
              <a:rPr lang="en-US" sz="1030" dirty="0">
                <a:solidFill>
                  <a:srgbClr val="CADCFC"/>
                </a:solidFill>
                <a:latin typeface="Calibri" pitchFamily="34" charset="0"/>
                <a:ea typeface="Calibri" pitchFamily="34" charset="-122"/>
                <a:cs typeface="Calibri" pitchFamily="34" charset="-120"/>
              </a:rPr>
              <a:t>Spoofed names, logos, or a colleague’s writing style borrow trust that wasn’t earned.</a:t>
            </a:r>
            <a:endParaRPr lang="en-US" sz="1030" dirty="0"/>
          </a:p>
        </p:txBody>
      </p:sp>
      <p:sp>
        <p:nvSpPr>
          <p:cNvPr id="30" name="Text 23"/>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1E2761"/>
          </a:solidFill>
          <a:ln/>
        </p:spPr>
      </p:sp>
      <p:sp>
        <p:nvSpPr>
          <p:cNvPr id="3" name="Text 1"/>
          <p:cNvSpPr/>
          <p:nvPr/>
        </p:nvSpPr>
        <p:spPr>
          <a:xfrm>
            <a:off x="548640" y="32004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CASE STUDY · 2017</a:t>
            </a:r>
            <a:endParaRPr lang="en-US" sz="1250" dirty="0"/>
          </a:p>
        </p:txBody>
      </p:sp>
      <p:sp>
        <p:nvSpPr>
          <p:cNvPr id="4" name="Text 2"/>
          <p:cNvSpPr/>
          <p:nvPr/>
        </p:nvSpPr>
        <p:spPr>
          <a:xfrm>
            <a:off x="548640" y="594360"/>
            <a:ext cx="9601200" cy="73152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Google Docs worm</a:t>
            </a:r>
            <a:endParaRPr lang="en-US" sz="2700" dirty="0"/>
          </a:p>
        </p:txBody>
      </p:sp>
      <p:sp>
        <p:nvSpPr>
          <p:cNvPr id="5" name="Shape 3"/>
          <p:cNvSpPr/>
          <p:nvPr/>
        </p:nvSpPr>
        <p:spPr>
          <a:xfrm>
            <a:off x="548640" y="1783080"/>
            <a:ext cx="685800" cy="685800"/>
          </a:xfrm>
          <a:prstGeom prst="ellipse">
            <a:avLst/>
          </a:prstGeom>
          <a:solidFill>
            <a:srgbClr val="1E2761"/>
          </a:solidFill>
          <a:ln/>
        </p:spPr>
      </p:sp>
      <p:pic>
        <p:nvPicPr>
          <p:cNvPr id="6" name="Image 0" descr="icons/google.png">    </p:cNvPr>
          <p:cNvPicPr>
            <a:picLocks noChangeAspect="1"/>
          </p:cNvPicPr>
          <p:nvPr/>
        </p:nvPicPr>
        <p:blipFill>
          <a:blip r:embed="rId1"/>
          <a:stretch>
            <a:fillRect/>
          </a:stretch>
        </p:blipFill>
        <p:spPr>
          <a:xfrm>
            <a:off x="720090" y="1954530"/>
            <a:ext cx="342900" cy="342900"/>
          </a:xfrm>
          <a:prstGeom prst="rect">
            <a:avLst/>
          </a:prstGeom>
        </p:spPr>
      </p:pic>
      <p:sp>
        <p:nvSpPr>
          <p:cNvPr id="7" name="Text 4"/>
          <p:cNvSpPr/>
          <p:nvPr/>
        </p:nvSpPr>
        <p:spPr>
          <a:xfrm>
            <a:off x="1417320" y="1828800"/>
            <a:ext cx="5486400" cy="365760"/>
          </a:xfrm>
          <a:prstGeom prst="rect">
            <a:avLst/>
          </a:prstGeom>
          <a:noFill/>
          <a:ln/>
        </p:spPr>
        <p:txBody>
          <a:bodyPr wrap="square" rtlCol="0" anchor="ctr"/>
          <a:lstStyle/>
          <a:p>
            <a:pPr indent="0" marL="0">
              <a:buNone/>
            </a:pPr>
            <a:r>
              <a:rPr lang="en-US" sz="1500" b="1" dirty="0">
                <a:solidFill>
                  <a:srgbClr val="1B2033"/>
                </a:solidFill>
                <a:latin typeface="Calibri" pitchFamily="34" charset="0"/>
                <a:ea typeface="Calibri" pitchFamily="34" charset="-122"/>
                <a:cs typeface="Calibri" pitchFamily="34" charset="-120"/>
              </a:rPr>
              <a:t>An invite that spread itself</a:t>
            </a:r>
            <a:endParaRPr lang="en-US" sz="1500" dirty="0"/>
          </a:p>
        </p:txBody>
      </p:sp>
      <p:sp>
        <p:nvSpPr>
          <p:cNvPr id="8" name="Text 5"/>
          <p:cNvSpPr/>
          <p:nvPr/>
        </p:nvSpPr>
        <p:spPr>
          <a:xfrm>
            <a:off x="1417320" y="2194560"/>
            <a:ext cx="5486400" cy="822960"/>
          </a:xfrm>
          <a:prstGeom prst="rect">
            <a:avLst/>
          </a:prstGeom>
          <a:noFill/>
          <a:ln/>
        </p:spPr>
        <p:txBody>
          <a:bodyPr wrap="square" rtlCol="0" anchor="ctr"/>
          <a:lstStyle/>
          <a:p>
            <a:pPr indent="0" marL="0">
              <a:lnSpc>
                <a:spcPct val="125000"/>
              </a:lnSpc>
              <a:buNone/>
            </a:pPr>
            <a:r>
              <a:rPr lang="en-US" sz="1150" dirty="0">
                <a:solidFill>
                  <a:srgbClr val="5A6B8C"/>
                </a:solidFill>
                <a:latin typeface="Calibri" pitchFamily="34" charset="0"/>
                <a:ea typeface="Calibri" pitchFamily="34" charset="-122"/>
                <a:cs typeface="Calibri" pitchFamily="34" charset="-120"/>
              </a:rPr>
              <a:t>A phishing email that looked like a genuine Google Docs sharing invitation reached roughly one million Gmail users in about an hour.</a:t>
            </a:r>
            <a:endParaRPr lang="en-US" sz="1150" dirty="0"/>
          </a:p>
        </p:txBody>
      </p:sp>
      <p:sp>
        <p:nvSpPr>
          <p:cNvPr id="9" name="Shape 6"/>
          <p:cNvSpPr/>
          <p:nvPr/>
        </p:nvSpPr>
        <p:spPr>
          <a:xfrm>
            <a:off x="548640" y="3200400"/>
            <a:ext cx="365760" cy="365760"/>
          </a:xfrm>
          <a:prstGeom prst="roundRect">
            <a:avLst>
              <a:gd name="adj" fmla="val 15000"/>
            </a:avLst>
          </a:prstGeom>
          <a:solidFill>
            <a:srgbClr val="E63946"/>
          </a:solidFill>
          <a:ln/>
        </p:spPr>
      </p:sp>
      <p:sp>
        <p:nvSpPr>
          <p:cNvPr id="10" name="Text 7"/>
          <p:cNvSpPr/>
          <p:nvPr/>
        </p:nvSpPr>
        <p:spPr>
          <a:xfrm>
            <a:off x="548640" y="32004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3145536"/>
            <a:ext cx="493776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Real-looking invite</a:t>
            </a:r>
            <a:endParaRPr lang="en-US" sz="1250" dirty="0"/>
          </a:p>
        </p:txBody>
      </p:sp>
      <p:sp>
        <p:nvSpPr>
          <p:cNvPr id="12" name="Text 9"/>
          <p:cNvSpPr/>
          <p:nvPr/>
        </p:nvSpPr>
        <p:spPr>
          <a:xfrm>
            <a:off x="1051560" y="3456432"/>
            <a:ext cx="4937760" cy="548640"/>
          </a:xfrm>
          <a:prstGeom prst="rect">
            <a:avLst/>
          </a:prstGeom>
          <a:noFill/>
          <a:ln/>
        </p:spPr>
        <p:txBody>
          <a:bodyPr wrap="square" rtlCol="0" anchor="ctr"/>
          <a:lstStyle/>
          <a:p>
            <a:pPr indent="0" marL="0">
              <a:lnSpc>
                <a:spcPct val="120000"/>
              </a:lnSpc>
              <a:buNone/>
            </a:pPr>
            <a:r>
              <a:rPr lang="en-US" sz="1030" dirty="0">
                <a:solidFill>
                  <a:srgbClr val="5A6B8C"/>
                </a:solidFill>
                <a:latin typeface="Calibri" pitchFamily="34" charset="0"/>
                <a:ea typeface="Calibri" pitchFamily="34" charset="-122"/>
                <a:cs typeface="Calibri" pitchFamily="34" charset="-120"/>
              </a:rPr>
              <a:t>The email came from a contact’s actual, compromised address and linked to something named "Google Docs."</a:t>
            </a:r>
            <a:endParaRPr lang="en-US" sz="1030" dirty="0"/>
          </a:p>
        </p:txBody>
      </p:sp>
      <p:sp>
        <p:nvSpPr>
          <p:cNvPr id="13" name="Shape 10"/>
          <p:cNvSpPr/>
          <p:nvPr/>
        </p:nvSpPr>
        <p:spPr>
          <a:xfrm>
            <a:off x="548640" y="3977640"/>
            <a:ext cx="365760" cy="365760"/>
          </a:xfrm>
          <a:prstGeom prst="roundRect">
            <a:avLst>
              <a:gd name="adj" fmla="val 15000"/>
            </a:avLst>
          </a:prstGeom>
          <a:solidFill>
            <a:srgbClr val="E63946"/>
          </a:solidFill>
          <a:ln/>
        </p:spPr>
      </p:sp>
      <p:sp>
        <p:nvSpPr>
          <p:cNvPr id="14" name="Text 11"/>
          <p:cNvSpPr/>
          <p:nvPr/>
        </p:nvSpPr>
        <p:spPr>
          <a:xfrm>
            <a:off x="548640" y="397764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1051560" y="3922776"/>
            <a:ext cx="493776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A malicious app, not a fake page</a:t>
            </a:r>
            <a:endParaRPr lang="en-US" sz="1250" dirty="0"/>
          </a:p>
        </p:txBody>
      </p:sp>
      <p:sp>
        <p:nvSpPr>
          <p:cNvPr id="16" name="Text 13"/>
          <p:cNvSpPr/>
          <p:nvPr/>
        </p:nvSpPr>
        <p:spPr>
          <a:xfrm>
            <a:off x="1051560" y="4233672"/>
            <a:ext cx="4937760" cy="548640"/>
          </a:xfrm>
          <a:prstGeom prst="rect">
            <a:avLst/>
          </a:prstGeom>
          <a:noFill/>
          <a:ln/>
        </p:spPr>
        <p:txBody>
          <a:bodyPr wrap="square" rtlCol="0" anchor="ctr"/>
          <a:lstStyle/>
          <a:p>
            <a:pPr indent="0" marL="0">
              <a:lnSpc>
                <a:spcPct val="120000"/>
              </a:lnSpc>
              <a:buNone/>
            </a:pPr>
            <a:r>
              <a:rPr lang="en-US" sz="1030" dirty="0">
                <a:solidFill>
                  <a:srgbClr val="5A6B8C"/>
                </a:solidFill>
                <a:latin typeface="Calibri" pitchFamily="34" charset="0"/>
                <a:ea typeface="Calibri" pitchFamily="34" charset="-122"/>
                <a:cs typeface="Calibri" pitchFamily="34" charset="-120"/>
              </a:rPr>
              <a:t>The link asked users to grant a look-alike third-party app permission to read and send their Gmail.</a:t>
            </a:r>
            <a:endParaRPr lang="en-US" sz="1030" dirty="0"/>
          </a:p>
        </p:txBody>
      </p:sp>
      <p:sp>
        <p:nvSpPr>
          <p:cNvPr id="17" name="Shape 14"/>
          <p:cNvSpPr/>
          <p:nvPr/>
        </p:nvSpPr>
        <p:spPr>
          <a:xfrm>
            <a:off x="548640" y="4754880"/>
            <a:ext cx="365760" cy="365760"/>
          </a:xfrm>
          <a:prstGeom prst="roundRect">
            <a:avLst>
              <a:gd name="adj" fmla="val 15000"/>
            </a:avLst>
          </a:prstGeom>
          <a:solidFill>
            <a:srgbClr val="E63946"/>
          </a:solidFill>
          <a:ln/>
        </p:spPr>
      </p:sp>
      <p:sp>
        <p:nvSpPr>
          <p:cNvPr id="18" name="Text 15"/>
          <p:cNvSpPr/>
          <p:nvPr/>
        </p:nvSpPr>
        <p:spPr>
          <a:xfrm>
            <a:off x="548640" y="475488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051560" y="4700016"/>
            <a:ext cx="493776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Self-propagation</a:t>
            </a:r>
            <a:endParaRPr lang="en-US" sz="1250" dirty="0"/>
          </a:p>
        </p:txBody>
      </p:sp>
      <p:sp>
        <p:nvSpPr>
          <p:cNvPr id="20" name="Text 17"/>
          <p:cNvSpPr/>
          <p:nvPr/>
        </p:nvSpPr>
        <p:spPr>
          <a:xfrm>
            <a:off x="1051560" y="5010912"/>
            <a:ext cx="4937760" cy="548640"/>
          </a:xfrm>
          <a:prstGeom prst="rect">
            <a:avLst/>
          </a:prstGeom>
          <a:noFill/>
          <a:ln/>
        </p:spPr>
        <p:txBody>
          <a:bodyPr wrap="square" rtlCol="0" anchor="ctr"/>
          <a:lstStyle/>
          <a:p>
            <a:pPr indent="0" marL="0">
              <a:lnSpc>
                <a:spcPct val="120000"/>
              </a:lnSpc>
              <a:buNone/>
            </a:pPr>
            <a:r>
              <a:rPr lang="en-US" sz="1030" dirty="0">
                <a:solidFill>
                  <a:srgbClr val="5A6B8C"/>
                </a:solidFill>
                <a:latin typeface="Calibri" pitchFamily="34" charset="0"/>
                <a:ea typeface="Calibri" pitchFamily="34" charset="-122"/>
                <a:cs typeface="Calibri" pitchFamily="34" charset="-120"/>
              </a:rPr>
              <a:t>Once granted access, the app auto-emailed the same invite to the victim’s entire contact list.</a:t>
            </a:r>
            <a:endParaRPr lang="en-US" sz="1030" dirty="0"/>
          </a:p>
        </p:txBody>
      </p:sp>
      <p:sp>
        <p:nvSpPr>
          <p:cNvPr id="21" name="Shape 18"/>
          <p:cNvSpPr/>
          <p:nvPr/>
        </p:nvSpPr>
        <p:spPr>
          <a:xfrm>
            <a:off x="548640" y="5532120"/>
            <a:ext cx="365760" cy="365760"/>
          </a:xfrm>
          <a:prstGeom prst="roundRect">
            <a:avLst>
              <a:gd name="adj" fmla="val 15000"/>
            </a:avLst>
          </a:prstGeom>
          <a:solidFill>
            <a:srgbClr val="E63946"/>
          </a:solidFill>
          <a:ln/>
        </p:spPr>
      </p:sp>
      <p:sp>
        <p:nvSpPr>
          <p:cNvPr id="22" name="Text 19"/>
          <p:cNvSpPr/>
          <p:nvPr/>
        </p:nvSpPr>
        <p:spPr>
          <a:xfrm>
            <a:off x="548640" y="55321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1051560" y="5477256"/>
            <a:ext cx="493776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Fast containment</a:t>
            </a:r>
            <a:endParaRPr lang="en-US" sz="1250" dirty="0"/>
          </a:p>
        </p:txBody>
      </p:sp>
      <p:sp>
        <p:nvSpPr>
          <p:cNvPr id="24" name="Text 21"/>
          <p:cNvSpPr/>
          <p:nvPr/>
        </p:nvSpPr>
        <p:spPr>
          <a:xfrm>
            <a:off x="1051560" y="5788152"/>
            <a:ext cx="4937760" cy="548640"/>
          </a:xfrm>
          <a:prstGeom prst="rect">
            <a:avLst/>
          </a:prstGeom>
          <a:noFill/>
          <a:ln/>
        </p:spPr>
        <p:txBody>
          <a:bodyPr wrap="square" rtlCol="0" anchor="ctr"/>
          <a:lstStyle/>
          <a:p>
            <a:pPr indent="0" marL="0">
              <a:lnSpc>
                <a:spcPct val="120000"/>
              </a:lnSpc>
              <a:buNone/>
            </a:pPr>
            <a:r>
              <a:rPr lang="en-US" sz="1030" dirty="0">
                <a:solidFill>
                  <a:srgbClr val="5A6B8C"/>
                </a:solidFill>
                <a:latin typeface="Calibri" pitchFamily="34" charset="0"/>
                <a:ea typeface="Calibri" pitchFamily="34" charset="-122"/>
                <a:cs typeface="Calibri" pitchFamily="34" charset="-120"/>
              </a:rPr>
              <a:t>Google disabled the offending app and pushed protections within about an hour of detection.</a:t>
            </a:r>
            <a:endParaRPr lang="en-US" sz="1030" dirty="0"/>
          </a:p>
        </p:txBody>
      </p:sp>
      <p:sp>
        <p:nvSpPr>
          <p:cNvPr id="25" name="Shape 22"/>
          <p:cNvSpPr/>
          <p:nvPr/>
        </p:nvSpPr>
        <p:spPr>
          <a:xfrm>
            <a:off x="6949440" y="1783080"/>
            <a:ext cx="4663440" cy="4617720"/>
          </a:xfrm>
          <a:prstGeom prst="roundRect">
            <a:avLst>
              <a:gd name="adj" fmla="val 1584"/>
            </a:avLst>
          </a:prstGeom>
          <a:solidFill>
            <a:srgbClr val="1E2761"/>
          </a:solidFill>
          <a:ln/>
        </p:spPr>
      </p:sp>
      <p:sp>
        <p:nvSpPr>
          <p:cNvPr id="26" name="Shape 23"/>
          <p:cNvSpPr/>
          <p:nvPr/>
        </p:nvSpPr>
        <p:spPr>
          <a:xfrm>
            <a:off x="7269480" y="2103120"/>
            <a:ext cx="594360" cy="594360"/>
          </a:xfrm>
          <a:prstGeom prst="ellipse">
            <a:avLst/>
          </a:prstGeom>
          <a:solidFill>
            <a:srgbClr val="E63946"/>
          </a:solidFill>
          <a:ln/>
        </p:spPr>
      </p:sp>
      <p:pic>
        <p:nvPicPr>
          <p:cNvPr id="27" name="Image 1" descr="icons/shield.png">    </p:cNvPr>
          <p:cNvPicPr>
            <a:picLocks noChangeAspect="1"/>
          </p:cNvPicPr>
          <p:nvPr/>
        </p:nvPicPr>
        <p:blipFill>
          <a:blip r:embed="rId2"/>
          <a:stretch>
            <a:fillRect/>
          </a:stretch>
        </p:blipFill>
        <p:spPr>
          <a:xfrm>
            <a:off x="7403211" y="2236851"/>
            <a:ext cx="326898" cy="326898"/>
          </a:xfrm>
          <a:prstGeom prst="rect">
            <a:avLst/>
          </a:prstGeom>
        </p:spPr>
      </p:pic>
      <p:sp>
        <p:nvSpPr>
          <p:cNvPr id="28" name="Text 24"/>
          <p:cNvSpPr/>
          <p:nvPr/>
        </p:nvSpPr>
        <p:spPr>
          <a:xfrm>
            <a:off x="8001000" y="2194560"/>
            <a:ext cx="338328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it mattered</a:t>
            </a:r>
            <a:endParaRPr lang="en-US" sz="1600" dirty="0"/>
          </a:p>
        </p:txBody>
      </p:sp>
      <p:sp>
        <p:nvSpPr>
          <p:cNvPr id="29" name="Shape 25"/>
          <p:cNvSpPr/>
          <p:nvPr/>
        </p:nvSpPr>
        <p:spPr>
          <a:xfrm>
            <a:off x="7269480" y="2990088"/>
            <a:ext cx="82296" cy="82296"/>
          </a:xfrm>
          <a:prstGeom prst="ellipse">
            <a:avLst/>
          </a:prstGeom>
          <a:solidFill>
            <a:srgbClr val="E63946"/>
          </a:solidFill>
          <a:ln/>
        </p:spPr>
      </p:sp>
      <p:sp>
        <p:nvSpPr>
          <p:cNvPr id="30" name="Text 26"/>
          <p:cNvSpPr/>
          <p:nvPr/>
        </p:nvSpPr>
        <p:spPr>
          <a:xfrm>
            <a:off x="7498080" y="2852928"/>
            <a:ext cx="3931920" cy="777240"/>
          </a:xfrm>
          <a:prstGeom prst="rect">
            <a:avLst/>
          </a:prstGeom>
          <a:noFill/>
          <a:ln/>
        </p:spPr>
        <p:txBody>
          <a:bodyPr wrap="square"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It came from someone you actually know — reputation and familiarity were the whole attack.</a:t>
            </a:r>
            <a:endParaRPr lang="en-US" sz="1150" dirty="0"/>
          </a:p>
        </p:txBody>
      </p:sp>
      <p:sp>
        <p:nvSpPr>
          <p:cNvPr id="31" name="Shape 27"/>
          <p:cNvSpPr/>
          <p:nvPr/>
        </p:nvSpPr>
        <p:spPr>
          <a:xfrm>
            <a:off x="7269480" y="3904488"/>
            <a:ext cx="82296" cy="82296"/>
          </a:xfrm>
          <a:prstGeom prst="ellipse">
            <a:avLst/>
          </a:prstGeom>
          <a:solidFill>
            <a:srgbClr val="E63946"/>
          </a:solidFill>
          <a:ln/>
        </p:spPr>
      </p:sp>
      <p:sp>
        <p:nvSpPr>
          <p:cNvPr id="32" name="Text 28"/>
          <p:cNvSpPr/>
          <p:nvPr/>
        </p:nvSpPr>
        <p:spPr>
          <a:xfrm>
            <a:off x="7498080" y="3767328"/>
            <a:ext cx="3931920" cy="777240"/>
          </a:xfrm>
          <a:prstGeom prst="rect">
            <a:avLst/>
          </a:prstGeom>
          <a:noFill/>
          <a:ln/>
        </p:spPr>
        <p:txBody>
          <a:bodyPr wrap="square"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It abused app permissions, not passwords, so a password reset alone wouldn’t have stopped it.</a:t>
            </a:r>
            <a:endParaRPr lang="en-US" sz="1150" dirty="0"/>
          </a:p>
        </p:txBody>
      </p:sp>
      <p:sp>
        <p:nvSpPr>
          <p:cNvPr id="33" name="Shape 29"/>
          <p:cNvSpPr/>
          <p:nvPr/>
        </p:nvSpPr>
        <p:spPr>
          <a:xfrm>
            <a:off x="7269480" y="4818888"/>
            <a:ext cx="82296" cy="82296"/>
          </a:xfrm>
          <a:prstGeom prst="ellipse">
            <a:avLst/>
          </a:prstGeom>
          <a:solidFill>
            <a:srgbClr val="E63946"/>
          </a:solidFill>
          <a:ln/>
        </p:spPr>
      </p:sp>
      <p:sp>
        <p:nvSpPr>
          <p:cNvPr id="34" name="Text 30"/>
          <p:cNvSpPr/>
          <p:nvPr/>
        </p:nvSpPr>
        <p:spPr>
          <a:xfrm>
            <a:off x="7498080" y="4681728"/>
            <a:ext cx="3931920" cy="777240"/>
          </a:xfrm>
          <a:prstGeom prst="rect">
            <a:avLst/>
          </a:prstGeom>
          <a:noFill/>
          <a:ln/>
        </p:spPr>
        <p:txBody>
          <a:bodyPr wrap="square"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It spread exponentially: every click created new, equally convincing invites.</a:t>
            </a:r>
            <a:endParaRPr lang="en-US" sz="1150" dirty="0"/>
          </a:p>
        </p:txBody>
      </p:sp>
      <p:sp>
        <p:nvSpPr>
          <p:cNvPr id="35" name="Shape 31"/>
          <p:cNvSpPr/>
          <p:nvPr/>
        </p:nvSpPr>
        <p:spPr>
          <a:xfrm>
            <a:off x="7269480" y="5715000"/>
            <a:ext cx="4069080" cy="0"/>
          </a:xfrm>
          <a:prstGeom prst="line">
            <a:avLst/>
          </a:prstGeom>
          <a:noFill/>
          <a:ln w="12700">
            <a:solidFill>
              <a:srgbClr val="32407A"/>
            </a:solidFill>
            <a:prstDash val="solid"/>
          </a:ln>
        </p:spPr>
      </p:sp>
      <p:sp>
        <p:nvSpPr>
          <p:cNvPr id="36" name="Text 32"/>
          <p:cNvSpPr/>
          <p:nvPr/>
        </p:nvSpPr>
        <p:spPr>
          <a:xfrm>
            <a:off x="7269480" y="5852160"/>
            <a:ext cx="3657600" cy="274320"/>
          </a:xfrm>
          <a:prstGeom prst="rect">
            <a:avLst/>
          </a:prstGeom>
          <a:noFill/>
          <a:ln/>
        </p:spPr>
        <p:txBody>
          <a:bodyPr wrap="square" rtlCol="0" anchor="ctr"/>
          <a:lstStyle/>
          <a:p>
            <a:pPr indent="0" marL="0">
              <a:buNone/>
            </a:pPr>
            <a:r>
              <a:rPr lang="en-US" sz="1100" b="1" spc="150" kern="0" dirty="0">
                <a:solidFill>
                  <a:srgbClr val="E63946"/>
                </a:solidFill>
                <a:latin typeface="Calibri" pitchFamily="34" charset="0"/>
                <a:ea typeface="Calibri" pitchFamily="34" charset="-122"/>
                <a:cs typeface="Calibri" pitchFamily="34" charset="-120"/>
              </a:rPr>
              <a:t>TAKEAWAY</a:t>
            </a:r>
            <a:endParaRPr lang="en-US" sz="1100" dirty="0"/>
          </a:p>
        </p:txBody>
      </p:sp>
      <p:sp>
        <p:nvSpPr>
          <p:cNvPr id="37" name="Text 33"/>
          <p:cNvSpPr/>
          <p:nvPr/>
        </p:nvSpPr>
        <p:spPr>
          <a:xfrm>
            <a:off x="7269480" y="6126480"/>
            <a:ext cx="4023360" cy="822960"/>
          </a:xfrm>
          <a:prstGeom prst="rect">
            <a:avLst/>
          </a:prstGeom>
          <a:noFill/>
          <a:ln/>
        </p:spPr>
        <p:txBody>
          <a:bodyPr wrap="square" rtlCol="0" anchor="ctr"/>
          <a:lstStyle/>
          <a:p>
            <a:pPr indent="0" marL="0">
              <a:lnSpc>
                <a:spcPct val="125000"/>
              </a:lnSpc>
              <a:buNone/>
            </a:pPr>
            <a:r>
              <a:rPr lang="en-US" sz="1100" dirty="0">
                <a:solidFill>
                  <a:srgbClr val="FFFFFF"/>
                </a:solidFill>
                <a:latin typeface="Calibri" pitchFamily="34" charset="0"/>
                <a:ea typeface="Calibri" pitchFamily="34" charset="-122"/>
                <a:cs typeface="Calibri" pitchFamily="34" charset="-120"/>
              </a:rPr>
              <a:t>Be cautious granting any third-party app access to your email or files — review permissions periodically, even for tools that look official.</a:t>
            </a:r>
            <a:endParaRPr lang="en-US" sz="1100" dirty="0"/>
          </a:p>
        </p:txBody>
      </p:sp>
      <p:sp>
        <p:nvSpPr>
          <p:cNvPr id="38" name="Text 34"/>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1E2761"/>
          </a:solidFill>
          <a:ln/>
        </p:spPr>
      </p:sp>
      <p:sp>
        <p:nvSpPr>
          <p:cNvPr id="3" name="Text 1"/>
          <p:cNvSpPr/>
          <p:nvPr/>
        </p:nvSpPr>
        <p:spPr>
          <a:xfrm>
            <a:off x="548640" y="32004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CASE STUDY · 2023</a:t>
            </a:r>
            <a:endParaRPr lang="en-US" sz="1250" dirty="0"/>
          </a:p>
        </p:txBody>
      </p:sp>
      <p:sp>
        <p:nvSpPr>
          <p:cNvPr id="4" name="Text 2"/>
          <p:cNvSpPr/>
          <p:nvPr/>
        </p:nvSpPr>
        <p:spPr>
          <a:xfrm>
            <a:off x="548640" y="594360"/>
            <a:ext cx="9601200" cy="73152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MGM Resorts help-desk breach</a:t>
            </a:r>
            <a:endParaRPr lang="en-US" sz="2700" dirty="0"/>
          </a:p>
        </p:txBody>
      </p:sp>
      <p:sp>
        <p:nvSpPr>
          <p:cNvPr id="5" name="Shape 3"/>
          <p:cNvSpPr/>
          <p:nvPr/>
        </p:nvSpPr>
        <p:spPr>
          <a:xfrm>
            <a:off x="548640" y="1783080"/>
            <a:ext cx="685800" cy="685800"/>
          </a:xfrm>
          <a:prstGeom prst="ellipse">
            <a:avLst/>
          </a:prstGeom>
          <a:solidFill>
            <a:srgbClr val="1E2761"/>
          </a:solidFill>
          <a:ln/>
        </p:spPr>
      </p:sp>
      <p:pic>
        <p:nvPicPr>
          <p:cNvPr id="6" name="Image 0" descr="icons/headset.png">    </p:cNvPr>
          <p:cNvPicPr>
            <a:picLocks noChangeAspect="1"/>
          </p:cNvPicPr>
          <p:nvPr/>
        </p:nvPicPr>
        <p:blipFill>
          <a:blip r:embed="rId1"/>
          <a:stretch>
            <a:fillRect/>
          </a:stretch>
        </p:blipFill>
        <p:spPr>
          <a:xfrm>
            <a:off x="720090" y="1954530"/>
            <a:ext cx="342900" cy="342900"/>
          </a:xfrm>
          <a:prstGeom prst="rect">
            <a:avLst/>
          </a:prstGeom>
        </p:spPr>
      </p:pic>
      <p:sp>
        <p:nvSpPr>
          <p:cNvPr id="7" name="Text 4"/>
          <p:cNvSpPr/>
          <p:nvPr/>
        </p:nvSpPr>
        <p:spPr>
          <a:xfrm>
            <a:off x="1417320" y="1828800"/>
            <a:ext cx="5486400" cy="365760"/>
          </a:xfrm>
          <a:prstGeom prst="rect">
            <a:avLst/>
          </a:prstGeom>
          <a:noFill/>
          <a:ln/>
        </p:spPr>
        <p:txBody>
          <a:bodyPr wrap="square" rtlCol="0" anchor="ctr"/>
          <a:lstStyle/>
          <a:p>
            <a:pPr indent="0" marL="0">
              <a:buNone/>
            </a:pPr>
            <a:r>
              <a:rPr lang="en-US" sz="1500" b="1" dirty="0">
                <a:solidFill>
                  <a:srgbClr val="1B2033"/>
                </a:solidFill>
                <a:latin typeface="Calibri" pitchFamily="34" charset="0"/>
                <a:ea typeface="Calibri" pitchFamily="34" charset="-122"/>
                <a:cs typeface="Calibri" pitchFamily="34" charset="-120"/>
              </a:rPr>
              <a:t>One ten-minute phone call</a:t>
            </a:r>
            <a:endParaRPr lang="en-US" sz="1500" dirty="0"/>
          </a:p>
        </p:txBody>
      </p:sp>
      <p:sp>
        <p:nvSpPr>
          <p:cNvPr id="8" name="Text 5"/>
          <p:cNvSpPr/>
          <p:nvPr/>
        </p:nvSpPr>
        <p:spPr>
          <a:xfrm>
            <a:off x="1417320" y="2194560"/>
            <a:ext cx="5486400" cy="822960"/>
          </a:xfrm>
          <a:prstGeom prst="rect">
            <a:avLst/>
          </a:prstGeom>
          <a:noFill/>
          <a:ln/>
        </p:spPr>
        <p:txBody>
          <a:bodyPr wrap="square" rtlCol="0" anchor="ctr"/>
          <a:lstStyle/>
          <a:p>
            <a:pPr indent="0" marL="0">
              <a:lnSpc>
                <a:spcPct val="125000"/>
              </a:lnSpc>
              <a:buNone/>
            </a:pPr>
            <a:r>
              <a:rPr lang="en-US" sz="1150" dirty="0">
                <a:solidFill>
                  <a:srgbClr val="5A6B8C"/>
                </a:solidFill>
                <a:latin typeface="Calibri" pitchFamily="34" charset="0"/>
                <a:ea typeface="Calibri" pitchFamily="34" charset="-122"/>
                <a:cs typeface="Calibri" pitchFamily="34" charset="-120"/>
              </a:rPr>
              <a:t>Attackers found an employee’s profile on LinkedIn, then called the IT help desk pretending to be that employee locked out of their account.</a:t>
            </a:r>
            <a:endParaRPr lang="en-US" sz="1150" dirty="0"/>
          </a:p>
        </p:txBody>
      </p:sp>
      <p:sp>
        <p:nvSpPr>
          <p:cNvPr id="9" name="Shape 6"/>
          <p:cNvSpPr/>
          <p:nvPr/>
        </p:nvSpPr>
        <p:spPr>
          <a:xfrm>
            <a:off x="548640" y="3200400"/>
            <a:ext cx="365760" cy="365760"/>
          </a:xfrm>
          <a:prstGeom prst="roundRect">
            <a:avLst>
              <a:gd name="adj" fmla="val 15000"/>
            </a:avLst>
          </a:prstGeom>
          <a:solidFill>
            <a:srgbClr val="E63946"/>
          </a:solidFill>
          <a:ln/>
        </p:spPr>
      </p:sp>
      <p:sp>
        <p:nvSpPr>
          <p:cNvPr id="10" name="Text 7"/>
          <p:cNvSpPr/>
          <p:nvPr/>
        </p:nvSpPr>
        <p:spPr>
          <a:xfrm>
            <a:off x="548640" y="32004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3145536"/>
            <a:ext cx="493776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No email involved at all</a:t>
            </a:r>
            <a:endParaRPr lang="en-US" sz="1250" dirty="0"/>
          </a:p>
        </p:txBody>
      </p:sp>
      <p:sp>
        <p:nvSpPr>
          <p:cNvPr id="12" name="Text 9"/>
          <p:cNvSpPr/>
          <p:nvPr/>
        </p:nvSpPr>
        <p:spPr>
          <a:xfrm>
            <a:off x="1051560" y="3456432"/>
            <a:ext cx="4937760" cy="548640"/>
          </a:xfrm>
          <a:prstGeom prst="rect">
            <a:avLst/>
          </a:prstGeom>
          <a:noFill/>
          <a:ln/>
        </p:spPr>
        <p:txBody>
          <a:bodyPr wrap="square" rtlCol="0" anchor="ctr"/>
          <a:lstStyle/>
          <a:p>
            <a:pPr indent="0" marL="0">
              <a:lnSpc>
                <a:spcPct val="120000"/>
              </a:lnSpc>
              <a:buNone/>
            </a:pPr>
            <a:r>
              <a:rPr lang="en-US" sz="1030" dirty="0">
                <a:solidFill>
                  <a:srgbClr val="5A6B8C"/>
                </a:solidFill>
                <a:latin typeface="Calibri" pitchFamily="34" charset="0"/>
                <a:ea typeface="Calibri" pitchFamily="34" charset="-122"/>
                <a:cs typeface="Calibri" pitchFamily="34" charset="-120"/>
              </a:rPr>
              <a:t>The intrusion started with a voice call — no malicious link or attachment needed.</a:t>
            </a:r>
            <a:endParaRPr lang="en-US" sz="1030" dirty="0"/>
          </a:p>
        </p:txBody>
      </p:sp>
      <p:sp>
        <p:nvSpPr>
          <p:cNvPr id="13" name="Shape 10"/>
          <p:cNvSpPr/>
          <p:nvPr/>
        </p:nvSpPr>
        <p:spPr>
          <a:xfrm>
            <a:off x="548640" y="3977640"/>
            <a:ext cx="365760" cy="365760"/>
          </a:xfrm>
          <a:prstGeom prst="roundRect">
            <a:avLst>
              <a:gd name="adj" fmla="val 15000"/>
            </a:avLst>
          </a:prstGeom>
          <a:solidFill>
            <a:srgbClr val="E63946"/>
          </a:solidFill>
          <a:ln/>
        </p:spPr>
      </p:sp>
      <p:sp>
        <p:nvSpPr>
          <p:cNvPr id="14" name="Text 11"/>
          <p:cNvSpPr/>
          <p:nvPr/>
        </p:nvSpPr>
        <p:spPr>
          <a:xfrm>
            <a:off x="548640" y="397764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1051560" y="3922776"/>
            <a:ext cx="493776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Impersonation, not hacking</a:t>
            </a:r>
            <a:endParaRPr lang="en-US" sz="1250" dirty="0"/>
          </a:p>
        </p:txBody>
      </p:sp>
      <p:sp>
        <p:nvSpPr>
          <p:cNvPr id="16" name="Text 13"/>
          <p:cNvSpPr/>
          <p:nvPr/>
        </p:nvSpPr>
        <p:spPr>
          <a:xfrm>
            <a:off x="1051560" y="4233672"/>
            <a:ext cx="4937760" cy="548640"/>
          </a:xfrm>
          <a:prstGeom prst="rect">
            <a:avLst/>
          </a:prstGeom>
          <a:noFill/>
          <a:ln/>
        </p:spPr>
        <p:txBody>
          <a:bodyPr wrap="square" rtlCol="0" anchor="ctr"/>
          <a:lstStyle/>
          <a:p>
            <a:pPr indent="0" marL="0">
              <a:lnSpc>
                <a:spcPct val="120000"/>
              </a:lnSpc>
              <a:buNone/>
            </a:pPr>
            <a:r>
              <a:rPr lang="en-US" sz="1030" dirty="0">
                <a:solidFill>
                  <a:srgbClr val="5A6B8C"/>
                </a:solidFill>
                <a:latin typeface="Calibri" pitchFamily="34" charset="0"/>
                <a:ea typeface="Calibri" pitchFamily="34" charset="-122"/>
                <a:cs typeface="Calibri" pitchFamily="34" charset="-120"/>
              </a:rPr>
              <a:t>Publicly available details (name, role) were enough to sound convincing to a help-desk agent.</a:t>
            </a:r>
            <a:endParaRPr lang="en-US" sz="1030" dirty="0"/>
          </a:p>
        </p:txBody>
      </p:sp>
      <p:sp>
        <p:nvSpPr>
          <p:cNvPr id="17" name="Shape 14"/>
          <p:cNvSpPr/>
          <p:nvPr/>
        </p:nvSpPr>
        <p:spPr>
          <a:xfrm>
            <a:off x="548640" y="4754880"/>
            <a:ext cx="365760" cy="365760"/>
          </a:xfrm>
          <a:prstGeom prst="roundRect">
            <a:avLst>
              <a:gd name="adj" fmla="val 15000"/>
            </a:avLst>
          </a:prstGeom>
          <a:solidFill>
            <a:srgbClr val="E63946"/>
          </a:solidFill>
          <a:ln/>
        </p:spPr>
      </p:sp>
      <p:sp>
        <p:nvSpPr>
          <p:cNvPr id="18" name="Text 15"/>
          <p:cNvSpPr/>
          <p:nvPr/>
        </p:nvSpPr>
        <p:spPr>
          <a:xfrm>
            <a:off x="548640" y="475488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051560" y="4700016"/>
            <a:ext cx="493776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Credentials reset, not stolen</a:t>
            </a:r>
            <a:endParaRPr lang="en-US" sz="1250" dirty="0"/>
          </a:p>
        </p:txBody>
      </p:sp>
      <p:sp>
        <p:nvSpPr>
          <p:cNvPr id="20" name="Text 17"/>
          <p:cNvSpPr/>
          <p:nvPr/>
        </p:nvSpPr>
        <p:spPr>
          <a:xfrm>
            <a:off x="1051560" y="5010912"/>
            <a:ext cx="4937760" cy="548640"/>
          </a:xfrm>
          <a:prstGeom prst="rect">
            <a:avLst/>
          </a:prstGeom>
          <a:noFill/>
          <a:ln/>
        </p:spPr>
        <p:txBody>
          <a:bodyPr wrap="square" rtlCol="0" anchor="ctr"/>
          <a:lstStyle/>
          <a:p>
            <a:pPr indent="0" marL="0">
              <a:lnSpc>
                <a:spcPct val="120000"/>
              </a:lnSpc>
              <a:buNone/>
            </a:pPr>
            <a:r>
              <a:rPr lang="en-US" sz="1030" dirty="0">
                <a:solidFill>
                  <a:srgbClr val="5A6B8C"/>
                </a:solidFill>
                <a:latin typeface="Calibri" pitchFamily="34" charset="0"/>
                <a:ea typeface="Calibri" pitchFamily="34" charset="-122"/>
                <a:cs typeface="Calibri" pitchFamily="34" charset="-120"/>
              </a:rPr>
              <a:t>The help desk reset the account itself, granting attackers a valid login.</a:t>
            </a:r>
            <a:endParaRPr lang="en-US" sz="1030" dirty="0"/>
          </a:p>
        </p:txBody>
      </p:sp>
      <p:sp>
        <p:nvSpPr>
          <p:cNvPr id="21" name="Shape 18"/>
          <p:cNvSpPr/>
          <p:nvPr/>
        </p:nvSpPr>
        <p:spPr>
          <a:xfrm>
            <a:off x="548640" y="5532120"/>
            <a:ext cx="365760" cy="365760"/>
          </a:xfrm>
          <a:prstGeom prst="roundRect">
            <a:avLst>
              <a:gd name="adj" fmla="val 15000"/>
            </a:avLst>
          </a:prstGeom>
          <a:solidFill>
            <a:srgbClr val="E63946"/>
          </a:solidFill>
          <a:ln/>
        </p:spPr>
      </p:sp>
      <p:sp>
        <p:nvSpPr>
          <p:cNvPr id="22" name="Text 19"/>
          <p:cNvSpPr/>
          <p:nvPr/>
        </p:nvSpPr>
        <p:spPr>
          <a:xfrm>
            <a:off x="548640" y="55321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1051560" y="5477256"/>
            <a:ext cx="4937760" cy="320040"/>
          </a:xfrm>
          <a:prstGeom prst="rect">
            <a:avLst/>
          </a:prstGeom>
          <a:noFill/>
          <a:ln/>
        </p:spPr>
        <p:txBody>
          <a:bodyPr wrap="square" rtlCol="0" anchor="ctr"/>
          <a:lstStyle/>
          <a:p>
            <a:pPr indent="0" marL="0">
              <a:buNone/>
            </a:pPr>
            <a:r>
              <a:rPr lang="en-US" sz="1250" b="1" dirty="0">
                <a:solidFill>
                  <a:srgbClr val="1B2033"/>
                </a:solidFill>
                <a:latin typeface="Calibri" pitchFamily="34" charset="0"/>
                <a:ea typeface="Calibri" pitchFamily="34" charset="-122"/>
                <a:cs typeface="Calibri" pitchFamily="34" charset="-120"/>
              </a:rPr>
              <a:t>Days of shutdown</a:t>
            </a:r>
            <a:endParaRPr lang="en-US" sz="1250" dirty="0"/>
          </a:p>
        </p:txBody>
      </p:sp>
      <p:sp>
        <p:nvSpPr>
          <p:cNvPr id="24" name="Text 21"/>
          <p:cNvSpPr/>
          <p:nvPr/>
        </p:nvSpPr>
        <p:spPr>
          <a:xfrm>
            <a:off x="1051560" y="5788152"/>
            <a:ext cx="4937760" cy="548640"/>
          </a:xfrm>
          <a:prstGeom prst="rect">
            <a:avLst/>
          </a:prstGeom>
          <a:noFill/>
          <a:ln/>
        </p:spPr>
        <p:txBody>
          <a:bodyPr wrap="square" rtlCol="0" anchor="ctr"/>
          <a:lstStyle/>
          <a:p>
            <a:pPr indent="0" marL="0">
              <a:lnSpc>
                <a:spcPct val="120000"/>
              </a:lnSpc>
              <a:buNone/>
            </a:pPr>
            <a:r>
              <a:rPr lang="en-US" sz="1030" dirty="0">
                <a:solidFill>
                  <a:srgbClr val="5A6B8C"/>
                </a:solidFill>
                <a:latin typeface="Calibri" pitchFamily="34" charset="0"/>
                <a:ea typeface="Calibri" pitchFamily="34" charset="-122"/>
                <a:cs typeface="Calibri" pitchFamily="34" charset="-120"/>
              </a:rPr>
              <a:t>Casino floors, hotel systems, and websites went offline for days; costs ran into the hundreds of millions.</a:t>
            </a:r>
            <a:endParaRPr lang="en-US" sz="1030" dirty="0"/>
          </a:p>
        </p:txBody>
      </p:sp>
      <p:sp>
        <p:nvSpPr>
          <p:cNvPr id="25" name="Shape 22"/>
          <p:cNvSpPr/>
          <p:nvPr/>
        </p:nvSpPr>
        <p:spPr>
          <a:xfrm>
            <a:off x="6949440" y="1783080"/>
            <a:ext cx="4663440" cy="4617720"/>
          </a:xfrm>
          <a:prstGeom prst="roundRect">
            <a:avLst>
              <a:gd name="adj" fmla="val 1584"/>
            </a:avLst>
          </a:prstGeom>
          <a:solidFill>
            <a:srgbClr val="1E2761"/>
          </a:solidFill>
          <a:ln/>
        </p:spPr>
      </p:sp>
      <p:sp>
        <p:nvSpPr>
          <p:cNvPr id="26" name="Shape 23"/>
          <p:cNvSpPr/>
          <p:nvPr/>
        </p:nvSpPr>
        <p:spPr>
          <a:xfrm>
            <a:off x="7269480" y="2103120"/>
            <a:ext cx="594360" cy="594360"/>
          </a:xfrm>
          <a:prstGeom prst="ellipse">
            <a:avLst/>
          </a:prstGeom>
          <a:solidFill>
            <a:srgbClr val="E63946"/>
          </a:solidFill>
          <a:ln/>
        </p:spPr>
      </p:sp>
      <p:pic>
        <p:nvPicPr>
          <p:cNvPr id="27" name="Image 1" descr="icons/shield.png">    </p:cNvPr>
          <p:cNvPicPr>
            <a:picLocks noChangeAspect="1"/>
          </p:cNvPicPr>
          <p:nvPr/>
        </p:nvPicPr>
        <p:blipFill>
          <a:blip r:embed="rId2"/>
          <a:stretch>
            <a:fillRect/>
          </a:stretch>
        </p:blipFill>
        <p:spPr>
          <a:xfrm>
            <a:off x="7403211" y="2236851"/>
            <a:ext cx="326898" cy="326898"/>
          </a:xfrm>
          <a:prstGeom prst="rect">
            <a:avLst/>
          </a:prstGeom>
        </p:spPr>
      </p:pic>
      <p:sp>
        <p:nvSpPr>
          <p:cNvPr id="28" name="Text 24"/>
          <p:cNvSpPr/>
          <p:nvPr/>
        </p:nvSpPr>
        <p:spPr>
          <a:xfrm>
            <a:off x="8001000" y="2194560"/>
            <a:ext cx="338328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it mattered</a:t>
            </a:r>
            <a:endParaRPr lang="en-US" sz="1600" dirty="0"/>
          </a:p>
        </p:txBody>
      </p:sp>
      <p:sp>
        <p:nvSpPr>
          <p:cNvPr id="29" name="Shape 25"/>
          <p:cNvSpPr/>
          <p:nvPr/>
        </p:nvSpPr>
        <p:spPr>
          <a:xfrm>
            <a:off x="7269480" y="2990088"/>
            <a:ext cx="82296" cy="82296"/>
          </a:xfrm>
          <a:prstGeom prst="ellipse">
            <a:avLst/>
          </a:prstGeom>
          <a:solidFill>
            <a:srgbClr val="E63946"/>
          </a:solidFill>
          <a:ln/>
        </p:spPr>
      </p:sp>
      <p:sp>
        <p:nvSpPr>
          <p:cNvPr id="30" name="Text 26"/>
          <p:cNvSpPr/>
          <p:nvPr/>
        </p:nvSpPr>
        <p:spPr>
          <a:xfrm>
            <a:off x="7498080" y="2852928"/>
            <a:ext cx="3931920" cy="777240"/>
          </a:xfrm>
          <a:prstGeom prst="rect">
            <a:avLst/>
          </a:prstGeom>
          <a:noFill/>
          <a:ln/>
        </p:spPr>
        <p:txBody>
          <a:bodyPr wrap="square"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No email filter, antivirus, or link scanner could have caught this — it targeted a person’s judgment on the phone.</a:t>
            </a:r>
            <a:endParaRPr lang="en-US" sz="1150" dirty="0"/>
          </a:p>
        </p:txBody>
      </p:sp>
      <p:sp>
        <p:nvSpPr>
          <p:cNvPr id="31" name="Shape 27"/>
          <p:cNvSpPr/>
          <p:nvPr/>
        </p:nvSpPr>
        <p:spPr>
          <a:xfrm>
            <a:off x="7269480" y="3904488"/>
            <a:ext cx="82296" cy="82296"/>
          </a:xfrm>
          <a:prstGeom prst="ellipse">
            <a:avLst/>
          </a:prstGeom>
          <a:solidFill>
            <a:srgbClr val="E63946"/>
          </a:solidFill>
          <a:ln/>
        </p:spPr>
      </p:sp>
      <p:sp>
        <p:nvSpPr>
          <p:cNvPr id="32" name="Text 28"/>
          <p:cNvSpPr/>
          <p:nvPr/>
        </p:nvSpPr>
        <p:spPr>
          <a:xfrm>
            <a:off x="7498080" y="3767328"/>
            <a:ext cx="3931920" cy="777240"/>
          </a:xfrm>
          <a:prstGeom prst="rect">
            <a:avLst/>
          </a:prstGeom>
          <a:noFill/>
          <a:ln/>
        </p:spPr>
        <p:txBody>
          <a:bodyPr wrap="square"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It shows vishing works on trained staff too, when the caller sounds confident and the story is plausible.</a:t>
            </a:r>
            <a:endParaRPr lang="en-US" sz="1150" dirty="0"/>
          </a:p>
        </p:txBody>
      </p:sp>
      <p:sp>
        <p:nvSpPr>
          <p:cNvPr id="33" name="Shape 29"/>
          <p:cNvSpPr/>
          <p:nvPr/>
        </p:nvSpPr>
        <p:spPr>
          <a:xfrm>
            <a:off x="7269480" y="4818888"/>
            <a:ext cx="82296" cy="82296"/>
          </a:xfrm>
          <a:prstGeom prst="ellipse">
            <a:avLst/>
          </a:prstGeom>
          <a:solidFill>
            <a:srgbClr val="E63946"/>
          </a:solidFill>
          <a:ln/>
        </p:spPr>
      </p:sp>
      <p:sp>
        <p:nvSpPr>
          <p:cNvPr id="34" name="Text 30"/>
          <p:cNvSpPr/>
          <p:nvPr/>
        </p:nvSpPr>
        <p:spPr>
          <a:xfrm>
            <a:off x="7498080" y="4681728"/>
            <a:ext cx="3931920" cy="777240"/>
          </a:xfrm>
          <a:prstGeom prst="rect">
            <a:avLst/>
          </a:prstGeom>
          <a:noFill/>
          <a:ln/>
        </p:spPr>
        <p:txBody>
          <a:bodyPr wrap="square"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Publicly posted job titles and org details gave attackers everything they needed to sound legitimate.</a:t>
            </a:r>
            <a:endParaRPr lang="en-US" sz="1150" dirty="0"/>
          </a:p>
        </p:txBody>
      </p:sp>
      <p:sp>
        <p:nvSpPr>
          <p:cNvPr id="35" name="Shape 31"/>
          <p:cNvSpPr/>
          <p:nvPr/>
        </p:nvSpPr>
        <p:spPr>
          <a:xfrm>
            <a:off x="7269480" y="5715000"/>
            <a:ext cx="4069080" cy="0"/>
          </a:xfrm>
          <a:prstGeom prst="line">
            <a:avLst/>
          </a:prstGeom>
          <a:noFill/>
          <a:ln w="12700">
            <a:solidFill>
              <a:srgbClr val="32407A"/>
            </a:solidFill>
            <a:prstDash val="solid"/>
          </a:ln>
        </p:spPr>
      </p:sp>
      <p:sp>
        <p:nvSpPr>
          <p:cNvPr id="36" name="Text 32"/>
          <p:cNvSpPr/>
          <p:nvPr/>
        </p:nvSpPr>
        <p:spPr>
          <a:xfrm>
            <a:off x="7269480" y="5852160"/>
            <a:ext cx="3657600" cy="274320"/>
          </a:xfrm>
          <a:prstGeom prst="rect">
            <a:avLst/>
          </a:prstGeom>
          <a:noFill/>
          <a:ln/>
        </p:spPr>
        <p:txBody>
          <a:bodyPr wrap="square" rtlCol="0" anchor="ctr"/>
          <a:lstStyle/>
          <a:p>
            <a:pPr indent="0" marL="0">
              <a:buNone/>
            </a:pPr>
            <a:r>
              <a:rPr lang="en-US" sz="1100" b="1" spc="150" kern="0" dirty="0">
                <a:solidFill>
                  <a:srgbClr val="E63946"/>
                </a:solidFill>
                <a:latin typeface="Calibri" pitchFamily="34" charset="0"/>
                <a:ea typeface="Calibri" pitchFamily="34" charset="-122"/>
                <a:cs typeface="Calibri" pitchFamily="34" charset="-120"/>
              </a:rPr>
              <a:t>TAKEAWAY</a:t>
            </a:r>
            <a:endParaRPr lang="en-US" sz="1100" dirty="0"/>
          </a:p>
        </p:txBody>
      </p:sp>
      <p:sp>
        <p:nvSpPr>
          <p:cNvPr id="37" name="Text 33"/>
          <p:cNvSpPr/>
          <p:nvPr/>
        </p:nvSpPr>
        <p:spPr>
          <a:xfrm>
            <a:off x="7269480" y="6126480"/>
            <a:ext cx="4023360" cy="822960"/>
          </a:xfrm>
          <a:prstGeom prst="rect">
            <a:avLst/>
          </a:prstGeom>
          <a:noFill/>
          <a:ln/>
        </p:spPr>
        <p:txBody>
          <a:bodyPr wrap="square" rtlCol="0" anchor="ctr"/>
          <a:lstStyle/>
          <a:p>
            <a:pPr indent="0" marL="0">
              <a:lnSpc>
                <a:spcPct val="125000"/>
              </a:lnSpc>
              <a:buNone/>
            </a:pPr>
            <a:r>
              <a:rPr lang="en-US" sz="1100" dirty="0">
                <a:solidFill>
                  <a:srgbClr val="FFFFFF"/>
                </a:solidFill>
                <a:latin typeface="Calibri" pitchFamily="34" charset="0"/>
                <a:ea typeface="Calibri" pitchFamily="34" charset="-122"/>
                <a:cs typeface="Calibri" pitchFamily="34" charset="-120"/>
              </a:rPr>
              <a:t>Verify identity through a second channel before resetting credentials or granting access — no matter how confident or urgent the caller sounds.</a:t>
            </a:r>
            <a:endParaRPr lang="en-US" sz="1100" dirty="0"/>
          </a:p>
        </p:txBody>
      </p:sp>
      <p:sp>
        <p:nvSpPr>
          <p:cNvPr id="38" name="Text 34"/>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YOUR EVERYDAY DEFENSE</a:t>
            </a:r>
            <a:endParaRPr lang="en-US" sz="1250" dirty="0"/>
          </a:p>
        </p:txBody>
      </p:sp>
      <p:sp>
        <p:nvSpPr>
          <p:cNvPr id="3" name="Text 1"/>
          <p:cNvSpPr/>
          <p:nvPr/>
        </p:nvSpPr>
        <p:spPr>
          <a:xfrm>
            <a:off x="548640" y="749808"/>
            <a:ext cx="10515600" cy="822960"/>
          </a:xfrm>
          <a:prstGeom prst="rect">
            <a:avLst/>
          </a:prstGeom>
          <a:noFill/>
          <a:ln/>
        </p:spPr>
        <p:txBody>
          <a:bodyPr wrap="square" rtlCol="0" anchor="ctr"/>
          <a:lstStyle/>
          <a:p>
            <a:pPr indent="0" marL="0">
              <a:buNone/>
            </a:pPr>
            <a:r>
              <a:rPr lang="en-US" sz="3000" b="1" dirty="0">
                <a:solidFill>
                  <a:srgbClr val="1B2033"/>
                </a:solidFill>
                <a:latin typeface="Cambria" pitchFamily="34" charset="0"/>
                <a:ea typeface="Cambria" pitchFamily="34" charset="-122"/>
                <a:cs typeface="Cambria" pitchFamily="34" charset="-120"/>
              </a:rPr>
              <a:t>Best practices</a:t>
            </a:r>
            <a:endParaRPr lang="en-US" sz="3000" dirty="0"/>
          </a:p>
        </p:txBody>
      </p:sp>
      <p:sp>
        <p:nvSpPr>
          <p:cNvPr id="4" name="Shape 2"/>
          <p:cNvSpPr/>
          <p:nvPr/>
        </p:nvSpPr>
        <p:spPr>
          <a:xfrm>
            <a:off x="548640" y="1874520"/>
            <a:ext cx="5349240" cy="4526280"/>
          </a:xfrm>
          <a:prstGeom prst="roundRect">
            <a:avLst>
              <a:gd name="adj" fmla="val 1616"/>
            </a:avLst>
          </a:prstGeom>
          <a:solidFill>
            <a:srgbClr val="FFFFFF"/>
          </a:solidFill>
          <a:ln/>
          <a:effectLst>
            <a:outerShdw sx="100000" sy="100000" kx="0" ky="0" algn="bl" rotWithShape="0" blurRad="101600" dist="38100" dir="5400000">
              <a:srgbClr val="3B4A6B">
                <a:alpha val="15000"/>
              </a:srgbClr>
            </a:outerShdw>
          </a:effectLst>
        </p:spPr>
      </p:sp>
      <p:sp>
        <p:nvSpPr>
          <p:cNvPr id="5" name="Shape 3"/>
          <p:cNvSpPr/>
          <p:nvPr/>
        </p:nvSpPr>
        <p:spPr>
          <a:xfrm>
            <a:off x="822960" y="2103120"/>
            <a:ext cx="502920" cy="502920"/>
          </a:xfrm>
          <a:prstGeom prst="ellipse">
            <a:avLst/>
          </a:prstGeom>
          <a:solidFill>
            <a:srgbClr val="2A9D6F"/>
          </a:solidFill>
          <a:ln/>
        </p:spPr>
      </p:sp>
      <p:pic>
        <p:nvPicPr>
          <p:cNvPr id="6" name="Image 0" descr="icons/check.png">    </p:cNvPr>
          <p:cNvPicPr>
            <a:picLocks noChangeAspect="1"/>
          </p:cNvPicPr>
          <p:nvPr/>
        </p:nvPicPr>
        <p:blipFill>
          <a:blip r:embed="rId1"/>
          <a:stretch>
            <a:fillRect/>
          </a:stretch>
        </p:blipFill>
        <p:spPr>
          <a:xfrm>
            <a:off x="923544" y="2203704"/>
            <a:ext cx="301752" cy="301752"/>
          </a:xfrm>
          <a:prstGeom prst="rect">
            <a:avLst/>
          </a:prstGeom>
        </p:spPr>
      </p:pic>
      <p:sp>
        <p:nvSpPr>
          <p:cNvPr id="7" name="Text 4"/>
          <p:cNvSpPr/>
          <p:nvPr/>
        </p:nvSpPr>
        <p:spPr>
          <a:xfrm>
            <a:off x="1417320" y="2148840"/>
            <a:ext cx="2743200" cy="411480"/>
          </a:xfrm>
          <a:prstGeom prst="rect">
            <a:avLst/>
          </a:prstGeom>
          <a:noFill/>
          <a:ln/>
        </p:spPr>
        <p:txBody>
          <a:bodyPr wrap="square" rtlCol="0" anchor="ctr"/>
          <a:lstStyle/>
          <a:p>
            <a:pPr indent="0" marL="0">
              <a:buNone/>
            </a:pPr>
            <a:r>
              <a:rPr lang="en-US" sz="2000" b="1" dirty="0">
                <a:solidFill>
                  <a:srgbClr val="2A9D6F"/>
                </a:solidFill>
                <a:latin typeface="Cambria" pitchFamily="34" charset="0"/>
                <a:ea typeface="Cambria" pitchFamily="34" charset="-122"/>
                <a:cs typeface="Cambria" pitchFamily="34" charset="-120"/>
              </a:rPr>
              <a:t>DO</a:t>
            </a:r>
            <a:endParaRPr lang="en-US" sz="2000" dirty="0"/>
          </a:p>
        </p:txBody>
      </p:sp>
      <p:sp>
        <p:nvSpPr>
          <p:cNvPr id="8" name="Shape 5"/>
          <p:cNvSpPr/>
          <p:nvPr/>
        </p:nvSpPr>
        <p:spPr>
          <a:xfrm>
            <a:off x="822960" y="2834640"/>
            <a:ext cx="109728" cy="109728"/>
          </a:xfrm>
          <a:prstGeom prst="ellipse">
            <a:avLst/>
          </a:prstGeom>
          <a:solidFill>
            <a:srgbClr val="2A9D6F"/>
          </a:solidFill>
          <a:ln/>
        </p:spPr>
      </p:sp>
      <p:sp>
        <p:nvSpPr>
          <p:cNvPr id="9" name="Text 6"/>
          <p:cNvSpPr/>
          <p:nvPr/>
        </p:nvSpPr>
        <p:spPr>
          <a:xfrm>
            <a:off x="1097280" y="2697480"/>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Verify unexpected requests through a separate, known channel (call the person, don’t reply to the email).</a:t>
            </a:r>
            <a:endParaRPr lang="en-US" sz="1130" dirty="0"/>
          </a:p>
        </p:txBody>
      </p:sp>
      <p:sp>
        <p:nvSpPr>
          <p:cNvPr id="10" name="Shape 7"/>
          <p:cNvSpPr/>
          <p:nvPr/>
        </p:nvSpPr>
        <p:spPr>
          <a:xfrm>
            <a:off x="822960" y="3419856"/>
            <a:ext cx="109728" cy="109728"/>
          </a:xfrm>
          <a:prstGeom prst="ellipse">
            <a:avLst/>
          </a:prstGeom>
          <a:solidFill>
            <a:srgbClr val="2A9D6F"/>
          </a:solidFill>
          <a:ln/>
        </p:spPr>
      </p:sp>
      <p:sp>
        <p:nvSpPr>
          <p:cNvPr id="11" name="Text 8"/>
          <p:cNvSpPr/>
          <p:nvPr/>
        </p:nvSpPr>
        <p:spPr>
          <a:xfrm>
            <a:off x="1097280" y="3282696"/>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Check the sender’s full email address, not just the display name.</a:t>
            </a:r>
            <a:endParaRPr lang="en-US" sz="1130" dirty="0"/>
          </a:p>
        </p:txBody>
      </p:sp>
      <p:sp>
        <p:nvSpPr>
          <p:cNvPr id="12" name="Shape 9"/>
          <p:cNvSpPr/>
          <p:nvPr/>
        </p:nvSpPr>
        <p:spPr>
          <a:xfrm>
            <a:off x="822960" y="4005072"/>
            <a:ext cx="109728" cy="109728"/>
          </a:xfrm>
          <a:prstGeom prst="ellipse">
            <a:avLst/>
          </a:prstGeom>
          <a:solidFill>
            <a:srgbClr val="2A9D6F"/>
          </a:solidFill>
          <a:ln/>
        </p:spPr>
      </p:sp>
      <p:sp>
        <p:nvSpPr>
          <p:cNvPr id="13" name="Text 10"/>
          <p:cNvSpPr/>
          <p:nvPr/>
        </p:nvSpPr>
        <p:spPr>
          <a:xfrm>
            <a:off x="1097280" y="3867912"/>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Hover over links to preview the real destination before clicking.</a:t>
            </a:r>
            <a:endParaRPr lang="en-US" sz="1130" dirty="0"/>
          </a:p>
        </p:txBody>
      </p:sp>
      <p:sp>
        <p:nvSpPr>
          <p:cNvPr id="14" name="Shape 11"/>
          <p:cNvSpPr/>
          <p:nvPr/>
        </p:nvSpPr>
        <p:spPr>
          <a:xfrm>
            <a:off x="822960" y="4590288"/>
            <a:ext cx="109728" cy="109728"/>
          </a:xfrm>
          <a:prstGeom prst="ellipse">
            <a:avLst/>
          </a:prstGeom>
          <a:solidFill>
            <a:srgbClr val="2A9D6F"/>
          </a:solidFill>
          <a:ln/>
        </p:spPr>
      </p:sp>
      <p:sp>
        <p:nvSpPr>
          <p:cNvPr id="15" name="Text 12"/>
          <p:cNvSpPr/>
          <p:nvPr/>
        </p:nvSpPr>
        <p:spPr>
          <a:xfrm>
            <a:off x="1097280" y="4453128"/>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Enable multi-factor authentication everywhere it’s offered.</a:t>
            </a:r>
            <a:endParaRPr lang="en-US" sz="1130" dirty="0"/>
          </a:p>
        </p:txBody>
      </p:sp>
      <p:sp>
        <p:nvSpPr>
          <p:cNvPr id="16" name="Shape 13"/>
          <p:cNvSpPr/>
          <p:nvPr/>
        </p:nvSpPr>
        <p:spPr>
          <a:xfrm>
            <a:off x="822960" y="5175504"/>
            <a:ext cx="109728" cy="109728"/>
          </a:xfrm>
          <a:prstGeom prst="ellipse">
            <a:avLst/>
          </a:prstGeom>
          <a:solidFill>
            <a:srgbClr val="2A9D6F"/>
          </a:solidFill>
          <a:ln/>
        </p:spPr>
      </p:sp>
      <p:sp>
        <p:nvSpPr>
          <p:cNvPr id="17" name="Text 14"/>
          <p:cNvSpPr/>
          <p:nvPr/>
        </p:nvSpPr>
        <p:spPr>
          <a:xfrm>
            <a:off x="1097280" y="5038344"/>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Report suspicious messages to IT/security using your official reporting tool.</a:t>
            </a:r>
            <a:endParaRPr lang="en-US" sz="1130" dirty="0"/>
          </a:p>
        </p:txBody>
      </p:sp>
      <p:sp>
        <p:nvSpPr>
          <p:cNvPr id="18" name="Shape 15"/>
          <p:cNvSpPr/>
          <p:nvPr/>
        </p:nvSpPr>
        <p:spPr>
          <a:xfrm>
            <a:off x="822960" y="5760720"/>
            <a:ext cx="109728" cy="109728"/>
          </a:xfrm>
          <a:prstGeom prst="ellipse">
            <a:avLst/>
          </a:prstGeom>
          <a:solidFill>
            <a:srgbClr val="2A9D6F"/>
          </a:solidFill>
          <a:ln/>
        </p:spPr>
      </p:sp>
      <p:sp>
        <p:nvSpPr>
          <p:cNvPr id="19" name="Text 16"/>
          <p:cNvSpPr/>
          <p:nvPr/>
        </p:nvSpPr>
        <p:spPr>
          <a:xfrm>
            <a:off x="1097280" y="5623560"/>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Slow down when a message pushes urgency, fear, or a "limited time" reward.</a:t>
            </a:r>
            <a:endParaRPr lang="en-US" sz="1130" dirty="0"/>
          </a:p>
        </p:txBody>
      </p:sp>
      <p:sp>
        <p:nvSpPr>
          <p:cNvPr id="20" name="Shape 17"/>
          <p:cNvSpPr/>
          <p:nvPr/>
        </p:nvSpPr>
        <p:spPr>
          <a:xfrm>
            <a:off x="6263640" y="1874520"/>
            <a:ext cx="5349240" cy="4526280"/>
          </a:xfrm>
          <a:prstGeom prst="roundRect">
            <a:avLst>
              <a:gd name="adj" fmla="val 1616"/>
            </a:avLst>
          </a:prstGeom>
          <a:solidFill>
            <a:srgbClr val="FFFFFF"/>
          </a:solidFill>
          <a:ln/>
          <a:effectLst>
            <a:outerShdw sx="100000" sy="100000" kx="0" ky="0" algn="bl" rotWithShape="0" blurRad="101600" dist="38100" dir="5400000">
              <a:srgbClr val="3B4A6B">
                <a:alpha val="15000"/>
              </a:srgbClr>
            </a:outerShdw>
          </a:effectLst>
        </p:spPr>
      </p:sp>
      <p:sp>
        <p:nvSpPr>
          <p:cNvPr id="21" name="Shape 18"/>
          <p:cNvSpPr/>
          <p:nvPr/>
        </p:nvSpPr>
        <p:spPr>
          <a:xfrm>
            <a:off x="6537960" y="2103120"/>
            <a:ext cx="502920" cy="502920"/>
          </a:xfrm>
          <a:prstGeom prst="ellipse">
            <a:avLst/>
          </a:prstGeom>
          <a:solidFill>
            <a:srgbClr val="E63946"/>
          </a:solidFill>
          <a:ln/>
        </p:spPr>
      </p:sp>
      <p:pic>
        <p:nvPicPr>
          <p:cNvPr id="22" name="Image 1" descr="icons/times.png">    </p:cNvPr>
          <p:cNvPicPr>
            <a:picLocks noChangeAspect="1"/>
          </p:cNvPicPr>
          <p:nvPr/>
        </p:nvPicPr>
        <p:blipFill>
          <a:blip r:embed="rId2"/>
          <a:stretch>
            <a:fillRect/>
          </a:stretch>
        </p:blipFill>
        <p:spPr>
          <a:xfrm>
            <a:off x="6638544" y="2203704"/>
            <a:ext cx="301752" cy="301752"/>
          </a:xfrm>
          <a:prstGeom prst="rect">
            <a:avLst/>
          </a:prstGeom>
        </p:spPr>
      </p:pic>
      <p:sp>
        <p:nvSpPr>
          <p:cNvPr id="23" name="Text 19"/>
          <p:cNvSpPr/>
          <p:nvPr/>
        </p:nvSpPr>
        <p:spPr>
          <a:xfrm>
            <a:off x="7132320" y="2148840"/>
            <a:ext cx="3200400" cy="411480"/>
          </a:xfrm>
          <a:prstGeom prst="rect">
            <a:avLst/>
          </a:prstGeom>
          <a:noFill/>
          <a:ln/>
        </p:spPr>
        <p:txBody>
          <a:bodyPr wrap="square"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DON'T</a:t>
            </a:r>
            <a:endParaRPr lang="en-US" sz="2000" dirty="0"/>
          </a:p>
        </p:txBody>
      </p:sp>
      <p:sp>
        <p:nvSpPr>
          <p:cNvPr id="24" name="Shape 20"/>
          <p:cNvSpPr/>
          <p:nvPr/>
        </p:nvSpPr>
        <p:spPr>
          <a:xfrm>
            <a:off x="6537960" y="2834640"/>
            <a:ext cx="109728" cy="109728"/>
          </a:xfrm>
          <a:prstGeom prst="ellipse">
            <a:avLst/>
          </a:prstGeom>
          <a:solidFill>
            <a:srgbClr val="E63946"/>
          </a:solidFill>
          <a:ln/>
        </p:spPr>
      </p:sp>
      <p:sp>
        <p:nvSpPr>
          <p:cNvPr id="25" name="Text 21"/>
          <p:cNvSpPr/>
          <p:nvPr/>
        </p:nvSpPr>
        <p:spPr>
          <a:xfrm>
            <a:off x="6812280" y="2697480"/>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Don’t click links or open attachments from unexpected or unverified senders.</a:t>
            </a:r>
            <a:endParaRPr lang="en-US" sz="1130" dirty="0"/>
          </a:p>
        </p:txBody>
      </p:sp>
      <p:sp>
        <p:nvSpPr>
          <p:cNvPr id="26" name="Shape 22"/>
          <p:cNvSpPr/>
          <p:nvPr/>
        </p:nvSpPr>
        <p:spPr>
          <a:xfrm>
            <a:off x="6537960" y="3419856"/>
            <a:ext cx="109728" cy="109728"/>
          </a:xfrm>
          <a:prstGeom prst="ellipse">
            <a:avLst/>
          </a:prstGeom>
          <a:solidFill>
            <a:srgbClr val="E63946"/>
          </a:solidFill>
          <a:ln/>
        </p:spPr>
      </p:sp>
      <p:sp>
        <p:nvSpPr>
          <p:cNvPr id="27" name="Text 23"/>
          <p:cNvSpPr/>
          <p:nvPr/>
        </p:nvSpPr>
        <p:spPr>
          <a:xfrm>
            <a:off x="6812280" y="3282696"/>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Don’t enter credentials on a page you reached by clicking a link — type the address yourself.</a:t>
            </a:r>
            <a:endParaRPr lang="en-US" sz="1130" dirty="0"/>
          </a:p>
        </p:txBody>
      </p:sp>
      <p:sp>
        <p:nvSpPr>
          <p:cNvPr id="28" name="Shape 24"/>
          <p:cNvSpPr/>
          <p:nvPr/>
        </p:nvSpPr>
        <p:spPr>
          <a:xfrm>
            <a:off x="6537960" y="4005072"/>
            <a:ext cx="109728" cy="109728"/>
          </a:xfrm>
          <a:prstGeom prst="ellipse">
            <a:avLst/>
          </a:prstGeom>
          <a:solidFill>
            <a:srgbClr val="E63946"/>
          </a:solidFill>
          <a:ln/>
        </p:spPr>
      </p:sp>
      <p:sp>
        <p:nvSpPr>
          <p:cNvPr id="29" name="Text 25"/>
          <p:cNvSpPr/>
          <p:nvPr/>
        </p:nvSpPr>
        <p:spPr>
          <a:xfrm>
            <a:off x="6812280" y="3867912"/>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Don’t reuse the same password across work and personal accounts.</a:t>
            </a:r>
            <a:endParaRPr lang="en-US" sz="1130" dirty="0"/>
          </a:p>
        </p:txBody>
      </p:sp>
      <p:sp>
        <p:nvSpPr>
          <p:cNvPr id="30" name="Shape 26"/>
          <p:cNvSpPr/>
          <p:nvPr/>
        </p:nvSpPr>
        <p:spPr>
          <a:xfrm>
            <a:off x="6537960" y="4590288"/>
            <a:ext cx="109728" cy="109728"/>
          </a:xfrm>
          <a:prstGeom prst="ellipse">
            <a:avLst/>
          </a:prstGeom>
          <a:solidFill>
            <a:srgbClr val="E63946"/>
          </a:solidFill>
          <a:ln/>
        </p:spPr>
      </p:sp>
      <p:sp>
        <p:nvSpPr>
          <p:cNvPr id="31" name="Text 27"/>
          <p:cNvSpPr/>
          <p:nvPr/>
        </p:nvSpPr>
        <p:spPr>
          <a:xfrm>
            <a:off x="6812280" y="4453128"/>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Don’t share verification codes with anyone, even someone claiming to be IT.</a:t>
            </a:r>
            <a:endParaRPr lang="en-US" sz="1130" dirty="0"/>
          </a:p>
        </p:txBody>
      </p:sp>
      <p:sp>
        <p:nvSpPr>
          <p:cNvPr id="32" name="Shape 28"/>
          <p:cNvSpPr/>
          <p:nvPr/>
        </p:nvSpPr>
        <p:spPr>
          <a:xfrm>
            <a:off x="6537960" y="5175504"/>
            <a:ext cx="109728" cy="109728"/>
          </a:xfrm>
          <a:prstGeom prst="ellipse">
            <a:avLst/>
          </a:prstGeom>
          <a:solidFill>
            <a:srgbClr val="E63946"/>
          </a:solidFill>
          <a:ln/>
        </p:spPr>
      </p:sp>
      <p:sp>
        <p:nvSpPr>
          <p:cNvPr id="33" name="Text 29"/>
          <p:cNvSpPr/>
          <p:nvPr/>
        </p:nvSpPr>
        <p:spPr>
          <a:xfrm>
            <a:off x="6812280" y="5038344"/>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Don’t assume a familiar name or logo means the message is safe.</a:t>
            </a:r>
            <a:endParaRPr lang="en-US" sz="1130" dirty="0"/>
          </a:p>
        </p:txBody>
      </p:sp>
      <p:sp>
        <p:nvSpPr>
          <p:cNvPr id="34" name="Shape 30"/>
          <p:cNvSpPr/>
          <p:nvPr/>
        </p:nvSpPr>
        <p:spPr>
          <a:xfrm>
            <a:off x="6537960" y="5760720"/>
            <a:ext cx="109728" cy="109728"/>
          </a:xfrm>
          <a:prstGeom prst="ellipse">
            <a:avLst/>
          </a:prstGeom>
          <a:solidFill>
            <a:srgbClr val="E63946"/>
          </a:solidFill>
          <a:ln/>
        </p:spPr>
      </p:sp>
      <p:sp>
        <p:nvSpPr>
          <p:cNvPr id="35" name="Text 31"/>
          <p:cNvSpPr/>
          <p:nvPr/>
        </p:nvSpPr>
        <p:spPr>
          <a:xfrm>
            <a:off x="6812280" y="5623560"/>
            <a:ext cx="4663440" cy="548640"/>
          </a:xfrm>
          <a:prstGeom prst="rect">
            <a:avLst/>
          </a:prstGeom>
          <a:noFill/>
          <a:ln/>
        </p:spPr>
        <p:txBody>
          <a:bodyPr wrap="square" rtlCol="0" anchor="ctr"/>
          <a:lstStyle/>
          <a:p>
            <a:pPr indent="0" marL="0">
              <a:lnSpc>
                <a:spcPct val="122000"/>
              </a:lnSpc>
              <a:buNone/>
            </a:pPr>
            <a:r>
              <a:rPr lang="en-US" sz="1130" dirty="0">
                <a:solidFill>
                  <a:srgbClr val="3A4157"/>
                </a:solidFill>
                <a:latin typeface="Calibri" pitchFamily="34" charset="0"/>
                <a:ea typeface="Calibri" pitchFamily="34" charset="-122"/>
                <a:cs typeface="Calibri" pitchFamily="34" charset="-120"/>
              </a:rPr>
              <a:t>Don’t let urgency rush you into skipping a quick verification step.</a:t>
            </a:r>
            <a:endParaRPr lang="en-US" sz="1130" dirty="0"/>
          </a:p>
        </p:txBody>
      </p:sp>
      <p:sp>
        <p:nvSpPr>
          <p:cNvPr id="36" name="Text 3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CADCFC"/>
                </a:solidFill>
                <a:latin typeface="Calibri" pitchFamily="34" charset="0"/>
                <a:ea typeface="Calibri" pitchFamily="34" charset="-122"/>
                <a:cs typeface="Calibri" pitchFamily="34" charset="-120"/>
              </a:rPr>
              <a:t>WHEN SOMETHING FEELS OFF</a:t>
            </a:r>
            <a:endParaRPr lang="en-US" sz="1250" dirty="0"/>
          </a:p>
        </p:txBody>
      </p:sp>
      <p:sp>
        <p:nvSpPr>
          <p:cNvPr id="3" name="Text 1"/>
          <p:cNvSpPr/>
          <p:nvPr/>
        </p:nvSpPr>
        <p:spPr>
          <a:xfrm>
            <a:off x="548640" y="749808"/>
            <a:ext cx="10515600" cy="82296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If you clicked — act fast, not embarrassed</a:t>
            </a:r>
            <a:endParaRPr lang="en-US" sz="2700" dirty="0"/>
          </a:p>
        </p:txBody>
      </p:sp>
      <p:sp>
        <p:nvSpPr>
          <p:cNvPr id="4" name="Shape 2"/>
          <p:cNvSpPr/>
          <p:nvPr/>
        </p:nvSpPr>
        <p:spPr>
          <a:xfrm>
            <a:off x="548640" y="2148840"/>
            <a:ext cx="2084832" cy="3703320"/>
          </a:xfrm>
          <a:prstGeom prst="roundRect">
            <a:avLst>
              <a:gd name="adj" fmla="val 3947"/>
            </a:avLst>
          </a:prstGeom>
          <a:solidFill>
            <a:srgbClr val="141B47"/>
          </a:solidFill>
          <a:ln w="12700">
            <a:solidFill>
              <a:srgbClr val="32407A"/>
            </a:solidFill>
            <a:prstDash val="solid"/>
          </a:ln>
        </p:spPr>
      </p:sp>
      <p:sp>
        <p:nvSpPr>
          <p:cNvPr id="5" name="Text 3"/>
          <p:cNvSpPr/>
          <p:nvPr/>
        </p:nvSpPr>
        <p:spPr>
          <a:xfrm>
            <a:off x="731520" y="2331720"/>
            <a:ext cx="1371600" cy="365760"/>
          </a:xfrm>
          <a:prstGeom prst="rect">
            <a:avLst/>
          </a:prstGeom>
          <a:noFill/>
          <a:ln/>
        </p:spPr>
        <p:txBody>
          <a:bodyPr wrap="square" rtlCol="0" anchor="ctr"/>
          <a:lstStyle/>
          <a:p>
            <a:pPr indent="0" marL="0">
              <a:buNone/>
            </a:pPr>
            <a:r>
              <a:rPr lang="en-US" sz="1600" b="1" dirty="0">
                <a:solidFill>
                  <a:srgbClr val="E63946"/>
                </a:solidFill>
                <a:latin typeface="Cambria" pitchFamily="34" charset="0"/>
                <a:ea typeface="Cambria" pitchFamily="34" charset="-122"/>
                <a:cs typeface="Cambria" pitchFamily="34" charset="-120"/>
              </a:rPr>
              <a:t>01</a:t>
            </a:r>
            <a:endParaRPr lang="en-US" sz="1600" dirty="0"/>
          </a:p>
        </p:txBody>
      </p:sp>
      <p:sp>
        <p:nvSpPr>
          <p:cNvPr id="6" name="Shape 4"/>
          <p:cNvSpPr/>
          <p:nvPr/>
        </p:nvSpPr>
        <p:spPr>
          <a:xfrm>
            <a:off x="1280160" y="2834640"/>
            <a:ext cx="621792" cy="621792"/>
          </a:xfrm>
          <a:prstGeom prst="ellipse">
            <a:avLst/>
          </a:prstGeom>
          <a:solidFill>
            <a:srgbClr val="2B3A73"/>
          </a:solidFill>
          <a:ln/>
        </p:spPr>
      </p:sp>
      <p:pic>
        <p:nvPicPr>
          <p:cNvPr id="7" name="Image 0" descr="icons/flag.png">    </p:cNvPr>
          <p:cNvPicPr>
            <a:picLocks noChangeAspect="1"/>
          </p:cNvPicPr>
          <p:nvPr/>
        </p:nvPicPr>
        <p:blipFill>
          <a:blip r:embed="rId1"/>
          <a:stretch>
            <a:fillRect/>
          </a:stretch>
        </p:blipFill>
        <p:spPr>
          <a:xfrm>
            <a:off x="1420063" y="2974543"/>
            <a:ext cx="341986" cy="341986"/>
          </a:xfrm>
          <a:prstGeom prst="rect">
            <a:avLst/>
          </a:prstGeom>
        </p:spPr>
      </p:pic>
      <p:sp>
        <p:nvSpPr>
          <p:cNvPr id="8" name="Text 5"/>
          <p:cNvSpPr/>
          <p:nvPr/>
        </p:nvSpPr>
        <p:spPr>
          <a:xfrm>
            <a:off x="685800" y="3657600"/>
            <a:ext cx="1810512"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Report it immediately</a:t>
            </a:r>
            <a:endParaRPr lang="en-US" sz="1300" dirty="0"/>
          </a:p>
        </p:txBody>
      </p:sp>
      <p:sp>
        <p:nvSpPr>
          <p:cNvPr id="9" name="Text 6"/>
          <p:cNvSpPr/>
          <p:nvPr/>
        </p:nvSpPr>
        <p:spPr>
          <a:xfrm>
            <a:off x="731520" y="4206240"/>
            <a:ext cx="1719072" cy="1554480"/>
          </a:xfrm>
          <a:prstGeom prst="rect">
            <a:avLst/>
          </a:prstGeom>
          <a:noFill/>
          <a:ln/>
        </p:spPr>
        <p:txBody>
          <a:bodyPr wrap="square" rtlCol="0" anchor="ctr"/>
          <a:lstStyle/>
          <a:p>
            <a:pPr algn="ctr" indent="0" marL="0">
              <a:lnSpc>
                <a:spcPct val="122000"/>
              </a:lnSpc>
              <a:buNone/>
            </a:pPr>
            <a:r>
              <a:rPr lang="en-US" sz="1000" dirty="0">
                <a:solidFill>
                  <a:srgbClr val="CADCFC"/>
                </a:solidFill>
                <a:latin typeface="Calibri" pitchFamily="34" charset="0"/>
                <a:ea typeface="Calibri" pitchFamily="34" charset="-122"/>
                <a:cs typeface="Calibri" pitchFamily="34" charset="-120"/>
              </a:rPr>
              <a:t>Notify IT/security right away — speed matters far more than avoiding embarrassment.</a:t>
            </a:r>
            <a:endParaRPr lang="en-US" sz="1000" dirty="0"/>
          </a:p>
        </p:txBody>
      </p:sp>
      <p:sp>
        <p:nvSpPr>
          <p:cNvPr id="10" name="Shape 7"/>
          <p:cNvSpPr/>
          <p:nvPr/>
        </p:nvSpPr>
        <p:spPr>
          <a:xfrm>
            <a:off x="2798064" y="2148840"/>
            <a:ext cx="2084832" cy="3703320"/>
          </a:xfrm>
          <a:prstGeom prst="roundRect">
            <a:avLst>
              <a:gd name="adj" fmla="val 3947"/>
            </a:avLst>
          </a:prstGeom>
          <a:solidFill>
            <a:srgbClr val="141B47"/>
          </a:solidFill>
          <a:ln w="12700">
            <a:solidFill>
              <a:srgbClr val="32407A"/>
            </a:solidFill>
            <a:prstDash val="solid"/>
          </a:ln>
        </p:spPr>
      </p:sp>
      <p:sp>
        <p:nvSpPr>
          <p:cNvPr id="11" name="Text 8"/>
          <p:cNvSpPr/>
          <p:nvPr/>
        </p:nvSpPr>
        <p:spPr>
          <a:xfrm>
            <a:off x="2980944" y="2331720"/>
            <a:ext cx="1371600" cy="365760"/>
          </a:xfrm>
          <a:prstGeom prst="rect">
            <a:avLst/>
          </a:prstGeom>
          <a:noFill/>
          <a:ln/>
        </p:spPr>
        <p:txBody>
          <a:bodyPr wrap="square" rtlCol="0" anchor="ctr"/>
          <a:lstStyle/>
          <a:p>
            <a:pPr indent="0" marL="0">
              <a:buNone/>
            </a:pPr>
            <a:r>
              <a:rPr lang="en-US" sz="1600" b="1" dirty="0">
                <a:solidFill>
                  <a:srgbClr val="E63946"/>
                </a:solidFill>
                <a:latin typeface="Cambria" pitchFamily="34" charset="0"/>
                <a:ea typeface="Cambria" pitchFamily="34" charset="-122"/>
                <a:cs typeface="Cambria" pitchFamily="34" charset="-120"/>
              </a:rPr>
              <a:t>02</a:t>
            </a:r>
            <a:endParaRPr lang="en-US" sz="1600" dirty="0"/>
          </a:p>
        </p:txBody>
      </p:sp>
      <p:sp>
        <p:nvSpPr>
          <p:cNvPr id="12" name="Shape 9"/>
          <p:cNvSpPr/>
          <p:nvPr/>
        </p:nvSpPr>
        <p:spPr>
          <a:xfrm>
            <a:off x="3529584" y="2834640"/>
            <a:ext cx="621792" cy="621792"/>
          </a:xfrm>
          <a:prstGeom prst="ellipse">
            <a:avLst/>
          </a:prstGeom>
          <a:solidFill>
            <a:srgbClr val="2B3A73"/>
          </a:solidFill>
          <a:ln/>
        </p:spPr>
      </p:sp>
      <p:pic>
        <p:nvPicPr>
          <p:cNvPr id="13" name="Image 1" descr="icons/lock.png">    </p:cNvPr>
          <p:cNvPicPr>
            <a:picLocks noChangeAspect="1"/>
          </p:cNvPicPr>
          <p:nvPr/>
        </p:nvPicPr>
        <p:blipFill>
          <a:blip r:embed="rId2"/>
          <a:stretch>
            <a:fillRect/>
          </a:stretch>
        </p:blipFill>
        <p:spPr>
          <a:xfrm>
            <a:off x="3669487" y="2974543"/>
            <a:ext cx="341986" cy="341986"/>
          </a:xfrm>
          <a:prstGeom prst="rect">
            <a:avLst/>
          </a:prstGeom>
        </p:spPr>
      </p:pic>
      <p:sp>
        <p:nvSpPr>
          <p:cNvPr id="14" name="Text 10"/>
          <p:cNvSpPr/>
          <p:nvPr/>
        </p:nvSpPr>
        <p:spPr>
          <a:xfrm>
            <a:off x="2935224" y="3657600"/>
            <a:ext cx="1810512"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Change your password</a:t>
            </a:r>
            <a:endParaRPr lang="en-US" sz="1300" dirty="0"/>
          </a:p>
        </p:txBody>
      </p:sp>
      <p:sp>
        <p:nvSpPr>
          <p:cNvPr id="15" name="Text 11"/>
          <p:cNvSpPr/>
          <p:nvPr/>
        </p:nvSpPr>
        <p:spPr>
          <a:xfrm>
            <a:off x="2980944" y="4206240"/>
            <a:ext cx="1719072" cy="1554480"/>
          </a:xfrm>
          <a:prstGeom prst="rect">
            <a:avLst/>
          </a:prstGeom>
          <a:noFill/>
          <a:ln/>
        </p:spPr>
        <p:txBody>
          <a:bodyPr wrap="square" rtlCol="0" anchor="ctr"/>
          <a:lstStyle/>
          <a:p>
            <a:pPr algn="ctr" indent="0" marL="0">
              <a:lnSpc>
                <a:spcPct val="122000"/>
              </a:lnSpc>
              <a:buNone/>
            </a:pPr>
            <a:r>
              <a:rPr lang="en-US" sz="1000" dirty="0">
                <a:solidFill>
                  <a:srgbClr val="CADCFC"/>
                </a:solidFill>
                <a:latin typeface="Calibri" pitchFamily="34" charset="0"/>
                <a:ea typeface="Calibri" pitchFamily="34" charset="-122"/>
                <a:cs typeface="Calibri" pitchFamily="34" charset="-120"/>
              </a:rPr>
              <a:t>Update the password for any account you entered, starting with email and single sign-on.</a:t>
            </a:r>
            <a:endParaRPr lang="en-US" sz="1000" dirty="0"/>
          </a:p>
        </p:txBody>
      </p:sp>
      <p:sp>
        <p:nvSpPr>
          <p:cNvPr id="16" name="Shape 12"/>
          <p:cNvSpPr/>
          <p:nvPr/>
        </p:nvSpPr>
        <p:spPr>
          <a:xfrm>
            <a:off x="5047488" y="2148840"/>
            <a:ext cx="2084832" cy="3703320"/>
          </a:xfrm>
          <a:prstGeom prst="roundRect">
            <a:avLst>
              <a:gd name="adj" fmla="val 3947"/>
            </a:avLst>
          </a:prstGeom>
          <a:solidFill>
            <a:srgbClr val="141B47"/>
          </a:solidFill>
          <a:ln w="12700">
            <a:solidFill>
              <a:srgbClr val="32407A"/>
            </a:solidFill>
            <a:prstDash val="solid"/>
          </a:ln>
        </p:spPr>
      </p:sp>
      <p:sp>
        <p:nvSpPr>
          <p:cNvPr id="17" name="Text 13"/>
          <p:cNvSpPr/>
          <p:nvPr/>
        </p:nvSpPr>
        <p:spPr>
          <a:xfrm>
            <a:off x="5230368" y="2331720"/>
            <a:ext cx="1371600" cy="365760"/>
          </a:xfrm>
          <a:prstGeom prst="rect">
            <a:avLst/>
          </a:prstGeom>
          <a:noFill/>
          <a:ln/>
        </p:spPr>
        <p:txBody>
          <a:bodyPr wrap="square" rtlCol="0" anchor="ctr"/>
          <a:lstStyle/>
          <a:p>
            <a:pPr indent="0" marL="0">
              <a:buNone/>
            </a:pPr>
            <a:r>
              <a:rPr lang="en-US" sz="1600" b="1" dirty="0">
                <a:solidFill>
                  <a:srgbClr val="E63946"/>
                </a:solidFill>
                <a:latin typeface="Cambria" pitchFamily="34" charset="0"/>
                <a:ea typeface="Cambria" pitchFamily="34" charset="-122"/>
                <a:cs typeface="Cambria" pitchFamily="34" charset="-120"/>
              </a:rPr>
              <a:t>03</a:t>
            </a:r>
            <a:endParaRPr lang="en-US" sz="1600" dirty="0"/>
          </a:p>
        </p:txBody>
      </p:sp>
      <p:sp>
        <p:nvSpPr>
          <p:cNvPr id="18" name="Shape 14"/>
          <p:cNvSpPr/>
          <p:nvPr/>
        </p:nvSpPr>
        <p:spPr>
          <a:xfrm>
            <a:off x="5779008" y="2834640"/>
            <a:ext cx="621792" cy="621792"/>
          </a:xfrm>
          <a:prstGeom prst="ellipse">
            <a:avLst/>
          </a:prstGeom>
          <a:solidFill>
            <a:srgbClr val="2B3A73"/>
          </a:solidFill>
          <a:ln/>
        </p:spPr>
      </p:sp>
      <p:pic>
        <p:nvPicPr>
          <p:cNvPr id="19" name="Image 2" descr="icons/shield.png">    </p:cNvPr>
          <p:cNvPicPr>
            <a:picLocks noChangeAspect="1"/>
          </p:cNvPicPr>
          <p:nvPr/>
        </p:nvPicPr>
        <p:blipFill>
          <a:blip r:embed="rId3"/>
          <a:stretch>
            <a:fillRect/>
          </a:stretch>
        </p:blipFill>
        <p:spPr>
          <a:xfrm>
            <a:off x="5918911" y="2974543"/>
            <a:ext cx="341986" cy="341986"/>
          </a:xfrm>
          <a:prstGeom prst="rect">
            <a:avLst/>
          </a:prstGeom>
        </p:spPr>
      </p:pic>
      <p:sp>
        <p:nvSpPr>
          <p:cNvPr id="20" name="Text 15"/>
          <p:cNvSpPr/>
          <p:nvPr/>
        </p:nvSpPr>
        <p:spPr>
          <a:xfrm>
            <a:off x="5184648" y="3657600"/>
            <a:ext cx="1810512"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Enable MFA</a:t>
            </a:r>
            <a:endParaRPr lang="en-US" sz="1300" dirty="0"/>
          </a:p>
        </p:txBody>
      </p:sp>
      <p:sp>
        <p:nvSpPr>
          <p:cNvPr id="21" name="Text 16"/>
          <p:cNvSpPr/>
          <p:nvPr/>
        </p:nvSpPr>
        <p:spPr>
          <a:xfrm>
            <a:off x="5230368" y="4206240"/>
            <a:ext cx="1719072" cy="1554480"/>
          </a:xfrm>
          <a:prstGeom prst="rect">
            <a:avLst/>
          </a:prstGeom>
          <a:noFill/>
          <a:ln/>
        </p:spPr>
        <p:txBody>
          <a:bodyPr wrap="square" rtlCol="0" anchor="ctr"/>
          <a:lstStyle/>
          <a:p>
            <a:pPr algn="ctr" indent="0" marL="0">
              <a:lnSpc>
                <a:spcPct val="122000"/>
              </a:lnSpc>
              <a:buNone/>
            </a:pPr>
            <a:r>
              <a:rPr lang="en-US" sz="1000" dirty="0">
                <a:solidFill>
                  <a:srgbClr val="CADCFC"/>
                </a:solidFill>
                <a:latin typeface="Calibri" pitchFamily="34" charset="0"/>
                <a:ea typeface="Calibri" pitchFamily="34" charset="-122"/>
                <a:cs typeface="Calibri" pitchFamily="34" charset="-120"/>
              </a:rPr>
              <a:t>If it isn’t already on, turn on multi-factor authentication for the affected account.</a:t>
            </a:r>
            <a:endParaRPr lang="en-US" sz="1000" dirty="0"/>
          </a:p>
        </p:txBody>
      </p:sp>
      <p:sp>
        <p:nvSpPr>
          <p:cNvPr id="22" name="Shape 17"/>
          <p:cNvSpPr/>
          <p:nvPr/>
        </p:nvSpPr>
        <p:spPr>
          <a:xfrm>
            <a:off x="7296912" y="2148840"/>
            <a:ext cx="2084832" cy="3703320"/>
          </a:xfrm>
          <a:prstGeom prst="roundRect">
            <a:avLst>
              <a:gd name="adj" fmla="val 3947"/>
            </a:avLst>
          </a:prstGeom>
          <a:solidFill>
            <a:srgbClr val="141B47"/>
          </a:solidFill>
          <a:ln w="12700">
            <a:solidFill>
              <a:srgbClr val="32407A"/>
            </a:solidFill>
            <a:prstDash val="solid"/>
          </a:ln>
        </p:spPr>
      </p:sp>
      <p:sp>
        <p:nvSpPr>
          <p:cNvPr id="23" name="Text 18"/>
          <p:cNvSpPr/>
          <p:nvPr/>
        </p:nvSpPr>
        <p:spPr>
          <a:xfrm>
            <a:off x="7479792" y="2331720"/>
            <a:ext cx="1371600" cy="365760"/>
          </a:xfrm>
          <a:prstGeom prst="rect">
            <a:avLst/>
          </a:prstGeom>
          <a:noFill/>
          <a:ln/>
        </p:spPr>
        <p:txBody>
          <a:bodyPr wrap="square" rtlCol="0" anchor="ctr"/>
          <a:lstStyle/>
          <a:p>
            <a:pPr indent="0" marL="0">
              <a:buNone/>
            </a:pPr>
            <a:r>
              <a:rPr lang="en-US" sz="1600" b="1" dirty="0">
                <a:solidFill>
                  <a:srgbClr val="E63946"/>
                </a:solidFill>
                <a:latin typeface="Cambria" pitchFamily="34" charset="0"/>
                <a:ea typeface="Cambria" pitchFamily="34" charset="-122"/>
                <a:cs typeface="Cambria" pitchFamily="34" charset="-120"/>
              </a:rPr>
              <a:t>04</a:t>
            </a:r>
            <a:endParaRPr lang="en-US" sz="1600" dirty="0"/>
          </a:p>
        </p:txBody>
      </p:sp>
      <p:sp>
        <p:nvSpPr>
          <p:cNvPr id="24" name="Shape 19"/>
          <p:cNvSpPr/>
          <p:nvPr/>
        </p:nvSpPr>
        <p:spPr>
          <a:xfrm>
            <a:off x="8028432" y="2834640"/>
            <a:ext cx="621792" cy="621792"/>
          </a:xfrm>
          <a:prstGeom prst="ellipse">
            <a:avLst/>
          </a:prstGeom>
          <a:solidFill>
            <a:srgbClr val="2B3A73"/>
          </a:solidFill>
          <a:ln/>
        </p:spPr>
      </p:sp>
      <p:pic>
        <p:nvPicPr>
          <p:cNvPr id="25" name="Image 3" descr="icons/ban.png">    </p:cNvPr>
          <p:cNvPicPr>
            <a:picLocks noChangeAspect="1"/>
          </p:cNvPicPr>
          <p:nvPr/>
        </p:nvPicPr>
        <p:blipFill>
          <a:blip r:embed="rId4"/>
          <a:stretch>
            <a:fillRect/>
          </a:stretch>
        </p:blipFill>
        <p:spPr>
          <a:xfrm>
            <a:off x="8168335" y="2974543"/>
            <a:ext cx="341986" cy="341986"/>
          </a:xfrm>
          <a:prstGeom prst="rect">
            <a:avLst/>
          </a:prstGeom>
        </p:spPr>
      </p:pic>
      <p:sp>
        <p:nvSpPr>
          <p:cNvPr id="26" name="Text 20"/>
          <p:cNvSpPr/>
          <p:nvPr/>
        </p:nvSpPr>
        <p:spPr>
          <a:xfrm>
            <a:off x="7434072" y="3657600"/>
            <a:ext cx="1810512"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Disconnect if malware-related</a:t>
            </a:r>
            <a:endParaRPr lang="en-US" sz="1300" dirty="0"/>
          </a:p>
        </p:txBody>
      </p:sp>
      <p:sp>
        <p:nvSpPr>
          <p:cNvPr id="27" name="Text 21"/>
          <p:cNvSpPr/>
          <p:nvPr/>
        </p:nvSpPr>
        <p:spPr>
          <a:xfrm>
            <a:off x="7479792" y="4206240"/>
            <a:ext cx="1719072" cy="1554480"/>
          </a:xfrm>
          <a:prstGeom prst="rect">
            <a:avLst/>
          </a:prstGeom>
          <a:noFill/>
          <a:ln/>
        </p:spPr>
        <p:txBody>
          <a:bodyPr wrap="square" rtlCol="0" anchor="ctr"/>
          <a:lstStyle/>
          <a:p>
            <a:pPr algn="ctr" indent="0" marL="0">
              <a:lnSpc>
                <a:spcPct val="122000"/>
              </a:lnSpc>
              <a:buNone/>
            </a:pPr>
            <a:r>
              <a:rPr lang="en-US" sz="1000" dirty="0">
                <a:solidFill>
                  <a:srgbClr val="CADCFC"/>
                </a:solidFill>
                <a:latin typeface="Calibri" pitchFamily="34" charset="0"/>
                <a:ea typeface="Calibri" pitchFamily="34" charset="-122"/>
                <a:cs typeface="Calibri" pitchFamily="34" charset="-120"/>
              </a:rPr>
              <a:t>If you opened a suspicious attachment, disconnect from the network and let IT scan the device.</a:t>
            </a:r>
            <a:endParaRPr lang="en-US" sz="1000" dirty="0"/>
          </a:p>
        </p:txBody>
      </p:sp>
      <p:sp>
        <p:nvSpPr>
          <p:cNvPr id="28" name="Shape 22"/>
          <p:cNvSpPr/>
          <p:nvPr/>
        </p:nvSpPr>
        <p:spPr>
          <a:xfrm>
            <a:off x="9546336" y="2148840"/>
            <a:ext cx="2084832" cy="3703320"/>
          </a:xfrm>
          <a:prstGeom prst="roundRect">
            <a:avLst>
              <a:gd name="adj" fmla="val 3947"/>
            </a:avLst>
          </a:prstGeom>
          <a:solidFill>
            <a:srgbClr val="141B47"/>
          </a:solidFill>
          <a:ln w="12700">
            <a:solidFill>
              <a:srgbClr val="32407A"/>
            </a:solidFill>
            <a:prstDash val="solid"/>
          </a:ln>
        </p:spPr>
      </p:sp>
      <p:sp>
        <p:nvSpPr>
          <p:cNvPr id="29" name="Text 23"/>
          <p:cNvSpPr/>
          <p:nvPr/>
        </p:nvSpPr>
        <p:spPr>
          <a:xfrm>
            <a:off x="9729216" y="2331720"/>
            <a:ext cx="1371600" cy="365760"/>
          </a:xfrm>
          <a:prstGeom prst="rect">
            <a:avLst/>
          </a:prstGeom>
          <a:noFill/>
          <a:ln/>
        </p:spPr>
        <p:txBody>
          <a:bodyPr wrap="square" rtlCol="0" anchor="ctr"/>
          <a:lstStyle/>
          <a:p>
            <a:pPr indent="0" marL="0">
              <a:buNone/>
            </a:pPr>
            <a:r>
              <a:rPr lang="en-US" sz="1600" b="1" dirty="0">
                <a:solidFill>
                  <a:srgbClr val="E63946"/>
                </a:solidFill>
                <a:latin typeface="Cambria" pitchFamily="34" charset="0"/>
                <a:ea typeface="Cambria" pitchFamily="34" charset="-122"/>
                <a:cs typeface="Cambria" pitchFamily="34" charset="-120"/>
              </a:rPr>
              <a:t>05</a:t>
            </a:r>
            <a:endParaRPr lang="en-US" sz="1600" dirty="0"/>
          </a:p>
        </p:txBody>
      </p:sp>
      <p:sp>
        <p:nvSpPr>
          <p:cNvPr id="30" name="Shape 24"/>
          <p:cNvSpPr/>
          <p:nvPr/>
        </p:nvSpPr>
        <p:spPr>
          <a:xfrm>
            <a:off x="10277856" y="2834640"/>
            <a:ext cx="621792" cy="621792"/>
          </a:xfrm>
          <a:prstGeom prst="ellipse">
            <a:avLst/>
          </a:prstGeom>
          <a:solidFill>
            <a:srgbClr val="2B3A73"/>
          </a:solidFill>
          <a:ln/>
        </p:spPr>
      </p:sp>
      <p:pic>
        <p:nvPicPr>
          <p:cNvPr id="31" name="Image 4" descr="icons/eye.png">    </p:cNvPr>
          <p:cNvPicPr>
            <a:picLocks noChangeAspect="1"/>
          </p:cNvPicPr>
          <p:nvPr/>
        </p:nvPicPr>
        <p:blipFill>
          <a:blip r:embed="rId5"/>
          <a:stretch>
            <a:fillRect/>
          </a:stretch>
        </p:blipFill>
        <p:spPr>
          <a:xfrm>
            <a:off x="10417759" y="2974543"/>
            <a:ext cx="341986" cy="341986"/>
          </a:xfrm>
          <a:prstGeom prst="rect">
            <a:avLst/>
          </a:prstGeom>
        </p:spPr>
      </p:pic>
      <p:sp>
        <p:nvSpPr>
          <p:cNvPr id="32" name="Text 25"/>
          <p:cNvSpPr/>
          <p:nvPr/>
        </p:nvSpPr>
        <p:spPr>
          <a:xfrm>
            <a:off x="9683496" y="3657600"/>
            <a:ext cx="1810512"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Watch for follow-up activity</a:t>
            </a:r>
            <a:endParaRPr lang="en-US" sz="1300" dirty="0"/>
          </a:p>
        </p:txBody>
      </p:sp>
      <p:sp>
        <p:nvSpPr>
          <p:cNvPr id="33" name="Text 26"/>
          <p:cNvSpPr/>
          <p:nvPr/>
        </p:nvSpPr>
        <p:spPr>
          <a:xfrm>
            <a:off x="9729216" y="4206240"/>
            <a:ext cx="1719072" cy="1554480"/>
          </a:xfrm>
          <a:prstGeom prst="rect">
            <a:avLst/>
          </a:prstGeom>
          <a:noFill/>
          <a:ln/>
        </p:spPr>
        <p:txBody>
          <a:bodyPr wrap="square" rtlCol="0" anchor="ctr"/>
          <a:lstStyle/>
          <a:p>
            <a:pPr algn="ctr" indent="0" marL="0">
              <a:lnSpc>
                <a:spcPct val="122000"/>
              </a:lnSpc>
              <a:buNone/>
            </a:pPr>
            <a:r>
              <a:rPr lang="en-US" sz="1000" dirty="0">
                <a:solidFill>
                  <a:srgbClr val="CADCFC"/>
                </a:solidFill>
                <a:latin typeface="Calibri" pitchFamily="34" charset="0"/>
                <a:ea typeface="Calibri" pitchFamily="34" charset="-122"/>
                <a:cs typeface="Calibri" pitchFamily="34" charset="-120"/>
              </a:rPr>
              <a:t>Monitor accounts for unusual sign-ins, sent emails, or purchases in the days after.</a:t>
            </a:r>
            <a:endParaRPr lang="en-US" sz="1000" dirty="0"/>
          </a:p>
        </p:txBody>
      </p:sp>
      <p:sp>
        <p:nvSpPr>
          <p:cNvPr id="34" name="Text 27"/>
          <p:cNvSpPr/>
          <p:nvPr/>
        </p:nvSpPr>
        <p:spPr>
          <a:xfrm>
            <a:off x="548640" y="6355080"/>
            <a:ext cx="10515600" cy="320040"/>
          </a:xfrm>
          <a:prstGeom prst="rect">
            <a:avLst/>
          </a:prstGeom>
          <a:noFill/>
          <a:ln/>
        </p:spPr>
        <p:txBody>
          <a:bodyPr wrap="square" rtlCol="0" anchor="ctr"/>
          <a:lstStyle/>
          <a:p>
            <a:pPr indent="0" marL="0">
              <a:buNone/>
            </a:pPr>
            <a:r>
              <a:rPr lang="en-US" sz="1050" i="1" dirty="0">
                <a:solidFill>
                  <a:srgbClr val="8A97C4"/>
                </a:solidFill>
                <a:latin typeface="Calibri" pitchFamily="34" charset="0"/>
                <a:ea typeface="Calibri" pitchFamily="34" charset="-122"/>
                <a:cs typeface="Calibri" pitchFamily="34" charset="-120"/>
              </a:rPr>
              <a:t>The fastest reports stop the smallest breaches from becoming the biggest ones.</a:t>
            </a:r>
            <a:endParaRPr lang="en-US" sz="1050" dirty="0"/>
          </a:p>
        </p:txBody>
      </p:sp>
      <p:sp>
        <p:nvSpPr>
          <p:cNvPr id="35" name="Text 28"/>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TEST YOURSELF</a:t>
            </a:r>
            <a:endParaRPr lang="en-US" sz="1250" dirty="0"/>
          </a:p>
        </p:txBody>
      </p:sp>
      <p:sp>
        <p:nvSpPr>
          <p:cNvPr id="3" name="Text 1"/>
          <p:cNvSpPr/>
          <p:nvPr/>
        </p:nvSpPr>
        <p:spPr>
          <a:xfrm>
            <a:off x="548640" y="749808"/>
            <a:ext cx="10515600" cy="640080"/>
          </a:xfrm>
          <a:prstGeom prst="rect">
            <a:avLst/>
          </a:prstGeom>
          <a:noFill/>
          <a:ln/>
        </p:spPr>
        <p:txBody>
          <a:bodyPr wrap="square" rtlCol="0" anchor="ctr"/>
          <a:lstStyle/>
          <a:p>
            <a:pPr indent="0" marL="0">
              <a:buNone/>
            </a:pPr>
            <a:r>
              <a:rPr lang="en-US" sz="2700" b="1" dirty="0">
                <a:solidFill>
                  <a:srgbClr val="1B2033"/>
                </a:solidFill>
                <a:latin typeface="Cambria" pitchFamily="34" charset="0"/>
                <a:ea typeface="Cambria" pitchFamily="34" charset="-122"/>
                <a:cs typeface="Cambria" pitchFamily="34" charset="-120"/>
              </a:rPr>
              <a:t>Quick check 1 of 3</a:t>
            </a:r>
            <a:endParaRPr lang="en-US" sz="2700" dirty="0"/>
          </a:p>
        </p:txBody>
      </p:sp>
      <p:sp>
        <p:nvSpPr>
          <p:cNvPr id="4" name="Shape 2"/>
          <p:cNvSpPr/>
          <p:nvPr/>
        </p:nvSpPr>
        <p:spPr>
          <a:xfrm>
            <a:off x="548640" y="1600200"/>
            <a:ext cx="11064240" cy="1417320"/>
          </a:xfrm>
          <a:prstGeom prst="roundRect">
            <a:avLst>
              <a:gd name="adj" fmla="val 5161"/>
            </a:avLst>
          </a:prstGeom>
          <a:solidFill>
            <a:srgbClr val="1E2761"/>
          </a:solidFill>
          <a:ln/>
        </p:spPr>
      </p:sp>
      <p:sp>
        <p:nvSpPr>
          <p:cNvPr id="5" name="Shape 3"/>
          <p:cNvSpPr/>
          <p:nvPr/>
        </p:nvSpPr>
        <p:spPr>
          <a:xfrm>
            <a:off x="777240" y="1810512"/>
            <a:ext cx="685800" cy="685800"/>
          </a:xfrm>
          <a:prstGeom prst="ellipse">
            <a:avLst/>
          </a:prstGeom>
          <a:solidFill>
            <a:srgbClr val="E63946"/>
          </a:solidFill>
          <a:ln/>
        </p:spPr>
      </p:sp>
      <p:pic>
        <p:nvPicPr>
          <p:cNvPr id="6" name="Image 0" descr="icons/question.png">    </p:cNvPr>
          <p:cNvPicPr>
            <a:picLocks noChangeAspect="1"/>
          </p:cNvPicPr>
          <p:nvPr/>
        </p:nvPicPr>
        <p:blipFill>
          <a:blip r:embed="rId1"/>
          <a:stretch>
            <a:fillRect/>
          </a:stretch>
        </p:blipFill>
        <p:spPr>
          <a:xfrm>
            <a:off x="931545" y="1964817"/>
            <a:ext cx="377190" cy="377190"/>
          </a:xfrm>
          <a:prstGeom prst="rect">
            <a:avLst/>
          </a:prstGeom>
        </p:spPr>
      </p:pic>
      <p:sp>
        <p:nvSpPr>
          <p:cNvPr id="7" name="Text 4"/>
          <p:cNvSpPr/>
          <p:nvPr/>
        </p:nvSpPr>
        <p:spPr>
          <a:xfrm>
            <a:off x="1691640" y="1737360"/>
            <a:ext cx="969264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colleague emails asking you to buy gift cards for a client event.</a:t>
            </a:r>
            <a:endParaRPr lang="en-US" sz="1500" dirty="0"/>
          </a:p>
        </p:txBody>
      </p:sp>
      <p:sp>
        <p:nvSpPr>
          <p:cNvPr id="8" name="Text 5"/>
          <p:cNvSpPr/>
          <p:nvPr/>
        </p:nvSpPr>
        <p:spPr>
          <a:xfrm>
            <a:off x="1691640" y="2121408"/>
            <a:ext cx="9692640" cy="822960"/>
          </a:xfrm>
          <a:prstGeom prst="rect">
            <a:avLst/>
          </a:prstGeom>
          <a:noFill/>
          <a:ln/>
        </p:spPr>
        <p:txBody>
          <a:bodyPr wrap="square" rtlCol="0" anchor="ctr"/>
          <a:lstStyle/>
          <a:p>
            <a:pPr indent="0" marL="0">
              <a:lnSpc>
                <a:spcPct val="122000"/>
              </a:lnSpc>
              <a:buNone/>
            </a:pPr>
            <a:r>
              <a:rPr lang="en-US" sz="1150" dirty="0">
                <a:solidFill>
                  <a:srgbClr val="CADCFC"/>
                </a:solidFill>
                <a:latin typeface="Calibri" pitchFamily="34" charset="0"/>
                <a:ea typeface="Calibri" pitchFamily="34" charset="-122"/>
                <a:cs typeface="Calibri" pitchFamily="34" charset="-120"/>
              </a:rPr>
              <a:t>The message appears to come from your CFO’s exact email address. It says she’s in back-to-back meetings, needs five $100 gift cards for a client gift right now, and asks you to email the card codes as soon as you buy them.</a:t>
            </a:r>
            <a:endParaRPr lang="en-US" sz="1150" dirty="0"/>
          </a:p>
        </p:txBody>
      </p:sp>
      <p:sp>
        <p:nvSpPr>
          <p:cNvPr id="9" name="Shape 6"/>
          <p:cNvSpPr/>
          <p:nvPr/>
        </p:nvSpPr>
        <p:spPr>
          <a:xfrm>
            <a:off x="548640" y="3337560"/>
            <a:ext cx="11064240" cy="658368"/>
          </a:xfrm>
          <a:prstGeom prst="roundRect">
            <a:avLst>
              <a:gd name="adj" fmla="val 9722"/>
            </a:avLst>
          </a:prstGeom>
          <a:solidFill>
            <a:srgbClr val="FFFFFF"/>
          </a:solidFill>
          <a:ln w="12700">
            <a:solidFill>
              <a:srgbClr val="DDE3F0"/>
            </a:solidFill>
            <a:prstDash val="solid"/>
          </a:ln>
        </p:spPr>
      </p:sp>
      <p:sp>
        <p:nvSpPr>
          <p:cNvPr id="10" name="Shape 7"/>
          <p:cNvSpPr/>
          <p:nvPr/>
        </p:nvSpPr>
        <p:spPr>
          <a:xfrm>
            <a:off x="777240" y="3483864"/>
            <a:ext cx="365760" cy="365760"/>
          </a:xfrm>
          <a:prstGeom prst="ellipse">
            <a:avLst/>
          </a:prstGeom>
          <a:solidFill>
            <a:srgbClr val="1E2761"/>
          </a:solidFill>
          <a:ln/>
        </p:spPr>
      </p:sp>
      <p:sp>
        <p:nvSpPr>
          <p:cNvPr id="11" name="Text 8"/>
          <p:cNvSpPr/>
          <p:nvPr/>
        </p:nvSpPr>
        <p:spPr>
          <a:xfrm>
            <a:off x="777240" y="348386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325880" y="333756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Buy the cards immediately since it’s from the CFO and marked urgent.</a:t>
            </a:r>
            <a:endParaRPr lang="en-US" sz="1250" dirty="0"/>
          </a:p>
        </p:txBody>
      </p:sp>
      <p:sp>
        <p:nvSpPr>
          <p:cNvPr id="13" name="Shape 10"/>
          <p:cNvSpPr/>
          <p:nvPr/>
        </p:nvSpPr>
        <p:spPr>
          <a:xfrm>
            <a:off x="548640" y="4114800"/>
            <a:ext cx="11064240" cy="658368"/>
          </a:xfrm>
          <a:prstGeom prst="roundRect">
            <a:avLst>
              <a:gd name="adj" fmla="val 9722"/>
            </a:avLst>
          </a:prstGeom>
          <a:solidFill>
            <a:srgbClr val="FFFFFF"/>
          </a:solidFill>
          <a:ln w="12700">
            <a:solidFill>
              <a:srgbClr val="DDE3F0"/>
            </a:solidFill>
            <a:prstDash val="solid"/>
          </a:ln>
        </p:spPr>
      </p:sp>
      <p:sp>
        <p:nvSpPr>
          <p:cNvPr id="14" name="Shape 11"/>
          <p:cNvSpPr/>
          <p:nvPr/>
        </p:nvSpPr>
        <p:spPr>
          <a:xfrm>
            <a:off x="777240" y="4261104"/>
            <a:ext cx="365760" cy="365760"/>
          </a:xfrm>
          <a:prstGeom prst="ellipse">
            <a:avLst/>
          </a:prstGeom>
          <a:solidFill>
            <a:srgbClr val="1E2761"/>
          </a:solidFill>
          <a:ln/>
        </p:spPr>
      </p:sp>
      <p:sp>
        <p:nvSpPr>
          <p:cNvPr id="15" name="Text 12"/>
          <p:cNvSpPr/>
          <p:nvPr/>
        </p:nvSpPr>
        <p:spPr>
          <a:xfrm>
            <a:off x="777240" y="426110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325880" y="411480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Reply asking for more details, since replying to the same thread is safest.</a:t>
            </a:r>
            <a:endParaRPr lang="en-US" sz="1250" dirty="0"/>
          </a:p>
        </p:txBody>
      </p:sp>
      <p:sp>
        <p:nvSpPr>
          <p:cNvPr id="17" name="Shape 14"/>
          <p:cNvSpPr/>
          <p:nvPr/>
        </p:nvSpPr>
        <p:spPr>
          <a:xfrm>
            <a:off x="548640" y="4892040"/>
            <a:ext cx="11064240" cy="658368"/>
          </a:xfrm>
          <a:prstGeom prst="roundRect">
            <a:avLst>
              <a:gd name="adj" fmla="val 9722"/>
            </a:avLst>
          </a:prstGeom>
          <a:solidFill>
            <a:srgbClr val="FFFFFF"/>
          </a:solidFill>
          <a:ln w="12700">
            <a:solidFill>
              <a:srgbClr val="DDE3F0"/>
            </a:solidFill>
            <a:prstDash val="solid"/>
          </a:ln>
        </p:spPr>
      </p:sp>
      <p:sp>
        <p:nvSpPr>
          <p:cNvPr id="18" name="Shape 15"/>
          <p:cNvSpPr/>
          <p:nvPr/>
        </p:nvSpPr>
        <p:spPr>
          <a:xfrm>
            <a:off x="777240" y="5038344"/>
            <a:ext cx="365760" cy="365760"/>
          </a:xfrm>
          <a:prstGeom prst="ellipse">
            <a:avLst/>
          </a:prstGeom>
          <a:solidFill>
            <a:srgbClr val="1E2761"/>
          </a:solidFill>
          <a:ln/>
        </p:spPr>
      </p:sp>
      <p:sp>
        <p:nvSpPr>
          <p:cNvPr id="19" name="Text 16"/>
          <p:cNvSpPr/>
          <p:nvPr/>
        </p:nvSpPr>
        <p:spPr>
          <a:xfrm>
            <a:off x="777240" y="503834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325880" y="489204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Contact the CFO through a known number or in person before doing anything.</a:t>
            </a:r>
            <a:endParaRPr lang="en-US" sz="1250" dirty="0"/>
          </a:p>
        </p:txBody>
      </p:sp>
      <p:sp>
        <p:nvSpPr>
          <p:cNvPr id="21" name="Shape 18"/>
          <p:cNvSpPr/>
          <p:nvPr/>
        </p:nvSpPr>
        <p:spPr>
          <a:xfrm>
            <a:off x="548640" y="5669280"/>
            <a:ext cx="11064240" cy="658368"/>
          </a:xfrm>
          <a:prstGeom prst="roundRect">
            <a:avLst>
              <a:gd name="adj" fmla="val 9722"/>
            </a:avLst>
          </a:prstGeom>
          <a:solidFill>
            <a:srgbClr val="FFFFFF"/>
          </a:solidFill>
          <a:ln w="12700">
            <a:solidFill>
              <a:srgbClr val="DDE3F0"/>
            </a:solidFill>
            <a:prstDash val="solid"/>
          </a:ln>
        </p:spPr>
      </p:sp>
      <p:sp>
        <p:nvSpPr>
          <p:cNvPr id="22" name="Shape 19"/>
          <p:cNvSpPr/>
          <p:nvPr/>
        </p:nvSpPr>
        <p:spPr>
          <a:xfrm>
            <a:off x="777240" y="5815584"/>
            <a:ext cx="365760" cy="365760"/>
          </a:xfrm>
          <a:prstGeom prst="ellipse">
            <a:avLst/>
          </a:prstGeom>
          <a:solidFill>
            <a:srgbClr val="1E2761"/>
          </a:solidFill>
          <a:ln/>
        </p:spPr>
      </p:sp>
      <p:sp>
        <p:nvSpPr>
          <p:cNvPr id="23" name="Text 20"/>
          <p:cNvSpPr/>
          <p:nvPr/>
        </p:nvSpPr>
        <p:spPr>
          <a:xfrm>
            <a:off x="777240" y="581558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325880" y="566928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Ignore the email completely and delete it without telling anyone.</a:t>
            </a:r>
            <a:endParaRPr lang="en-US" sz="1250" dirty="0"/>
          </a:p>
        </p:txBody>
      </p:sp>
      <p:sp>
        <p:nvSpPr>
          <p:cNvPr id="25"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822960" cy="822960"/>
          </a:xfrm>
          <a:prstGeom prst="ellipse">
            <a:avLst/>
          </a:prstGeom>
          <a:solidFill>
            <a:srgbClr val="2A9D6F"/>
          </a:solidFill>
          <a:ln/>
        </p:spPr>
      </p:sp>
      <p:pic>
        <p:nvPicPr>
          <p:cNvPr id="3" name="Image 0" descr="icons/check.png">    </p:cNvPr>
          <p:cNvPicPr>
            <a:picLocks noChangeAspect="1"/>
          </p:cNvPicPr>
          <p:nvPr/>
        </p:nvPicPr>
        <p:blipFill>
          <a:blip r:embed="rId1"/>
          <a:stretch>
            <a:fillRect/>
          </a:stretch>
        </p:blipFill>
        <p:spPr>
          <a:xfrm>
            <a:off x="713232" y="804672"/>
            <a:ext cx="493776" cy="493776"/>
          </a:xfrm>
          <a:prstGeom prst="rect">
            <a:avLst/>
          </a:prstGeom>
        </p:spPr>
      </p:pic>
      <p:sp>
        <p:nvSpPr>
          <p:cNvPr id="4" name="Text 1"/>
          <p:cNvSpPr/>
          <p:nvPr/>
        </p:nvSpPr>
        <p:spPr>
          <a:xfrm>
            <a:off x="1508760" y="731520"/>
            <a:ext cx="7315200" cy="457200"/>
          </a:xfrm>
          <a:prstGeom prst="rect">
            <a:avLst/>
          </a:prstGeom>
          <a:noFill/>
          <a:ln/>
        </p:spPr>
        <p:txBody>
          <a:bodyPr wrap="square" rtlCol="0" anchor="ctr"/>
          <a:lstStyle/>
          <a:p>
            <a:pPr indent="0" marL="0">
              <a:buNone/>
            </a:pPr>
            <a:r>
              <a:rPr lang="en-US" sz="1300" b="1" spc="150" kern="0" dirty="0">
                <a:solidFill>
                  <a:srgbClr val="CADCFC"/>
                </a:solidFill>
                <a:latin typeface="Calibri" pitchFamily="34" charset="0"/>
                <a:ea typeface="Calibri" pitchFamily="34" charset="-122"/>
                <a:cs typeface="Calibri" pitchFamily="34" charset="-120"/>
              </a:rPr>
              <a:t>Answer — Quick check 1</a:t>
            </a:r>
            <a:endParaRPr lang="en-US" sz="1300" dirty="0"/>
          </a:p>
        </p:txBody>
      </p:sp>
      <p:sp>
        <p:nvSpPr>
          <p:cNvPr id="5" name="Text 2"/>
          <p:cNvSpPr/>
          <p:nvPr/>
        </p:nvSpPr>
        <p:spPr>
          <a:xfrm>
            <a:off x="1508760" y="1097280"/>
            <a:ext cx="9875520" cy="822960"/>
          </a:xfrm>
          <a:prstGeom prst="rect">
            <a:avLst/>
          </a:prstGeom>
          <a:noFill/>
          <a:ln/>
        </p:spPr>
        <p:txBody>
          <a:bodyPr wrap="square" rtlCol="0" anchor="ctr"/>
          <a:lstStyle/>
          <a:p>
            <a:pPr indent="0" marL="0">
              <a:lnSpc>
                <a:spcPct val="120000"/>
              </a:lnSpc>
              <a:buNone/>
            </a:pPr>
            <a:r>
              <a:rPr lang="en-US" sz="1900" b="1" dirty="0">
                <a:solidFill>
                  <a:srgbClr val="FFFFFF"/>
                </a:solidFill>
                <a:latin typeface="Cambria" pitchFamily="34" charset="0"/>
                <a:ea typeface="Cambria" pitchFamily="34" charset="-122"/>
                <a:cs typeface="Cambria" pitchFamily="34" charset="-120"/>
              </a:rPr>
              <a:t>Correct: C. Contact the CFO through a known number or in person before doing anything.</a:t>
            </a:r>
            <a:endParaRPr lang="en-US" sz="1900" dirty="0"/>
          </a:p>
        </p:txBody>
      </p:sp>
      <p:sp>
        <p:nvSpPr>
          <p:cNvPr id="6" name="Shape 3"/>
          <p:cNvSpPr/>
          <p:nvPr/>
        </p:nvSpPr>
        <p:spPr>
          <a:xfrm>
            <a:off x="548640" y="2286000"/>
            <a:ext cx="11064240" cy="3566160"/>
          </a:xfrm>
          <a:prstGeom prst="roundRect">
            <a:avLst>
              <a:gd name="adj" fmla="val 2051"/>
            </a:avLst>
          </a:prstGeom>
          <a:solidFill>
            <a:srgbClr val="141B47"/>
          </a:solidFill>
          <a:ln w="12700">
            <a:solidFill>
              <a:srgbClr val="32407A"/>
            </a:solidFill>
            <a:prstDash val="solid"/>
          </a:ln>
        </p:spPr>
      </p:sp>
      <p:sp>
        <p:nvSpPr>
          <p:cNvPr id="7" name="Text 4"/>
          <p:cNvSpPr/>
          <p:nvPr/>
        </p:nvSpPr>
        <p:spPr>
          <a:xfrm>
            <a:off x="868680" y="2514600"/>
            <a:ext cx="2743200" cy="320040"/>
          </a:xfrm>
          <a:prstGeom prst="rect">
            <a:avLst/>
          </a:prstGeom>
          <a:noFill/>
          <a:ln/>
        </p:spPr>
        <p:txBody>
          <a:bodyPr wrap="square" rtlCol="0" anchor="ctr"/>
          <a:lstStyle/>
          <a:p>
            <a:pPr indent="0" marL="0">
              <a:buNone/>
            </a:pPr>
            <a:r>
              <a:rPr lang="en-US" sz="1200" b="1" spc="200" kern="0" dirty="0">
                <a:solidFill>
                  <a:srgbClr val="E63946"/>
                </a:solidFill>
                <a:latin typeface="Calibri" pitchFamily="34" charset="0"/>
                <a:ea typeface="Calibri" pitchFamily="34" charset="-122"/>
                <a:cs typeface="Calibri" pitchFamily="34" charset="-120"/>
              </a:rPr>
              <a:t>WHY</a:t>
            </a:r>
            <a:endParaRPr lang="en-US" sz="1200" dirty="0"/>
          </a:p>
        </p:txBody>
      </p:sp>
      <p:sp>
        <p:nvSpPr>
          <p:cNvPr id="8" name="Text 5"/>
          <p:cNvSpPr/>
          <p:nvPr/>
        </p:nvSpPr>
        <p:spPr>
          <a:xfrm>
            <a:off x="868680" y="2880360"/>
            <a:ext cx="10424160" cy="2651760"/>
          </a:xfrm>
          <a:prstGeom prst="rect">
            <a:avLst/>
          </a:prstGeom>
          <a:noFill/>
          <a:ln/>
        </p:spPr>
        <p:txBody>
          <a:bodyPr wrap="square" rtlCol="0" anchor="ctr"/>
          <a:lstStyle/>
          <a:p>
            <a:pPr indent="0" marL="0">
              <a:lnSpc>
                <a:spcPct val="135000"/>
              </a:lnSpc>
              <a:buNone/>
            </a:pPr>
            <a:r>
              <a:rPr lang="en-US" sz="1350" dirty="0">
                <a:solidFill>
                  <a:srgbClr val="CADCFC"/>
                </a:solidFill>
                <a:latin typeface="Calibri" pitchFamily="34" charset="0"/>
                <a:ea typeface="Calibri" pitchFamily="34" charset="-122"/>
                <a:cs typeface="Calibri" pitchFamily="34" charset="-120"/>
              </a:rPr>
              <a:t>This is a classic gift-card business email compromise: urgency, an authority figure, and an unusual request outside normal purchasing channels. Even a "correct" email address can be spoofed or compromised, so replying to the same thread just confirms the attacker’s email works. The safe move is verifying through a separate, already-known channel — a phone call or a walk down the hall — before spending any money. It’s also worth reporting the message so security can warn others and block the sender.</a:t>
            </a:r>
            <a:endParaRPr lang="en-US" sz="1350" dirty="0"/>
          </a:p>
        </p:txBody>
      </p:sp>
      <p:sp>
        <p:nvSpPr>
          <p:cNvPr id="9" name="Text 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TEST YOURSELF</a:t>
            </a:r>
            <a:endParaRPr lang="en-US" sz="1250" dirty="0"/>
          </a:p>
        </p:txBody>
      </p:sp>
      <p:sp>
        <p:nvSpPr>
          <p:cNvPr id="3" name="Text 1"/>
          <p:cNvSpPr/>
          <p:nvPr/>
        </p:nvSpPr>
        <p:spPr>
          <a:xfrm>
            <a:off x="548640" y="749808"/>
            <a:ext cx="10515600" cy="640080"/>
          </a:xfrm>
          <a:prstGeom prst="rect">
            <a:avLst/>
          </a:prstGeom>
          <a:noFill/>
          <a:ln/>
        </p:spPr>
        <p:txBody>
          <a:bodyPr wrap="square" rtlCol="0" anchor="ctr"/>
          <a:lstStyle/>
          <a:p>
            <a:pPr indent="0" marL="0">
              <a:buNone/>
            </a:pPr>
            <a:r>
              <a:rPr lang="en-US" sz="2700" b="1" dirty="0">
                <a:solidFill>
                  <a:srgbClr val="1B2033"/>
                </a:solidFill>
                <a:latin typeface="Cambria" pitchFamily="34" charset="0"/>
                <a:ea typeface="Cambria" pitchFamily="34" charset="-122"/>
                <a:cs typeface="Cambria" pitchFamily="34" charset="-120"/>
              </a:rPr>
              <a:t>Quick check 2 of 3</a:t>
            </a:r>
            <a:endParaRPr lang="en-US" sz="2700" dirty="0"/>
          </a:p>
        </p:txBody>
      </p:sp>
      <p:sp>
        <p:nvSpPr>
          <p:cNvPr id="4" name="Shape 2"/>
          <p:cNvSpPr/>
          <p:nvPr/>
        </p:nvSpPr>
        <p:spPr>
          <a:xfrm>
            <a:off x="548640" y="1600200"/>
            <a:ext cx="11064240" cy="1417320"/>
          </a:xfrm>
          <a:prstGeom prst="roundRect">
            <a:avLst>
              <a:gd name="adj" fmla="val 5161"/>
            </a:avLst>
          </a:prstGeom>
          <a:solidFill>
            <a:srgbClr val="1E2761"/>
          </a:solidFill>
          <a:ln/>
        </p:spPr>
      </p:sp>
      <p:sp>
        <p:nvSpPr>
          <p:cNvPr id="5" name="Shape 3"/>
          <p:cNvSpPr/>
          <p:nvPr/>
        </p:nvSpPr>
        <p:spPr>
          <a:xfrm>
            <a:off x="777240" y="1810512"/>
            <a:ext cx="685800" cy="685800"/>
          </a:xfrm>
          <a:prstGeom prst="ellipse">
            <a:avLst/>
          </a:prstGeom>
          <a:solidFill>
            <a:srgbClr val="E63946"/>
          </a:solidFill>
          <a:ln/>
        </p:spPr>
      </p:sp>
      <p:pic>
        <p:nvPicPr>
          <p:cNvPr id="6" name="Image 0" descr="icons/question.png">    </p:cNvPr>
          <p:cNvPicPr>
            <a:picLocks noChangeAspect="1"/>
          </p:cNvPicPr>
          <p:nvPr/>
        </p:nvPicPr>
        <p:blipFill>
          <a:blip r:embed="rId1"/>
          <a:stretch>
            <a:fillRect/>
          </a:stretch>
        </p:blipFill>
        <p:spPr>
          <a:xfrm>
            <a:off x="931545" y="1964817"/>
            <a:ext cx="377190" cy="377190"/>
          </a:xfrm>
          <a:prstGeom prst="rect">
            <a:avLst/>
          </a:prstGeom>
        </p:spPr>
      </p:pic>
      <p:sp>
        <p:nvSpPr>
          <p:cNvPr id="7" name="Text 4"/>
          <p:cNvSpPr/>
          <p:nvPr/>
        </p:nvSpPr>
        <p:spPr>
          <a:xfrm>
            <a:off x="1691640" y="1737360"/>
            <a:ext cx="969264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 get a text saying a package couldn’t be delivered.</a:t>
            </a:r>
            <a:endParaRPr lang="en-US" sz="1500" dirty="0"/>
          </a:p>
        </p:txBody>
      </p:sp>
      <p:sp>
        <p:nvSpPr>
          <p:cNvPr id="8" name="Text 5"/>
          <p:cNvSpPr/>
          <p:nvPr/>
        </p:nvSpPr>
        <p:spPr>
          <a:xfrm>
            <a:off x="1691640" y="2121408"/>
            <a:ext cx="9692640" cy="822960"/>
          </a:xfrm>
          <a:prstGeom prst="rect">
            <a:avLst/>
          </a:prstGeom>
          <a:noFill/>
          <a:ln/>
        </p:spPr>
        <p:txBody>
          <a:bodyPr wrap="square" rtlCol="0" anchor="ctr"/>
          <a:lstStyle/>
          <a:p>
            <a:pPr indent="0" marL="0">
              <a:lnSpc>
                <a:spcPct val="122000"/>
              </a:lnSpc>
              <a:buNone/>
            </a:pPr>
            <a:r>
              <a:rPr lang="en-US" sz="1150" dirty="0">
                <a:solidFill>
                  <a:srgbClr val="CADCFC"/>
                </a:solidFill>
                <a:latin typeface="Calibri" pitchFamily="34" charset="0"/>
                <a:ea typeface="Calibri" pitchFamily="34" charset="-122"/>
                <a:cs typeface="Calibri" pitchFamily="34" charset="-120"/>
              </a:rPr>
              <a:t>The SMS claims to be from a shipping carrier: "We attempted delivery but could not access your address. Reschedule here: bit.ly/redeliver-pkg2847." You aren’t expecting a package.</a:t>
            </a:r>
            <a:endParaRPr lang="en-US" sz="1150" dirty="0"/>
          </a:p>
        </p:txBody>
      </p:sp>
      <p:sp>
        <p:nvSpPr>
          <p:cNvPr id="9" name="Shape 6"/>
          <p:cNvSpPr/>
          <p:nvPr/>
        </p:nvSpPr>
        <p:spPr>
          <a:xfrm>
            <a:off x="548640" y="3337560"/>
            <a:ext cx="11064240" cy="658368"/>
          </a:xfrm>
          <a:prstGeom prst="roundRect">
            <a:avLst>
              <a:gd name="adj" fmla="val 9722"/>
            </a:avLst>
          </a:prstGeom>
          <a:solidFill>
            <a:srgbClr val="FFFFFF"/>
          </a:solidFill>
          <a:ln w="12700">
            <a:solidFill>
              <a:srgbClr val="DDE3F0"/>
            </a:solidFill>
            <a:prstDash val="solid"/>
          </a:ln>
        </p:spPr>
      </p:sp>
      <p:sp>
        <p:nvSpPr>
          <p:cNvPr id="10" name="Shape 7"/>
          <p:cNvSpPr/>
          <p:nvPr/>
        </p:nvSpPr>
        <p:spPr>
          <a:xfrm>
            <a:off x="777240" y="3483864"/>
            <a:ext cx="365760" cy="365760"/>
          </a:xfrm>
          <a:prstGeom prst="ellipse">
            <a:avLst/>
          </a:prstGeom>
          <a:solidFill>
            <a:srgbClr val="1E2761"/>
          </a:solidFill>
          <a:ln/>
        </p:spPr>
      </p:sp>
      <p:sp>
        <p:nvSpPr>
          <p:cNvPr id="11" name="Text 8"/>
          <p:cNvSpPr/>
          <p:nvPr/>
        </p:nvSpPr>
        <p:spPr>
          <a:xfrm>
            <a:off x="777240" y="348386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325880" y="333756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Tap the link to check the delivery details, just to be safe.</a:t>
            </a:r>
            <a:endParaRPr lang="en-US" sz="1250" dirty="0"/>
          </a:p>
        </p:txBody>
      </p:sp>
      <p:sp>
        <p:nvSpPr>
          <p:cNvPr id="13" name="Shape 10"/>
          <p:cNvSpPr/>
          <p:nvPr/>
        </p:nvSpPr>
        <p:spPr>
          <a:xfrm>
            <a:off x="548640" y="4114800"/>
            <a:ext cx="11064240" cy="658368"/>
          </a:xfrm>
          <a:prstGeom prst="roundRect">
            <a:avLst>
              <a:gd name="adj" fmla="val 9722"/>
            </a:avLst>
          </a:prstGeom>
          <a:solidFill>
            <a:srgbClr val="FFFFFF"/>
          </a:solidFill>
          <a:ln w="12700">
            <a:solidFill>
              <a:srgbClr val="DDE3F0"/>
            </a:solidFill>
            <a:prstDash val="solid"/>
          </a:ln>
        </p:spPr>
      </p:sp>
      <p:sp>
        <p:nvSpPr>
          <p:cNvPr id="14" name="Shape 11"/>
          <p:cNvSpPr/>
          <p:nvPr/>
        </p:nvSpPr>
        <p:spPr>
          <a:xfrm>
            <a:off x="777240" y="4261104"/>
            <a:ext cx="365760" cy="365760"/>
          </a:xfrm>
          <a:prstGeom prst="ellipse">
            <a:avLst/>
          </a:prstGeom>
          <a:solidFill>
            <a:srgbClr val="1E2761"/>
          </a:solidFill>
          <a:ln/>
        </p:spPr>
      </p:sp>
      <p:sp>
        <p:nvSpPr>
          <p:cNvPr id="15" name="Text 12"/>
          <p:cNvSpPr/>
          <p:nvPr/>
        </p:nvSpPr>
        <p:spPr>
          <a:xfrm>
            <a:off x="777240" y="426110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325880" y="411480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Delete the text and, if concerned, check tracking directly on the carrier’s official app or site.</a:t>
            </a:r>
            <a:endParaRPr lang="en-US" sz="1250" dirty="0"/>
          </a:p>
        </p:txBody>
      </p:sp>
      <p:sp>
        <p:nvSpPr>
          <p:cNvPr id="17" name="Shape 14"/>
          <p:cNvSpPr/>
          <p:nvPr/>
        </p:nvSpPr>
        <p:spPr>
          <a:xfrm>
            <a:off x="548640" y="4892040"/>
            <a:ext cx="11064240" cy="658368"/>
          </a:xfrm>
          <a:prstGeom prst="roundRect">
            <a:avLst>
              <a:gd name="adj" fmla="val 9722"/>
            </a:avLst>
          </a:prstGeom>
          <a:solidFill>
            <a:srgbClr val="FFFFFF"/>
          </a:solidFill>
          <a:ln w="12700">
            <a:solidFill>
              <a:srgbClr val="DDE3F0"/>
            </a:solidFill>
            <a:prstDash val="solid"/>
          </a:ln>
        </p:spPr>
      </p:sp>
      <p:sp>
        <p:nvSpPr>
          <p:cNvPr id="18" name="Shape 15"/>
          <p:cNvSpPr/>
          <p:nvPr/>
        </p:nvSpPr>
        <p:spPr>
          <a:xfrm>
            <a:off x="777240" y="5038344"/>
            <a:ext cx="365760" cy="365760"/>
          </a:xfrm>
          <a:prstGeom prst="ellipse">
            <a:avLst/>
          </a:prstGeom>
          <a:solidFill>
            <a:srgbClr val="1E2761"/>
          </a:solidFill>
          <a:ln/>
        </p:spPr>
      </p:sp>
      <p:sp>
        <p:nvSpPr>
          <p:cNvPr id="19" name="Text 16"/>
          <p:cNvSpPr/>
          <p:nvPr/>
        </p:nvSpPr>
        <p:spPr>
          <a:xfrm>
            <a:off x="777240" y="503834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325880" y="489204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Reply "STOP" to the number to unsubscribe.</a:t>
            </a:r>
            <a:endParaRPr lang="en-US" sz="1250" dirty="0"/>
          </a:p>
        </p:txBody>
      </p:sp>
      <p:sp>
        <p:nvSpPr>
          <p:cNvPr id="21" name="Shape 18"/>
          <p:cNvSpPr/>
          <p:nvPr/>
        </p:nvSpPr>
        <p:spPr>
          <a:xfrm>
            <a:off x="548640" y="5669280"/>
            <a:ext cx="11064240" cy="658368"/>
          </a:xfrm>
          <a:prstGeom prst="roundRect">
            <a:avLst>
              <a:gd name="adj" fmla="val 9722"/>
            </a:avLst>
          </a:prstGeom>
          <a:solidFill>
            <a:srgbClr val="FFFFFF"/>
          </a:solidFill>
          <a:ln w="12700">
            <a:solidFill>
              <a:srgbClr val="DDE3F0"/>
            </a:solidFill>
            <a:prstDash val="solid"/>
          </a:ln>
        </p:spPr>
      </p:sp>
      <p:sp>
        <p:nvSpPr>
          <p:cNvPr id="22" name="Shape 19"/>
          <p:cNvSpPr/>
          <p:nvPr/>
        </p:nvSpPr>
        <p:spPr>
          <a:xfrm>
            <a:off x="777240" y="5815584"/>
            <a:ext cx="365760" cy="365760"/>
          </a:xfrm>
          <a:prstGeom prst="ellipse">
            <a:avLst/>
          </a:prstGeom>
          <a:solidFill>
            <a:srgbClr val="1E2761"/>
          </a:solidFill>
          <a:ln/>
        </p:spPr>
      </p:sp>
      <p:sp>
        <p:nvSpPr>
          <p:cNvPr id="23" name="Text 20"/>
          <p:cNvSpPr/>
          <p:nvPr/>
        </p:nvSpPr>
        <p:spPr>
          <a:xfrm>
            <a:off x="777240" y="581558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325880" y="566928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Forward it to a friend to ask if they’ve gotten one too.</a:t>
            </a:r>
            <a:endParaRPr lang="en-US" sz="1250" dirty="0"/>
          </a:p>
        </p:txBody>
      </p:sp>
      <p:sp>
        <p:nvSpPr>
          <p:cNvPr id="25"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822960" cy="822960"/>
          </a:xfrm>
          <a:prstGeom prst="ellipse">
            <a:avLst/>
          </a:prstGeom>
          <a:solidFill>
            <a:srgbClr val="2A9D6F"/>
          </a:solidFill>
          <a:ln/>
        </p:spPr>
      </p:sp>
      <p:pic>
        <p:nvPicPr>
          <p:cNvPr id="3" name="Image 0" descr="icons/check.png">    </p:cNvPr>
          <p:cNvPicPr>
            <a:picLocks noChangeAspect="1"/>
          </p:cNvPicPr>
          <p:nvPr/>
        </p:nvPicPr>
        <p:blipFill>
          <a:blip r:embed="rId1"/>
          <a:stretch>
            <a:fillRect/>
          </a:stretch>
        </p:blipFill>
        <p:spPr>
          <a:xfrm>
            <a:off x="713232" y="804672"/>
            <a:ext cx="493776" cy="493776"/>
          </a:xfrm>
          <a:prstGeom prst="rect">
            <a:avLst/>
          </a:prstGeom>
        </p:spPr>
      </p:pic>
      <p:sp>
        <p:nvSpPr>
          <p:cNvPr id="4" name="Text 1"/>
          <p:cNvSpPr/>
          <p:nvPr/>
        </p:nvSpPr>
        <p:spPr>
          <a:xfrm>
            <a:off x="1508760" y="731520"/>
            <a:ext cx="7315200" cy="457200"/>
          </a:xfrm>
          <a:prstGeom prst="rect">
            <a:avLst/>
          </a:prstGeom>
          <a:noFill/>
          <a:ln/>
        </p:spPr>
        <p:txBody>
          <a:bodyPr wrap="square" rtlCol="0" anchor="ctr"/>
          <a:lstStyle/>
          <a:p>
            <a:pPr indent="0" marL="0">
              <a:buNone/>
            </a:pPr>
            <a:r>
              <a:rPr lang="en-US" sz="1300" b="1" spc="150" kern="0" dirty="0">
                <a:solidFill>
                  <a:srgbClr val="CADCFC"/>
                </a:solidFill>
                <a:latin typeface="Calibri" pitchFamily="34" charset="0"/>
                <a:ea typeface="Calibri" pitchFamily="34" charset="-122"/>
                <a:cs typeface="Calibri" pitchFamily="34" charset="-120"/>
              </a:rPr>
              <a:t>Answer — Quick check 2</a:t>
            </a:r>
            <a:endParaRPr lang="en-US" sz="1300" dirty="0"/>
          </a:p>
        </p:txBody>
      </p:sp>
      <p:sp>
        <p:nvSpPr>
          <p:cNvPr id="5" name="Text 2"/>
          <p:cNvSpPr/>
          <p:nvPr/>
        </p:nvSpPr>
        <p:spPr>
          <a:xfrm>
            <a:off x="1508760" y="1097280"/>
            <a:ext cx="9875520" cy="822960"/>
          </a:xfrm>
          <a:prstGeom prst="rect">
            <a:avLst/>
          </a:prstGeom>
          <a:noFill/>
          <a:ln/>
        </p:spPr>
        <p:txBody>
          <a:bodyPr wrap="square" rtlCol="0" anchor="ctr"/>
          <a:lstStyle/>
          <a:p>
            <a:pPr indent="0" marL="0">
              <a:lnSpc>
                <a:spcPct val="120000"/>
              </a:lnSpc>
              <a:buNone/>
            </a:pPr>
            <a:r>
              <a:rPr lang="en-US" sz="1900" b="1" dirty="0">
                <a:solidFill>
                  <a:srgbClr val="FFFFFF"/>
                </a:solidFill>
                <a:latin typeface="Cambria" pitchFamily="34" charset="0"/>
                <a:ea typeface="Cambria" pitchFamily="34" charset="-122"/>
                <a:cs typeface="Cambria" pitchFamily="34" charset="-120"/>
              </a:rPr>
              <a:t>Correct: B. Delete the text and, if concerned, check tracking directly on the carrier’s official app or site.</a:t>
            </a:r>
            <a:endParaRPr lang="en-US" sz="1900" dirty="0"/>
          </a:p>
        </p:txBody>
      </p:sp>
      <p:sp>
        <p:nvSpPr>
          <p:cNvPr id="6" name="Shape 3"/>
          <p:cNvSpPr/>
          <p:nvPr/>
        </p:nvSpPr>
        <p:spPr>
          <a:xfrm>
            <a:off x="548640" y="2286000"/>
            <a:ext cx="11064240" cy="3566160"/>
          </a:xfrm>
          <a:prstGeom prst="roundRect">
            <a:avLst>
              <a:gd name="adj" fmla="val 2051"/>
            </a:avLst>
          </a:prstGeom>
          <a:solidFill>
            <a:srgbClr val="141B47"/>
          </a:solidFill>
          <a:ln w="12700">
            <a:solidFill>
              <a:srgbClr val="32407A"/>
            </a:solidFill>
            <a:prstDash val="solid"/>
          </a:ln>
        </p:spPr>
      </p:sp>
      <p:sp>
        <p:nvSpPr>
          <p:cNvPr id="7" name="Text 4"/>
          <p:cNvSpPr/>
          <p:nvPr/>
        </p:nvSpPr>
        <p:spPr>
          <a:xfrm>
            <a:off x="868680" y="2514600"/>
            <a:ext cx="2743200" cy="320040"/>
          </a:xfrm>
          <a:prstGeom prst="rect">
            <a:avLst/>
          </a:prstGeom>
          <a:noFill/>
          <a:ln/>
        </p:spPr>
        <p:txBody>
          <a:bodyPr wrap="square" rtlCol="0" anchor="ctr"/>
          <a:lstStyle/>
          <a:p>
            <a:pPr indent="0" marL="0">
              <a:buNone/>
            </a:pPr>
            <a:r>
              <a:rPr lang="en-US" sz="1200" b="1" spc="200" kern="0" dirty="0">
                <a:solidFill>
                  <a:srgbClr val="E63946"/>
                </a:solidFill>
                <a:latin typeface="Calibri" pitchFamily="34" charset="0"/>
                <a:ea typeface="Calibri" pitchFamily="34" charset="-122"/>
                <a:cs typeface="Calibri" pitchFamily="34" charset="-120"/>
              </a:rPr>
              <a:t>WHY</a:t>
            </a:r>
            <a:endParaRPr lang="en-US" sz="1200" dirty="0"/>
          </a:p>
        </p:txBody>
      </p:sp>
      <p:sp>
        <p:nvSpPr>
          <p:cNvPr id="8" name="Text 5"/>
          <p:cNvSpPr/>
          <p:nvPr/>
        </p:nvSpPr>
        <p:spPr>
          <a:xfrm>
            <a:off x="868680" y="2880360"/>
            <a:ext cx="10424160" cy="2651760"/>
          </a:xfrm>
          <a:prstGeom prst="rect">
            <a:avLst/>
          </a:prstGeom>
          <a:noFill/>
          <a:ln/>
        </p:spPr>
        <p:txBody>
          <a:bodyPr wrap="square" rtlCol="0" anchor="ctr"/>
          <a:lstStyle/>
          <a:p>
            <a:pPr indent="0" marL="0">
              <a:lnSpc>
                <a:spcPct val="135000"/>
              </a:lnSpc>
              <a:buNone/>
            </a:pPr>
            <a:r>
              <a:rPr lang="en-US" sz="1350" dirty="0">
                <a:solidFill>
                  <a:srgbClr val="CADCFC"/>
                </a:solidFill>
                <a:latin typeface="Calibri" pitchFamily="34" charset="0"/>
                <a:ea typeface="Calibri" pitchFamily="34" charset="-122"/>
                <a:cs typeface="Calibri" pitchFamily="34" charset="-120"/>
              </a:rPr>
              <a:t>This is smishing — phishing by text. A shortened, unfamiliar link, an unexpected package, and a vague "couldn’t deliver" story are all hallmarks of the scam. Tapping the link or replying both confirm your number is active, inviting more attempts. The safest step is to go directly to the carrier’s official app or website (typed in yourself, not via the link) if you want to double-check, and otherwise simply delete the message.</a:t>
            </a:r>
            <a:endParaRPr lang="en-US" sz="1350" dirty="0"/>
          </a:p>
        </p:txBody>
      </p:sp>
      <p:sp>
        <p:nvSpPr>
          <p:cNvPr id="9" name="Text 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63946"/>
                </a:solidFill>
                <a:latin typeface="Calibri" pitchFamily="34" charset="0"/>
                <a:ea typeface="Calibri" pitchFamily="34" charset="-122"/>
                <a:cs typeface="Calibri" pitchFamily="34" charset="-120"/>
              </a:rPr>
              <a:t>TEST YOURSELF</a:t>
            </a:r>
            <a:endParaRPr lang="en-US" sz="1250" dirty="0"/>
          </a:p>
        </p:txBody>
      </p:sp>
      <p:sp>
        <p:nvSpPr>
          <p:cNvPr id="3" name="Text 1"/>
          <p:cNvSpPr/>
          <p:nvPr/>
        </p:nvSpPr>
        <p:spPr>
          <a:xfrm>
            <a:off x="548640" y="749808"/>
            <a:ext cx="10515600" cy="640080"/>
          </a:xfrm>
          <a:prstGeom prst="rect">
            <a:avLst/>
          </a:prstGeom>
          <a:noFill/>
          <a:ln/>
        </p:spPr>
        <p:txBody>
          <a:bodyPr wrap="square" rtlCol="0" anchor="ctr"/>
          <a:lstStyle/>
          <a:p>
            <a:pPr indent="0" marL="0">
              <a:buNone/>
            </a:pPr>
            <a:r>
              <a:rPr lang="en-US" sz="2700" b="1" dirty="0">
                <a:solidFill>
                  <a:srgbClr val="1B2033"/>
                </a:solidFill>
                <a:latin typeface="Cambria" pitchFamily="34" charset="0"/>
                <a:ea typeface="Cambria" pitchFamily="34" charset="-122"/>
                <a:cs typeface="Cambria" pitchFamily="34" charset="-120"/>
              </a:rPr>
              <a:t>Quick check 3 of 3</a:t>
            </a:r>
            <a:endParaRPr lang="en-US" sz="2700" dirty="0"/>
          </a:p>
        </p:txBody>
      </p:sp>
      <p:sp>
        <p:nvSpPr>
          <p:cNvPr id="4" name="Shape 2"/>
          <p:cNvSpPr/>
          <p:nvPr/>
        </p:nvSpPr>
        <p:spPr>
          <a:xfrm>
            <a:off x="548640" y="1600200"/>
            <a:ext cx="11064240" cy="1417320"/>
          </a:xfrm>
          <a:prstGeom prst="roundRect">
            <a:avLst>
              <a:gd name="adj" fmla="val 5161"/>
            </a:avLst>
          </a:prstGeom>
          <a:solidFill>
            <a:srgbClr val="1E2761"/>
          </a:solidFill>
          <a:ln/>
        </p:spPr>
      </p:sp>
      <p:sp>
        <p:nvSpPr>
          <p:cNvPr id="5" name="Shape 3"/>
          <p:cNvSpPr/>
          <p:nvPr/>
        </p:nvSpPr>
        <p:spPr>
          <a:xfrm>
            <a:off x="777240" y="1810512"/>
            <a:ext cx="685800" cy="685800"/>
          </a:xfrm>
          <a:prstGeom prst="ellipse">
            <a:avLst/>
          </a:prstGeom>
          <a:solidFill>
            <a:srgbClr val="E63946"/>
          </a:solidFill>
          <a:ln/>
        </p:spPr>
      </p:sp>
      <p:pic>
        <p:nvPicPr>
          <p:cNvPr id="6" name="Image 0" descr="icons/question.png">    </p:cNvPr>
          <p:cNvPicPr>
            <a:picLocks noChangeAspect="1"/>
          </p:cNvPicPr>
          <p:nvPr/>
        </p:nvPicPr>
        <p:blipFill>
          <a:blip r:embed="rId1"/>
          <a:stretch>
            <a:fillRect/>
          </a:stretch>
        </p:blipFill>
        <p:spPr>
          <a:xfrm>
            <a:off x="931545" y="1964817"/>
            <a:ext cx="377190" cy="377190"/>
          </a:xfrm>
          <a:prstGeom prst="rect">
            <a:avLst/>
          </a:prstGeom>
        </p:spPr>
      </p:pic>
      <p:sp>
        <p:nvSpPr>
          <p:cNvPr id="7" name="Text 4"/>
          <p:cNvSpPr/>
          <p:nvPr/>
        </p:nvSpPr>
        <p:spPr>
          <a:xfrm>
            <a:off x="1691640" y="1737360"/>
            <a:ext cx="969264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IT calls asking you to confirm your login code.</a:t>
            </a:r>
            <a:endParaRPr lang="en-US" sz="1500" dirty="0"/>
          </a:p>
        </p:txBody>
      </p:sp>
      <p:sp>
        <p:nvSpPr>
          <p:cNvPr id="8" name="Text 5"/>
          <p:cNvSpPr/>
          <p:nvPr/>
        </p:nvSpPr>
        <p:spPr>
          <a:xfrm>
            <a:off x="1691640" y="2121408"/>
            <a:ext cx="9692640" cy="822960"/>
          </a:xfrm>
          <a:prstGeom prst="rect">
            <a:avLst/>
          </a:prstGeom>
          <a:noFill/>
          <a:ln/>
        </p:spPr>
        <p:txBody>
          <a:bodyPr wrap="square" rtlCol="0" anchor="ctr"/>
          <a:lstStyle/>
          <a:p>
            <a:pPr indent="0" marL="0">
              <a:lnSpc>
                <a:spcPct val="122000"/>
              </a:lnSpc>
              <a:buNone/>
            </a:pPr>
            <a:r>
              <a:rPr lang="en-US" sz="1150" dirty="0">
                <a:solidFill>
                  <a:srgbClr val="CADCFC"/>
                </a:solidFill>
                <a:latin typeface="Calibri" pitchFamily="34" charset="0"/>
                <a:ea typeface="Calibri" pitchFamily="34" charset="-122"/>
                <a:cs typeface="Calibri" pitchFamily="34" charset="-120"/>
              </a:rPr>
              <a:t>A caller says they’re from your company’s help desk resolving a "flagged security issue" on your account. They ask you to read them the six-digit code that just arrived by text so they can "verify your identity."</a:t>
            </a:r>
            <a:endParaRPr lang="en-US" sz="1150" dirty="0"/>
          </a:p>
        </p:txBody>
      </p:sp>
      <p:sp>
        <p:nvSpPr>
          <p:cNvPr id="9" name="Shape 6"/>
          <p:cNvSpPr/>
          <p:nvPr/>
        </p:nvSpPr>
        <p:spPr>
          <a:xfrm>
            <a:off x="548640" y="3337560"/>
            <a:ext cx="11064240" cy="658368"/>
          </a:xfrm>
          <a:prstGeom prst="roundRect">
            <a:avLst>
              <a:gd name="adj" fmla="val 9722"/>
            </a:avLst>
          </a:prstGeom>
          <a:solidFill>
            <a:srgbClr val="FFFFFF"/>
          </a:solidFill>
          <a:ln w="12700">
            <a:solidFill>
              <a:srgbClr val="DDE3F0"/>
            </a:solidFill>
            <a:prstDash val="solid"/>
          </a:ln>
        </p:spPr>
      </p:sp>
      <p:sp>
        <p:nvSpPr>
          <p:cNvPr id="10" name="Shape 7"/>
          <p:cNvSpPr/>
          <p:nvPr/>
        </p:nvSpPr>
        <p:spPr>
          <a:xfrm>
            <a:off x="777240" y="3483864"/>
            <a:ext cx="365760" cy="365760"/>
          </a:xfrm>
          <a:prstGeom prst="ellipse">
            <a:avLst/>
          </a:prstGeom>
          <a:solidFill>
            <a:srgbClr val="1E2761"/>
          </a:solidFill>
          <a:ln/>
        </p:spPr>
      </p:sp>
      <p:sp>
        <p:nvSpPr>
          <p:cNvPr id="11" name="Text 8"/>
          <p:cNvSpPr/>
          <p:nvPr/>
        </p:nvSpPr>
        <p:spPr>
          <a:xfrm>
            <a:off x="777240" y="348386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325880" y="333756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Read the code — it’s only useful with your password, which they didn’t ask for.</a:t>
            </a:r>
            <a:endParaRPr lang="en-US" sz="1250" dirty="0"/>
          </a:p>
        </p:txBody>
      </p:sp>
      <p:sp>
        <p:nvSpPr>
          <p:cNvPr id="13" name="Shape 10"/>
          <p:cNvSpPr/>
          <p:nvPr/>
        </p:nvSpPr>
        <p:spPr>
          <a:xfrm>
            <a:off x="548640" y="4114800"/>
            <a:ext cx="11064240" cy="658368"/>
          </a:xfrm>
          <a:prstGeom prst="roundRect">
            <a:avLst>
              <a:gd name="adj" fmla="val 9722"/>
            </a:avLst>
          </a:prstGeom>
          <a:solidFill>
            <a:srgbClr val="FFFFFF"/>
          </a:solidFill>
          <a:ln w="12700">
            <a:solidFill>
              <a:srgbClr val="DDE3F0"/>
            </a:solidFill>
            <a:prstDash val="solid"/>
          </a:ln>
        </p:spPr>
      </p:sp>
      <p:sp>
        <p:nvSpPr>
          <p:cNvPr id="14" name="Shape 11"/>
          <p:cNvSpPr/>
          <p:nvPr/>
        </p:nvSpPr>
        <p:spPr>
          <a:xfrm>
            <a:off x="777240" y="4261104"/>
            <a:ext cx="365760" cy="365760"/>
          </a:xfrm>
          <a:prstGeom prst="ellipse">
            <a:avLst/>
          </a:prstGeom>
          <a:solidFill>
            <a:srgbClr val="1E2761"/>
          </a:solidFill>
          <a:ln/>
        </p:spPr>
      </p:sp>
      <p:sp>
        <p:nvSpPr>
          <p:cNvPr id="15" name="Text 12"/>
          <p:cNvSpPr/>
          <p:nvPr/>
        </p:nvSpPr>
        <p:spPr>
          <a:xfrm>
            <a:off x="777240" y="426110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325880" y="411480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Hang up and contact IT using the number listed on your company’s internal directory.</a:t>
            </a:r>
            <a:endParaRPr lang="en-US" sz="1250" dirty="0"/>
          </a:p>
        </p:txBody>
      </p:sp>
      <p:sp>
        <p:nvSpPr>
          <p:cNvPr id="17" name="Shape 14"/>
          <p:cNvSpPr/>
          <p:nvPr/>
        </p:nvSpPr>
        <p:spPr>
          <a:xfrm>
            <a:off x="548640" y="4892040"/>
            <a:ext cx="11064240" cy="658368"/>
          </a:xfrm>
          <a:prstGeom prst="roundRect">
            <a:avLst>
              <a:gd name="adj" fmla="val 9722"/>
            </a:avLst>
          </a:prstGeom>
          <a:solidFill>
            <a:srgbClr val="FFFFFF"/>
          </a:solidFill>
          <a:ln w="12700">
            <a:solidFill>
              <a:srgbClr val="DDE3F0"/>
            </a:solidFill>
            <a:prstDash val="solid"/>
          </a:ln>
        </p:spPr>
      </p:sp>
      <p:sp>
        <p:nvSpPr>
          <p:cNvPr id="18" name="Shape 15"/>
          <p:cNvSpPr/>
          <p:nvPr/>
        </p:nvSpPr>
        <p:spPr>
          <a:xfrm>
            <a:off x="777240" y="5038344"/>
            <a:ext cx="365760" cy="365760"/>
          </a:xfrm>
          <a:prstGeom prst="ellipse">
            <a:avLst/>
          </a:prstGeom>
          <a:solidFill>
            <a:srgbClr val="1E2761"/>
          </a:solidFill>
          <a:ln/>
        </p:spPr>
      </p:sp>
      <p:sp>
        <p:nvSpPr>
          <p:cNvPr id="19" name="Text 16"/>
          <p:cNvSpPr/>
          <p:nvPr/>
        </p:nvSpPr>
        <p:spPr>
          <a:xfrm>
            <a:off x="777240" y="503834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325880" y="489204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Ask the caller for their employee ID number before giving the code.</a:t>
            </a:r>
            <a:endParaRPr lang="en-US" sz="1250" dirty="0"/>
          </a:p>
        </p:txBody>
      </p:sp>
      <p:sp>
        <p:nvSpPr>
          <p:cNvPr id="21" name="Shape 18"/>
          <p:cNvSpPr/>
          <p:nvPr/>
        </p:nvSpPr>
        <p:spPr>
          <a:xfrm>
            <a:off x="548640" y="5669280"/>
            <a:ext cx="11064240" cy="658368"/>
          </a:xfrm>
          <a:prstGeom prst="roundRect">
            <a:avLst>
              <a:gd name="adj" fmla="val 9722"/>
            </a:avLst>
          </a:prstGeom>
          <a:solidFill>
            <a:srgbClr val="FFFFFF"/>
          </a:solidFill>
          <a:ln w="12700">
            <a:solidFill>
              <a:srgbClr val="DDE3F0"/>
            </a:solidFill>
            <a:prstDash val="solid"/>
          </a:ln>
        </p:spPr>
      </p:sp>
      <p:sp>
        <p:nvSpPr>
          <p:cNvPr id="22" name="Shape 19"/>
          <p:cNvSpPr/>
          <p:nvPr/>
        </p:nvSpPr>
        <p:spPr>
          <a:xfrm>
            <a:off x="777240" y="5815584"/>
            <a:ext cx="365760" cy="365760"/>
          </a:xfrm>
          <a:prstGeom prst="ellipse">
            <a:avLst/>
          </a:prstGeom>
          <a:solidFill>
            <a:srgbClr val="1E2761"/>
          </a:solidFill>
          <a:ln/>
        </p:spPr>
      </p:sp>
      <p:sp>
        <p:nvSpPr>
          <p:cNvPr id="23" name="Text 20"/>
          <p:cNvSpPr/>
          <p:nvPr/>
        </p:nvSpPr>
        <p:spPr>
          <a:xfrm>
            <a:off x="777240" y="581558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325880" y="5669280"/>
            <a:ext cx="9966960" cy="658368"/>
          </a:xfrm>
          <a:prstGeom prst="rect">
            <a:avLst/>
          </a:prstGeom>
          <a:noFill/>
          <a:ln/>
        </p:spPr>
        <p:txBody>
          <a:bodyPr wrap="square" rtlCol="0" anchor="ctr"/>
          <a:lstStyle/>
          <a:p>
            <a:pPr indent="0" marL="0">
              <a:buNone/>
            </a:pPr>
            <a:r>
              <a:rPr lang="en-US" sz="1250" dirty="0">
                <a:solidFill>
                  <a:srgbClr val="1B2033"/>
                </a:solidFill>
                <a:latin typeface="Calibri" pitchFamily="34" charset="0"/>
                <a:ea typeface="Calibri" pitchFamily="34" charset="-122"/>
                <a:cs typeface="Calibri" pitchFamily="34" charset="-120"/>
              </a:rPr>
              <a:t>Text the code to them instead of reading it aloud, since that’s more secure.</a:t>
            </a:r>
            <a:endParaRPr lang="en-US" sz="1250" dirty="0"/>
          </a:p>
        </p:txBody>
      </p:sp>
      <p:sp>
        <p:nvSpPr>
          <p:cNvPr id="25"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822960" cy="822960"/>
          </a:xfrm>
          <a:prstGeom prst="ellipse">
            <a:avLst/>
          </a:prstGeom>
          <a:solidFill>
            <a:srgbClr val="2A9D6F"/>
          </a:solidFill>
          <a:ln/>
        </p:spPr>
      </p:sp>
      <p:pic>
        <p:nvPicPr>
          <p:cNvPr id="3" name="Image 0" descr="icons/check.png">    </p:cNvPr>
          <p:cNvPicPr>
            <a:picLocks noChangeAspect="1"/>
          </p:cNvPicPr>
          <p:nvPr/>
        </p:nvPicPr>
        <p:blipFill>
          <a:blip r:embed="rId1"/>
          <a:stretch>
            <a:fillRect/>
          </a:stretch>
        </p:blipFill>
        <p:spPr>
          <a:xfrm>
            <a:off x="713232" y="804672"/>
            <a:ext cx="493776" cy="493776"/>
          </a:xfrm>
          <a:prstGeom prst="rect">
            <a:avLst/>
          </a:prstGeom>
        </p:spPr>
      </p:pic>
      <p:sp>
        <p:nvSpPr>
          <p:cNvPr id="4" name="Text 1"/>
          <p:cNvSpPr/>
          <p:nvPr/>
        </p:nvSpPr>
        <p:spPr>
          <a:xfrm>
            <a:off x="1508760" y="731520"/>
            <a:ext cx="7315200" cy="457200"/>
          </a:xfrm>
          <a:prstGeom prst="rect">
            <a:avLst/>
          </a:prstGeom>
          <a:noFill/>
          <a:ln/>
        </p:spPr>
        <p:txBody>
          <a:bodyPr wrap="square" rtlCol="0" anchor="ctr"/>
          <a:lstStyle/>
          <a:p>
            <a:pPr indent="0" marL="0">
              <a:buNone/>
            </a:pPr>
            <a:r>
              <a:rPr lang="en-US" sz="1300" b="1" spc="150" kern="0" dirty="0">
                <a:solidFill>
                  <a:srgbClr val="CADCFC"/>
                </a:solidFill>
                <a:latin typeface="Calibri" pitchFamily="34" charset="0"/>
                <a:ea typeface="Calibri" pitchFamily="34" charset="-122"/>
                <a:cs typeface="Calibri" pitchFamily="34" charset="-120"/>
              </a:rPr>
              <a:t>Answer — Quick check 3</a:t>
            </a:r>
            <a:endParaRPr lang="en-US" sz="1300" dirty="0"/>
          </a:p>
        </p:txBody>
      </p:sp>
      <p:sp>
        <p:nvSpPr>
          <p:cNvPr id="5" name="Text 2"/>
          <p:cNvSpPr/>
          <p:nvPr/>
        </p:nvSpPr>
        <p:spPr>
          <a:xfrm>
            <a:off x="1508760" y="1097280"/>
            <a:ext cx="9875520" cy="822960"/>
          </a:xfrm>
          <a:prstGeom prst="rect">
            <a:avLst/>
          </a:prstGeom>
          <a:noFill/>
          <a:ln/>
        </p:spPr>
        <p:txBody>
          <a:bodyPr wrap="square" rtlCol="0" anchor="ctr"/>
          <a:lstStyle/>
          <a:p>
            <a:pPr indent="0" marL="0">
              <a:lnSpc>
                <a:spcPct val="120000"/>
              </a:lnSpc>
              <a:buNone/>
            </a:pPr>
            <a:r>
              <a:rPr lang="en-US" sz="1900" b="1" dirty="0">
                <a:solidFill>
                  <a:srgbClr val="FFFFFF"/>
                </a:solidFill>
                <a:latin typeface="Cambria" pitchFamily="34" charset="0"/>
                <a:ea typeface="Cambria" pitchFamily="34" charset="-122"/>
                <a:cs typeface="Cambria" pitchFamily="34" charset="-120"/>
              </a:rPr>
              <a:t>Correct: B. Hang up and contact IT using the number listed on your company’s internal directory.</a:t>
            </a:r>
            <a:endParaRPr lang="en-US" sz="1900" dirty="0"/>
          </a:p>
        </p:txBody>
      </p:sp>
      <p:sp>
        <p:nvSpPr>
          <p:cNvPr id="6" name="Shape 3"/>
          <p:cNvSpPr/>
          <p:nvPr/>
        </p:nvSpPr>
        <p:spPr>
          <a:xfrm>
            <a:off x="548640" y="2286000"/>
            <a:ext cx="11064240" cy="3566160"/>
          </a:xfrm>
          <a:prstGeom prst="roundRect">
            <a:avLst>
              <a:gd name="adj" fmla="val 2051"/>
            </a:avLst>
          </a:prstGeom>
          <a:solidFill>
            <a:srgbClr val="141B47"/>
          </a:solidFill>
          <a:ln w="12700">
            <a:solidFill>
              <a:srgbClr val="32407A"/>
            </a:solidFill>
            <a:prstDash val="solid"/>
          </a:ln>
        </p:spPr>
      </p:sp>
      <p:sp>
        <p:nvSpPr>
          <p:cNvPr id="7" name="Text 4"/>
          <p:cNvSpPr/>
          <p:nvPr/>
        </p:nvSpPr>
        <p:spPr>
          <a:xfrm>
            <a:off x="868680" y="2514600"/>
            <a:ext cx="2743200" cy="320040"/>
          </a:xfrm>
          <a:prstGeom prst="rect">
            <a:avLst/>
          </a:prstGeom>
          <a:noFill/>
          <a:ln/>
        </p:spPr>
        <p:txBody>
          <a:bodyPr wrap="square" rtlCol="0" anchor="ctr"/>
          <a:lstStyle/>
          <a:p>
            <a:pPr indent="0" marL="0">
              <a:buNone/>
            </a:pPr>
            <a:r>
              <a:rPr lang="en-US" sz="1200" b="1" spc="200" kern="0" dirty="0">
                <a:solidFill>
                  <a:srgbClr val="E63946"/>
                </a:solidFill>
                <a:latin typeface="Calibri" pitchFamily="34" charset="0"/>
                <a:ea typeface="Calibri" pitchFamily="34" charset="-122"/>
                <a:cs typeface="Calibri" pitchFamily="34" charset="-120"/>
              </a:rPr>
              <a:t>WHY</a:t>
            </a:r>
            <a:endParaRPr lang="en-US" sz="1200" dirty="0"/>
          </a:p>
        </p:txBody>
      </p:sp>
      <p:sp>
        <p:nvSpPr>
          <p:cNvPr id="8" name="Text 5"/>
          <p:cNvSpPr/>
          <p:nvPr/>
        </p:nvSpPr>
        <p:spPr>
          <a:xfrm>
            <a:off x="868680" y="2880360"/>
            <a:ext cx="10424160" cy="2651760"/>
          </a:xfrm>
          <a:prstGeom prst="rect">
            <a:avLst/>
          </a:prstGeom>
          <a:noFill/>
          <a:ln/>
        </p:spPr>
        <p:txBody>
          <a:bodyPr wrap="square" rtlCol="0" anchor="ctr"/>
          <a:lstStyle/>
          <a:p>
            <a:pPr indent="0" marL="0">
              <a:lnSpc>
                <a:spcPct val="135000"/>
              </a:lnSpc>
              <a:buNone/>
            </a:pPr>
            <a:r>
              <a:rPr lang="en-US" sz="1350" dirty="0">
                <a:solidFill>
                  <a:srgbClr val="CADCFC"/>
                </a:solidFill>
                <a:latin typeface="Calibri" pitchFamily="34" charset="0"/>
                <a:ea typeface="Calibri" pitchFamily="34" charset="-122"/>
                <a:cs typeface="Calibri" pitchFamily="34" charset="-120"/>
              </a:rPr>
              <a:t>A one-time code sent to you is meant to prove it’s really you logging in — sharing it with a caller hands that proof straight to an attacker who likely already has your password from a prior breach or phishing attempt. This mirrors real help-desk vishing incidents, including the MGM Resorts case: a confident, plausible caller was all it took. No legitimate IT team needs your one-time code read aloud. Hang up and call back using a verified, independently-sourced number.</a:t>
            </a:r>
            <a:endParaRPr lang="en-US" sz="1350" dirty="0"/>
          </a:p>
        </p:txBody>
      </p:sp>
      <p:sp>
        <p:nvSpPr>
          <p:cNvPr id="9" name="Text 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41B47"/>
          </a:solidFill>
          <a:ln/>
        </p:spPr>
      </p:sp>
      <p:sp>
        <p:nvSpPr>
          <p:cNvPr id="3" name="Shape 1"/>
          <p:cNvSpPr/>
          <p:nvPr/>
        </p:nvSpPr>
        <p:spPr>
          <a:xfrm>
            <a:off x="548640" y="685800"/>
            <a:ext cx="777240" cy="777240"/>
          </a:xfrm>
          <a:prstGeom prst="ellipse">
            <a:avLst/>
          </a:prstGeom>
          <a:solidFill>
            <a:srgbClr val="E63946"/>
          </a:solidFill>
          <a:ln/>
        </p:spPr>
      </p:sp>
      <p:pic>
        <p:nvPicPr>
          <p:cNvPr id="4" name="Image 0" descr="icons/shield.png">    </p:cNvPr>
          <p:cNvPicPr>
            <a:picLocks noChangeAspect="1"/>
          </p:cNvPicPr>
          <p:nvPr/>
        </p:nvPicPr>
        <p:blipFill>
          <a:blip r:embed="rId1"/>
          <a:stretch>
            <a:fillRect/>
          </a:stretch>
        </p:blipFill>
        <p:spPr>
          <a:xfrm>
            <a:off x="723519" y="860679"/>
            <a:ext cx="427482" cy="427482"/>
          </a:xfrm>
          <a:prstGeom prst="rect">
            <a:avLst/>
          </a:prstGeom>
        </p:spPr>
      </p:pic>
      <p:sp>
        <p:nvSpPr>
          <p:cNvPr id="5" name="Text 2"/>
          <p:cNvSpPr/>
          <p:nvPr/>
        </p:nvSpPr>
        <p:spPr>
          <a:xfrm>
            <a:off x="566928" y="160020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6" name="Shape 3"/>
          <p:cNvSpPr/>
          <p:nvPr/>
        </p:nvSpPr>
        <p:spPr>
          <a:xfrm>
            <a:off x="566928" y="2514600"/>
            <a:ext cx="384048" cy="384048"/>
          </a:xfrm>
          <a:prstGeom prst="ellipse">
            <a:avLst/>
          </a:prstGeom>
          <a:solidFill>
            <a:srgbClr val="2A9D6F"/>
          </a:solidFill>
          <a:ln/>
        </p:spPr>
      </p:sp>
      <p:pic>
        <p:nvPicPr>
          <p:cNvPr id="7" name="Image 1" descr="icons/check.png">    </p:cNvPr>
          <p:cNvPicPr>
            <a:picLocks noChangeAspect="1"/>
          </p:cNvPicPr>
          <p:nvPr/>
        </p:nvPicPr>
        <p:blipFill>
          <a:blip r:embed="rId2"/>
          <a:stretch>
            <a:fillRect/>
          </a:stretch>
        </p:blipFill>
        <p:spPr>
          <a:xfrm>
            <a:off x="643738" y="2591410"/>
            <a:ext cx="230429" cy="230429"/>
          </a:xfrm>
          <a:prstGeom prst="rect">
            <a:avLst/>
          </a:prstGeom>
        </p:spPr>
      </p:pic>
      <p:sp>
        <p:nvSpPr>
          <p:cNvPr id="8" name="Text 4"/>
          <p:cNvSpPr/>
          <p:nvPr/>
        </p:nvSpPr>
        <p:spPr>
          <a:xfrm>
            <a:off x="1143000" y="2459736"/>
            <a:ext cx="10241280" cy="502920"/>
          </a:xfrm>
          <a:prstGeom prst="rect">
            <a:avLst/>
          </a:prstGeom>
          <a:noFill/>
          <a:ln/>
        </p:spPr>
        <p:txBody>
          <a:bodyPr wrap="square" rtlCol="0" anchor="ctr"/>
          <a:lstStyle/>
          <a:p>
            <a:pPr indent="0" marL="0">
              <a:lnSpc>
                <a:spcPct val="120000"/>
              </a:lnSpc>
              <a:buNone/>
            </a:pPr>
            <a:r>
              <a:rPr lang="en-US" sz="1400" dirty="0">
                <a:solidFill>
                  <a:srgbClr val="E5EBF8"/>
                </a:solidFill>
                <a:latin typeface="Calibri" pitchFamily="34" charset="0"/>
                <a:ea typeface="Calibri" pitchFamily="34" charset="-122"/>
                <a:cs typeface="Calibri" pitchFamily="34" charset="-120"/>
              </a:rPr>
              <a:t>Pause before you click. Urgency and fear are the attacker’s tools — slow down and verify.</a:t>
            </a:r>
            <a:endParaRPr lang="en-US" sz="1400" dirty="0"/>
          </a:p>
        </p:txBody>
      </p:sp>
      <p:sp>
        <p:nvSpPr>
          <p:cNvPr id="9" name="Shape 5"/>
          <p:cNvSpPr/>
          <p:nvPr/>
        </p:nvSpPr>
        <p:spPr>
          <a:xfrm>
            <a:off x="566928" y="3200400"/>
            <a:ext cx="384048" cy="384048"/>
          </a:xfrm>
          <a:prstGeom prst="ellipse">
            <a:avLst/>
          </a:prstGeom>
          <a:solidFill>
            <a:srgbClr val="2A9D6F"/>
          </a:solidFill>
          <a:ln/>
        </p:spPr>
      </p:sp>
      <p:pic>
        <p:nvPicPr>
          <p:cNvPr id="10" name="Image 2" descr="icons/check.png">    </p:cNvPr>
          <p:cNvPicPr>
            <a:picLocks noChangeAspect="1"/>
          </p:cNvPicPr>
          <p:nvPr/>
        </p:nvPicPr>
        <p:blipFill>
          <a:blip r:embed="rId3"/>
          <a:stretch>
            <a:fillRect/>
          </a:stretch>
        </p:blipFill>
        <p:spPr>
          <a:xfrm>
            <a:off x="643738" y="3277210"/>
            <a:ext cx="230429" cy="230429"/>
          </a:xfrm>
          <a:prstGeom prst="rect">
            <a:avLst/>
          </a:prstGeom>
        </p:spPr>
      </p:pic>
      <p:sp>
        <p:nvSpPr>
          <p:cNvPr id="11" name="Text 6"/>
          <p:cNvSpPr/>
          <p:nvPr/>
        </p:nvSpPr>
        <p:spPr>
          <a:xfrm>
            <a:off x="1143000" y="3145536"/>
            <a:ext cx="10241280" cy="502920"/>
          </a:xfrm>
          <a:prstGeom prst="rect">
            <a:avLst/>
          </a:prstGeom>
          <a:noFill/>
          <a:ln/>
        </p:spPr>
        <p:txBody>
          <a:bodyPr wrap="square" rtlCol="0" anchor="ctr"/>
          <a:lstStyle/>
          <a:p>
            <a:pPr indent="0" marL="0">
              <a:lnSpc>
                <a:spcPct val="120000"/>
              </a:lnSpc>
              <a:buNone/>
            </a:pPr>
            <a:r>
              <a:rPr lang="en-US" sz="1400" dirty="0">
                <a:solidFill>
                  <a:srgbClr val="E5EBF8"/>
                </a:solidFill>
                <a:latin typeface="Calibri" pitchFamily="34" charset="0"/>
                <a:ea typeface="Calibri" pitchFamily="34" charset="-122"/>
                <a:cs typeface="Calibri" pitchFamily="34" charset="-120"/>
              </a:rPr>
              <a:t>Check the source. Full email addresses, real URLs, and a second channel of verification beat a familiar name or logo.</a:t>
            </a:r>
            <a:endParaRPr lang="en-US" sz="1400" dirty="0"/>
          </a:p>
        </p:txBody>
      </p:sp>
      <p:sp>
        <p:nvSpPr>
          <p:cNvPr id="12" name="Shape 7"/>
          <p:cNvSpPr/>
          <p:nvPr/>
        </p:nvSpPr>
        <p:spPr>
          <a:xfrm>
            <a:off x="566928" y="3886200"/>
            <a:ext cx="384048" cy="384048"/>
          </a:xfrm>
          <a:prstGeom prst="ellipse">
            <a:avLst/>
          </a:prstGeom>
          <a:solidFill>
            <a:srgbClr val="2A9D6F"/>
          </a:solidFill>
          <a:ln/>
        </p:spPr>
      </p:sp>
      <p:pic>
        <p:nvPicPr>
          <p:cNvPr id="13" name="Image 3" descr="icons/check.png">    </p:cNvPr>
          <p:cNvPicPr>
            <a:picLocks noChangeAspect="1"/>
          </p:cNvPicPr>
          <p:nvPr/>
        </p:nvPicPr>
        <p:blipFill>
          <a:blip r:embed="rId4"/>
          <a:stretch>
            <a:fillRect/>
          </a:stretch>
        </p:blipFill>
        <p:spPr>
          <a:xfrm>
            <a:off x="643738" y="3963010"/>
            <a:ext cx="230429" cy="230429"/>
          </a:xfrm>
          <a:prstGeom prst="rect">
            <a:avLst/>
          </a:prstGeom>
        </p:spPr>
      </p:pic>
      <p:sp>
        <p:nvSpPr>
          <p:cNvPr id="14" name="Text 8"/>
          <p:cNvSpPr/>
          <p:nvPr/>
        </p:nvSpPr>
        <p:spPr>
          <a:xfrm>
            <a:off x="1143000" y="3831336"/>
            <a:ext cx="10241280" cy="502920"/>
          </a:xfrm>
          <a:prstGeom prst="rect">
            <a:avLst/>
          </a:prstGeom>
          <a:noFill/>
          <a:ln/>
        </p:spPr>
        <p:txBody>
          <a:bodyPr wrap="square" rtlCol="0" anchor="ctr"/>
          <a:lstStyle/>
          <a:p>
            <a:pPr indent="0" marL="0">
              <a:lnSpc>
                <a:spcPct val="120000"/>
              </a:lnSpc>
              <a:buNone/>
            </a:pPr>
            <a:r>
              <a:rPr lang="en-US" sz="1400" dirty="0">
                <a:solidFill>
                  <a:srgbClr val="E5EBF8"/>
                </a:solidFill>
                <a:latin typeface="Calibri" pitchFamily="34" charset="0"/>
                <a:ea typeface="Calibri" pitchFamily="34" charset="-122"/>
                <a:cs typeface="Calibri" pitchFamily="34" charset="-120"/>
              </a:rPr>
              <a:t>One click can be the whole breach. Real-world incidents show phishing needs no malware to cause massive damage.</a:t>
            </a:r>
            <a:endParaRPr lang="en-US" sz="1400" dirty="0"/>
          </a:p>
        </p:txBody>
      </p:sp>
      <p:sp>
        <p:nvSpPr>
          <p:cNvPr id="15" name="Shape 9"/>
          <p:cNvSpPr/>
          <p:nvPr/>
        </p:nvSpPr>
        <p:spPr>
          <a:xfrm>
            <a:off x="566928" y="4572000"/>
            <a:ext cx="384048" cy="384048"/>
          </a:xfrm>
          <a:prstGeom prst="ellipse">
            <a:avLst/>
          </a:prstGeom>
          <a:solidFill>
            <a:srgbClr val="2A9D6F"/>
          </a:solidFill>
          <a:ln/>
        </p:spPr>
      </p:sp>
      <p:pic>
        <p:nvPicPr>
          <p:cNvPr id="16" name="Image 4" descr="icons/check.png">    </p:cNvPr>
          <p:cNvPicPr>
            <a:picLocks noChangeAspect="1"/>
          </p:cNvPicPr>
          <p:nvPr/>
        </p:nvPicPr>
        <p:blipFill>
          <a:blip r:embed="rId5"/>
          <a:stretch>
            <a:fillRect/>
          </a:stretch>
        </p:blipFill>
        <p:spPr>
          <a:xfrm>
            <a:off x="643738" y="4648810"/>
            <a:ext cx="230429" cy="230429"/>
          </a:xfrm>
          <a:prstGeom prst="rect">
            <a:avLst/>
          </a:prstGeom>
        </p:spPr>
      </p:pic>
      <p:sp>
        <p:nvSpPr>
          <p:cNvPr id="17" name="Text 10"/>
          <p:cNvSpPr/>
          <p:nvPr/>
        </p:nvSpPr>
        <p:spPr>
          <a:xfrm>
            <a:off x="1143000" y="4517136"/>
            <a:ext cx="10241280" cy="502920"/>
          </a:xfrm>
          <a:prstGeom prst="rect">
            <a:avLst/>
          </a:prstGeom>
          <a:noFill/>
          <a:ln/>
        </p:spPr>
        <p:txBody>
          <a:bodyPr wrap="square" rtlCol="0" anchor="ctr"/>
          <a:lstStyle/>
          <a:p>
            <a:pPr indent="0" marL="0">
              <a:lnSpc>
                <a:spcPct val="120000"/>
              </a:lnSpc>
              <a:buNone/>
            </a:pPr>
            <a:r>
              <a:rPr lang="en-US" sz="1400" dirty="0">
                <a:solidFill>
                  <a:srgbClr val="E5EBF8"/>
                </a:solidFill>
                <a:latin typeface="Calibri" pitchFamily="34" charset="0"/>
                <a:ea typeface="Calibri" pitchFamily="34" charset="-122"/>
                <a:cs typeface="Calibri" pitchFamily="34" charset="-120"/>
              </a:rPr>
              <a:t>Reporting fast is a win, not a failure. The moment you report is the moment your team can respond.</a:t>
            </a:r>
            <a:endParaRPr lang="en-US" sz="1400" dirty="0"/>
          </a:p>
        </p:txBody>
      </p:sp>
      <p:sp>
        <p:nvSpPr>
          <p:cNvPr id="18" name="Shape 11"/>
          <p:cNvSpPr/>
          <p:nvPr/>
        </p:nvSpPr>
        <p:spPr>
          <a:xfrm>
            <a:off x="566928" y="5394960"/>
            <a:ext cx="2743200" cy="0"/>
          </a:xfrm>
          <a:prstGeom prst="line">
            <a:avLst/>
          </a:prstGeom>
          <a:noFill/>
          <a:ln w="25400">
            <a:solidFill>
              <a:srgbClr val="E63946"/>
            </a:solidFill>
            <a:prstDash val="solid"/>
          </a:ln>
        </p:spPr>
      </p:sp>
      <p:sp>
        <p:nvSpPr>
          <p:cNvPr id="19" name="Text 12"/>
          <p:cNvSpPr/>
          <p:nvPr/>
        </p:nvSpPr>
        <p:spPr>
          <a:xfrm>
            <a:off x="566928" y="5577840"/>
            <a:ext cx="9144000" cy="548640"/>
          </a:xfrm>
          <a:prstGeom prst="rect">
            <a:avLst/>
          </a:prstGeom>
          <a:noFill/>
          <a:ln/>
        </p:spPr>
        <p:txBody>
          <a:bodyPr wrap="square" rtlCol="0" anchor="ctr"/>
          <a:lstStyle/>
          <a:p>
            <a:pPr indent="0" marL="0">
              <a:buNone/>
            </a:pPr>
            <a:r>
              <a:rPr lang="en-US" sz="1700" b="1" i="1" dirty="0">
                <a:solidFill>
                  <a:srgbClr val="CADCFC"/>
                </a:solidFill>
                <a:latin typeface="Cambria" pitchFamily="34" charset="0"/>
                <a:ea typeface="Cambria" pitchFamily="34" charset="-122"/>
                <a:cs typeface="Cambria" pitchFamily="34" charset="-120"/>
              </a:rPr>
              <a:t>When in doubt, don’t click — report it and ask.</a:t>
            </a:r>
            <a:endParaRPr lang="en-US" sz="1700" dirty="0"/>
          </a:p>
        </p:txBody>
      </p:sp>
      <p:sp>
        <p:nvSpPr>
          <p:cNvPr id="20" name="Text 13"/>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2026-07-12T13:40:26Z</dcterms:created>
  <dcterms:modified xsi:type="dcterms:W3CDTF">2026-07-12T13:40:26Z</dcterms:modified>
</cp:coreProperties>
</file>